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x="9144000" cy="5143500"/>
  <p:notesSz cx="6858000" cy="9144000"/>
  <p:embeddedFontLst>
    <p:embeddedFont>
      <p:font typeface="Lora"/>
      <p:regular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8" Type="http://schemas.openxmlformats.org/officeDocument/2006/relationships/font" Target="fonts/font1.fntdata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1930b303f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1930b303f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1930b303f_0_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1930b303f_0_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1930b303f_0_15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1930b303f_0_15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1930b303f_0_1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1930b303f_0_1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ebd3a550a_0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ebd3a550a_0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ebd3a550a_0_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ebd3a550a_0_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1930b303f_0_3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81930b303f_0_3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1930b303f_0_39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1930b303f_0_39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1930b303f_0_5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81930b303f_0_5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135f893fb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135f893fb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1930b303f_0_6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81930b303f_0_6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1930b303f_0_67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81930b303f_0_6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81930b303f_0_7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81930b303f_0_7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81930b303f_0_77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81930b303f_0_7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1930b303f_0_8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81930b303f_0_8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fefee749d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6fefee749d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81930b303f_0_9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81930b303f_0_9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81930b303f_0_2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81930b303f_0_2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81930b303f_0_99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81930b303f_0_99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135f893fb_0_18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a135f893fb_0_18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135f893fb_0_10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a135f893fb_0_10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9fda2e1e83_0_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9fda2e1e83_0_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81930b303f_0_104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81930b303f_0_10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a135f893fb_0_5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a135f893fb_0_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9fda2e1e83_0_1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9fda2e1e83_0_1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9fda2e1e83_0_1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9fda2e1e83_0_1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9ebd3a550a_0_6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9ebd3a550a_0_6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ebd3a550a_0_1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9ebd3a550a_0_1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9ebd3a550a_0_17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9ebd3a550a_0_1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a135f893fb_0_2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a135f893fb_0_2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81930b303f_0_110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81930b303f_0_11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81930b303f_0_11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81930b303f_0_11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81930b303f_0_12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81930b303f_0_12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81930b303f_0_13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81930b303f_0_13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81930b303f_0_13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81930b303f_0_13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81930b303f_0_14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81930b303f_0_14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81930b303f_0_16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81930b303f_0_16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81930b303f_0_126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81930b303f_0_126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81930b303f_0_14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81930b303f_0_14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9fda2e1e83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9fda2e1e83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1.png"/><Relationship Id="rId3" Type="http://schemas.openxmlformats.org/officeDocument/2006/relationships/image" Target="../media/image22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9.xml"/><Relationship Id="rId5" Type="http://schemas.openxmlformats.org/officeDocument/2006/relationships/slideLayout" Target="../slideLayouts/slideLayout14.xml"/><Relationship Id="rId4" Type="http://schemas.openxmlformats.org/officeDocument/2006/relationships/hyperlink" Target="https://github.com/snakers4/open_tts" TargetMode="External"/><Relationship Id="rId3" Type="http://schemas.openxmlformats.org/officeDocument/2006/relationships/hyperlink" Target="https://commonvoice.mozilla.org/en/datasets" TargetMode="External"/><Relationship Id="rId2" Type="http://schemas.openxmlformats.org/officeDocument/2006/relationships/hyperlink" Target="https://research.google/tools/datasets/libri-tts/" TargetMode="External"/><Relationship Id="rId1" Type="http://schemas.openxmlformats.org/officeDocument/2006/relationships/hyperlink" Target="https://keithito.com/LJ-Speech-Dataset/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311700" y="1788050"/>
            <a:ext cx="8520600" cy="10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Lora"/>
                <a:ea typeface="Lora"/>
                <a:cs typeface="Lora"/>
                <a:sym typeface="Lora"/>
              </a:rPr>
              <a:t>Text-to-Speech</a:t>
            </a:r>
            <a:endParaRPr sz="4000"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Classical approach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What is a </a:t>
            </a:r>
            <a:r>
              <a:rPr lang="en-US" sz="3000">
                <a:latin typeface="Lora"/>
                <a:ea typeface="Lora"/>
                <a:cs typeface="Lora"/>
                <a:sym typeface="Lora"/>
              </a:rPr>
              <a:t>TTS?</a:t>
            </a:r>
            <a:endParaRPr sz="3000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5" name="Google Shape;105;p26"/>
          <p:cNvSpPr/>
          <p:nvPr/>
        </p:nvSpPr>
        <p:spPr>
          <a:xfrm>
            <a:off x="311700" y="2563200"/>
            <a:ext cx="1085100" cy="6267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ora"/>
                <a:ea typeface="Lora"/>
                <a:cs typeface="Lora"/>
                <a:sym typeface="Lora"/>
              </a:rPr>
              <a:t>Text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6" name="Google Shape;106;p26"/>
          <p:cNvSpPr/>
          <p:nvPr/>
        </p:nvSpPr>
        <p:spPr>
          <a:xfrm>
            <a:off x="1717200" y="2563200"/>
            <a:ext cx="1085100" cy="6267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ora"/>
                <a:ea typeface="Lora"/>
                <a:cs typeface="Lora"/>
                <a:sym typeface="Lora"/>
              </a:rPr>
              <a:t>Text Frontend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7" name="Google Shape;107;p26"/>
          <p:cNvSpPr/>
          <p:nvPr/>
        </p:nvSpPr>
        <p:spPr>
          <a:xfrm>
            <a:off x="3122700" y="2563200"/>
            <a:ext cx="1085100" cy="6267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ora"/>
                <a:ea typeface="Lora"/>
                <a:cs typeface="Lora"/>
                <a:sym typeface="Lora"/>
              </a:rPr>
              <a:t>Acoustic Model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8" name="Google Shape;108;p26"/>
          <p:cNvSpPr/>
          <p:nvPr/>
        </p:nvSpPr>
        <p:spPr>
          <a:xfrm>
            <a:off x="4528200" y="2563500"/>
            <a:ext cx="1085100" cy="6267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ora"/>
                <a:ea typeface="Lora"/>
                <a:cs typeface="Lora"/>
                <a:sym typeface="Lora"/>
              </a:rPr>
              <a:t>Vocoder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9" name="Google Shape;109;p26"/>
          <p:cNvSpPr/>
          <p:nvPr/>
        </p:nvSpPr>
        <p:spPr>
          <a:xfrm>
            <a:off x="541425" y="3621050"/>
            <a:ext cx="1678500" cy="5727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ora"/>
                <a:ea typeface="Lora"/>
                <a:cs typeface="Lora"/>
                <a:sym typeface="Lora"/>
              </a:rPr>
              <a:t>Text Normalization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0" name="Google Shape;110;p26"/>
          <p:cNvSpPr/>
          <p:nvPr/>
        </p:nvSpPr>
        <p:spPr>
          <a:xfrm>
            <a:off x="2382425" y="3594050"/>
            <a:ext cx="1380300" cy="6267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ora"/>
                <a:ea typeface="Lora"/>
                <a:cs typeface="Lora"/>
                <a:sym typeface="Lora"/>
              </a:rPr>
              <a:t>Grapheme To Phoneme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111" name="Google Shape;111;p26"/>
          <p:cNvCxnSpPr>
            <a:stCxn id="109" idx="0"/>
            <a:endCxn id="106" idx="2"/>
          </p:cNvCxnSpPr>
          <p:nvPr/>
        </p:nvCxnSpPr>
        <p:spPr>
          <a:xfrm rot="-5400000">
            <a:off x="1604625" y="2966000"/>
            <a:ext cx="431100" cy="879000"/>
          </a:xfrm>
          <a:prstGeom prst="curvedConnector3">
            <a:avLst>
              <a:gd name="adj1" fmla="val 50006"/>
            </a:avLst>
          </a:prstGeom>
          <a:noFill/>
          <a:ln w="9525" cap="flat" cmpd="sng">
            <a:solidFill>
              <a:srgbClr val="595959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12" name="Google Shape;112;p26"/>
          <p:cNvCxnSpPr>
            <a:stCxn id="110" idx="0"/>
            <a:endCxn id="106" idx="2"/>
          </p:cNvCxnSpPr>
          <p:nvPr/>
        </p:nvCxnSpPr>
        <p:spPr>
          <a:xfrm rot="5400000" flipH="1">
            <a:off x="2464175" y="2985650"/>
            <a:ext cx="404100" cy="812700"/>
          </a:xfrm>
          <a:prstGeom prst="curvedConnector3">
            <a:avLst>
              <a:gd name="adj1" fmla="val 50006"/>
            </a:avLst>
          </a:prstGeom>
          <a:noFill/>
          <a:ln w="9525" cap="flat" cmpd="sng">
            <a:solidFill>
              <a:srgbClr val="595959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13" name="Google Shape;113;p26"/>
          <p:cNvCxnSpPr>
            <a:stCxn id="105" idx="3"/>
            <a:endCxn id="106" idx="1"/>
          </p:cNvCxnSpPr>
          <p:nvPr/>
        </p:nvCxnSpPr>
        <p:spPr>
          <a:xfrm>
            <a:off x="1396800" y="2876550"/>
            <a:ext cx="320400" cy="6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" name="Google Shape;114;p26"/>
          <p:cNvCxnSpPr>
            <a:stCxn id="106" idx="3"/>
            <a:endCxn id="107" idx="1"/>
          </p:cNvCxnSpPr>
          <p:nvPr/>
        </p:nvCxnSpPr>
        <p:spPr>
          <a:xfrm>
            <a:off x="2802300" y="2876550"/>
            <a:ext cx="320400" cy="6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" name="Google Shape;115;p26"/>
          <p:cNvCxnSpPr>
            <a:stCxn id="108" idx="3"/>
            <a:endCxn id="116" idx="1"/>
          </p:cNvCxnSpPr>
          <p:nvPr/>
        </p:nvCxnSpPr>
        <p:spPr>
          <a:xfrm>
            <a:off x="5613300" y="2876850"/>
            <a:ext cx="369300" cy="6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17" name="Google Shape;117;p26"/>
          <p:cNvPicPr preferRelativeResize="0"/>
          <p:nvPr/>
        </p:nvPicPr>
        <p:blipFill rotWithShape="1">
          <a:blip r:embed="rId1"/>
          <a:srcRect l="7727" t="4082" r="2635" b="10170"/>
          <a:stretch>
            <a:fillRect/>
          </a:stretch>
        </p:blipFill>
        <p:spPr>
          <a:xfrm>
            <a:off x="3623322" y="1241111"/>
            <a:ext cx="1489355" cy="10989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26"/>
          <p:cNvCxnSpPr>
            <a:stCxn id="107" idx="0"/>
            <a:endCxn id="117" idx="1"/>
          </p:cNvCxnSpPr>
          <p:nvPr/>
        </p:nvCxnSpPr>
        <p:spPr>
          <a:xfrm rot="5400000" flipH="1">
            <a:off x="3258000" y="2155950"/>
            <a:ext cx="772500" cy="42000"/>
          </a:xfrm>
          <a:prstGeom prst="curvedConnector4">
            <a:avLst>
              <a:gd name="adj1" fmla="val 14440"/>
              <a:gd name="adj2" fmla="val 666792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9" name="Google Shape;119;p26"/>
          <p:cNvCxnSpPr>
            <a:stCxn id="117" idx="3"/>
            <a:endCxn id="108" idx="0"/>
          </p:cNvCxnSpPr>
          <p:nvPr/>
        </p:nvCxnSpPr>
        <p:spPr>
          <a:xfrm flipH="1">
            <a:off x="5070677" y="1790607"/>
            <a:ext cx="42000" cy="772800"/>
          </a:xfrm>
          <a:prstGeom prst="curvedConnector4">
            <a:avLst>
              <a:gd name="adj1" fmla="val -566964"/>
              <a:gd name="adj2" fmla="val 85558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20" name="Google Shape;120;p2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6076238" y="1980262"/>
            <a:ext cx="2932481" cy="179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/>
        </p:nvSpPr>
        <p:spPr>
          <a:xfrm>
            <a:off x="311700" y="445025"/>
            <a:ext cx="875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Lora"/>
                <a:ea typeface="Lora"/>
                <a:cs typeface="Lora"/>
                <a:sym typeface="Lora"/>
              </a:rPr>
              <a:t>Why it is so complicated?</a:t>
            </a:r>
            <a:endParaRPr sz="3000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6" name="Google Shape;126;p27"/>
          <p:cNvSpPr txBox="1"/>
          <p:nvPr/>
        </p:nvSpPr>
        <p:spPr>
          <a:xfrm>
            <a:off x="311700" y="1142975"/>
            <a:ext cx="7408200" cy="23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Train two component separately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○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Faster and easier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MelSpectrogram is smoother than waveform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Easier to train using MSE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Lora"/>
                <a:ea typeface="Lora"/>
                <a:cs typeface="Lora"/>
                <a:sym typeface="Lora"/>
              </a:rPr>
              <a:t>Text Frontend</a:t>
            </a:r>
            <a:endParaRPr sz="3000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2" name="Google Shape;132;p28"/>
          <p:cNvSpPr txBox="1"/>
          <p:nvPr/>
        </p:nvSpPr>
        <p:spPr>
          <a:xfrm>
            <a:off x="311700" y="1142975"/>
            <a:ext cx="8715600" cy="29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Text Normalization: Converting text into canonical form (e.g., “10 kg” → “ten kilograms,” “21.09” → “twenty-first of September”).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Grapheme-to-Phoneme Conversion (G2P): Conversion of written units (graphemes) into sound units (phonemes).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Lora"/>
                <a:ea typeface="Lora"/>
                <a:cs typeface="Lora"/>
                <a:sym typeface="Lora"/>
              </a:rPr>
              <a:t>Text Frontend</a:t>
            </a:r>
            <a:r>
              <a:rPr lang="en-US" sz="3000">
                <a:latin typeface="Lora"/>
                <a:ea typeface="Lora"/>
                <a:cs typeface="Lora"/>
                <a:sym typeface="Lora"/>
              </a:rPr>
              <a:t> | Normalization</a:t>
            </a:r>
            <a:endParaRPr sz="3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8" name="Google Shape;138;p29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-US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Rule-based &amp; FST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-US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Seq2Seq (Neural Networks)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-US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Hybrid systems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</a:p>
        </p:txBody>
      </p:sp>
      <p:pic>
        <p:nvPicPr>
          <p:cNvPr id="139" name="Google Shape;139;p29"/>
          <p:cNvPicPr preferRelativeResize="0"/>
          <p:nvPr/>
        </p:nvPicPr>
        <p:blipFill rotWithShape="1">
          <a:blip r:embed="rId1"/>
          <a:srcRect t="27541" b="27369"/>
          <a:stretch>
            <a:fillRect/>
          </a:stretch>
        </p:blipFill>
        <p:spPr>
          <a:xfrm>
            <a:off x="3330875" y="2401350"/>
            <a:ext cx="5501425" cy="248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Lora"/>
                <a:ea typeface="Lora"/>
                <a:cs typeface="Lora"/>
                <a:sym typeface="Lora"/>
              </a:rPr>
              <a:t>Text Frontend | G2P</a:t>
            </a:r>
            <a:endParaRPr sz="3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5" name="Google Shape;145;p30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-US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Lexicon Lookup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-US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Rule-based &amp; FST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-US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Seq2Seq (Neural Networks)</a:t>
            </a:r>
            <a:endParaRPr lang="en-US"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46" name="Google Shape;146;p3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572000" y="1217300"/>
            <a:ext cx="4260300" cy="278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Tacotron 2</a:t>
            </a:r>
            <a:endParaRPr sz="3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2" name="Google Shape;152;p31"/>
          <p:cNvSpPr txBox="1"/>
          <p:nvPr/>
        </p:nvSpPr>
        <p:spPr>
          <a:xfrm>
            <a:off x="311700" y="1142975"/>
            <a:ext cx="5767200" cy="25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Text Encoder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Location Sensitive Attention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MelSpectrogram Decoder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Pre&amp;Post Nets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MSE &amp; CE criterions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53" name="Google Shape;153;p3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076275" y="746025"/>
            <a:ext cx="3406001" cy="340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2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Tacotron 2</a:t>
            </a:r>
            <a:endParaRPr sz="30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59" name="Google Shape;159;p32"/>
          <p:cNvPicPr preferRelativeResize="0"/>
          <p:nvPr/>
        </p:nvPicPr>
        <p:blipFill rotWithShape="1">
          <a:blip r:embed="rId1"/>
          <a:srcRect t="1562" r="1594" b="2616"/>
          <a:stretch>
            <a:fillRect/>
          </a:stretch>
        </p:blipFill>
        <p:spPr>
          <a:xfrm>
            <a:off x="3459775" y="619725"/>
            <a:ext cx="5499141" cy="41257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32"/>
          <p:cNvCxnSpPr/>
          <p:nvPr/>
        </p:nvCxnSpPr>
        <p:spPr>
          <a:xfrm>
            <a:off x="5242750" y="1317450"/>
            <a:ext cx="0" cy="3879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" name="Google Shape;161;p32"/>
          <p:cNvCxnSpPr/>
          <p:nvPr/>
        </p:nvCxnSpPr>
        <p:spPr>
          <a:xfrm>
            <a:off x="6281525" y="1948100"/>
            <a:ext cx="0" cy="3879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" name="Google Shape;162;p32"/>
          <p:cNvCxnSpPr/>
          <p:nvPr/>
        </p:nvCxnSpPr>
        <p:spPr>
          <a:xfrm>
            <a:off x="7650050" y="2858475"/>
            <a:ext cx="0" cy="3879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3" name="Google Shape;163;p32"/>
          <p:cNvSpPr txBox="1"/>
          <p:nvPr/>
        </p:nvSpPr>
        <p:spPr>
          <a:xfrm>
            <a:off x="0" y="1113400"/>
            <a:ext cx="3459900" cy="18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Pre-Net with Dropout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Post-Net for residual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LSA for easier attention learning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64" name="Google Shape;164;p3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51925" y="3197351"/>
            <a:ext cx="3253875" cy="46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32"/>
          <p:cNvPicPr preferRelativeResize="0"/>
          <p:nvPr/>
        </p:nvPicPr>
        <p:blipFill rotWithShape="1">
          <a:blip r:embed="rId3"/>
          <a:srcRect t="50768"/>
          <a:stretch>
            <a:fillRect/>
          </a:stretch>
        </p:blipFill>
        <p:spPr>
          <a:xfrm>
            <a:off x="251925" y="3735550"/>
            <a:ext cx="2343401" cy="2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2"/>
          <p:cNvSpPr txBox="1"/>
          <p:nvPr/>
        </p:nvSpPr>
        <p:spPr>
          <a:xfrm>
            <a:off x="6150050" y="482040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5"/>
                </a:solidFill>
              </a:rPr>
              <a:t>https://arxiv.org/abs/1712.05884</a:t>
            </a:r>
            <a:endParaRPr sz="9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Guided Attention</a:t>
            </a:r>
            <a:endParaRPr sz="3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2" name="Google Shape;172;p33"/>
          <p:cNvSpPr txBox="1"/>
          <p:nvPr/>
        </p:nvSpPr>
        <p:spPr>
          <a:xfrm>
            <a:off x="311700" y="1142975"/>
            <a:ext cx="5061000" cy="3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Hard to learn attention from scratch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Text position </a:t>
            </a:r>
            <a:r>
              <a:rPr lang="en-US" sz="2000" i="1">
                <a:latin typeface="Lora"/>
                <a:ea typeface="Lora"/>
                <a:cs typeface="Lora"/>
                <a:sym typeface="Lora"/>
              </a:rPr>
              <a:t>n</a:t>
            </a:r>
            <a:r>
              <a:rPr lang="en-US" sz="2000">
                <a:latin typeface="Lora"/>
                <a:ea typeface="Lora"/>
                <a:cs typeface="Lora"/>
                <a:sym typeface="Lora"/>
              </a:rPr>
              <a:t> progresses linearly to time </a:t>
            </a:r>
            <a:r>
              <a:rPr lang="en-US" sz="2000" i="1">
                <a:latin typeface="Lora"/>
                <a:ea typeface="Lora"/>
                <a:cs typeface="Lora"/>
                <a:sym typeface="Lora"/>
              </a:rPr>
              <a:t>t</a:t>
            </a:r>
            <a:r>
              <a:rPr lang="en-US" sz="2000">
                <a:latin typeface="Lora"/>
                <a:ea typeface="Lora"/>
                <a:cs typeface="Lora"/>
                <a:sym typeface="Lora"/>
              </a:rPr>
              <a:t>: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Prompts attention matrix </a:t>
            </a:r>
            <a:r>
              <a:rPr lang="en-US" sz="2000" i="1">
                <a:latin typeface="Lora"/>
                <a:ea typeface="Lora"/>
                <a:cs typeface="Lora"/>
                <a:sym typeface="Lora"/>
              </a:rPr>
              <a:t>A </a:t>
            </a:r>
            <a:r>
              <a:rPr lang="en-US" sz="2000">
                <a:latin typeface="Lora"/>
                <a:ea typeface="Lora"/>
                <a:cs typeface="Lora"/>
                <a:sym typeface="Lora"/>
              </a:rPr>
              <a:t>to be “diagonal”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Similar ideas: monotonic attention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73" name="Google Shape;173;p3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775675" y="2469091"/>
            <a:ext cx="3165650" cy="35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65197" y="3998600"/>
            <a:ext cx="6840829" cy="29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3"/>
          <p:cNvPicPr preferRelativeResize="0"/>
          <p:nvPr/>
        </p:nvPicPr>
        <p:blipFill rotWithShape="1">
          <a:blip r:embed="rId3"/>
          <a:srcRect l="1312" r="1497"/>
          <a:stretch>
            <a:fillRect/>
          </a:stretch>
        </p:blipFill>
        <p:spPr>
          <a:xfrm>
            <a:off x="5333275" y="1142975"/>
            <a:ext cx="3810724" cy="249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3"/>
          <p:cNvSpPr txBox="1"/>
          <p:nvPr/>
        </p:nvSpPr>
        <p:spPr>
          <a:xfrm>
            <a:off x="6144000" y="479637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5"/>
                </a:solidFill>
              </a:rPr>
              <a:t>https://arxiv.org/pdf/1906.00672</a:t>
            </a:r>
            <a:endParaRPr sz="9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Global Style Token (GST)</a:t>
            </a:r>
            <a:endParaRPr sz="30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82" name="Google Shape;182;p3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218223" y="1141700"/>
            <a:ext cx="6610699" cy="377620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4"/>
          <p:cNvSpPr txBox="1"/>
          <p:nvPr/>
        </p:nvSpPr>
        <p:spPr>
          <a:xfrm>
            <a:off x="6144000" y="474330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5"/>
                </a:solidFill>
              </a:rPr>
              <a:t>https://arxiv.org/pdf/1803.09017</a:t>
            </a:r>
            <a:endParaRPr sz="9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5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Global Style Token (GST)</a:t>
            </a:r>
            <a:endParaRPr sz="30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89" name="Google Shape;189;p3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227450" y="1017725"/>
            <a:ext cx="6689088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5"/>
          <p:cNvSpPr txBox="1"/>
          <p:nvPr/>
        </p:nvSpPr>
        <p:spPr>
          <a:xfrm>
            <a:off x="6144000" y="474330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5"/>
                </a:solidFill>
              </a:rPr>
              <a:t>https://arxiv.org/pdf/1803.09017</a:t>
            </a:r>
            <a:endParaRPr sz="9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11700" y="2722500"/>
            <a:ext cx="8635123" cy="186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6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Multispeaker TTS</a:t>
            </a:r>
            <a:endParaRPr sz="3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97" name="Google Shape;197;p36"/>
          <p:cNvSpPr txBox="1"/>
          <p:nvPr/>
        </p:nvSpPr>
        <p:spPr>
          <a:xfrm>
            <a:off x="311700" y="1142975"/>
            <a:ext cx="8520600" cy="26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Speaker encoder (SE) trained on a speaker verification task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Text-independent task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Thousands of speakers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FastSpeech</a:t>
            </a:r>
            <a:endParaRPr sz="3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3" name="Google Shape;203;p37"/>
          <p:cNvSpPr txBox="1"/>
          <p:nvPr/>
        </p:nvSpPr>
        <p:spPr>
          <a:xfrm>
            <a:off x="311700" y="1157525"/>
            <a:ext cx="5991900" cy="25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Parallel Mel Generation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Feed-forward Transformer blocks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○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1D Conv instead Linear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Duration predictor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Length Regulator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4" name="Google Shape;204;p37"/>
          <p:cNvSpPr txBox="1"/>
          <p:nvPr/>
        </p:nvSpPr>
        <p:spPr>
          <a:xfrm>
            <a:off x="6144000" y="482040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5"/>
                </a:solidFill>
              </a:rPr>
              <a:t>https://arxiv.org/abs/1905.09263</a:t>
            </a:r>
            <a:endParaRPr sz="9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FastSpeech</a:t>
            </a:r>
            <a:endParaRPr sz="30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10" name="Google Shape;210;p3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03425" y="1269375"/>
            <a:ext cx="3958800" cy="360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8"/>
          <p:cNvSpPr txBox="1"/>
          <p:nvPr/>
        </p:nvSpPr>
        <p:spPr>
          <a:xfrm>
            <a:off x="5085075" y="944650"/>
            <a:ext cx="3762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12" name="Google Shape;212;p38"/>
          <p:cNvPicPr preferRelativeResize="0"/>
          <p:nvPr/>
        </p:nvPicPr>
        <p:blipFill rotWithShape="1">
          <a:blip r:embed="rId2"/>
          <a:srcRect l="2685" t="4203" r="5378" b="5029"/>
          <a:stretch>
            <a:fillRect/>
          </a:stretch>
        </p:blipFill>
        <p:spPr>
          <a:xfrm>
            <a:off x="4374875" y="1335250"/>
            <a:ext cx="4615724" cy="34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9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FastSpeech 2</a:t>
            </a:r>
            <a:endParaRPr sz="3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18" name="Google Shape;218;p39"/>
          <p:cNvSpPr txBox="1"/>
          <p:nvPr/>
        </p:nvSpPr>
        <p:spPr>
          <a:xfrm>
            <a:off x="242650" y="1178525"/>
            <a:ext cx="4213500" cy="23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ora"/>
              <a:buChar char="●"/>
            </a:pPr>
            <a:r>
              <a:rPr lang="en-US" b="1">
                <a:latin typeface="Lora"/>
                <a:ea typeface="Lora"/>
                <a:cs typeface="Lora"/>
                <a:sym typeface="Lora"/>
              </a:rPr>
              <a:t>Phoneme duration</a:t>
            </a:r>
            <a:r>
              <a:rPr lang="en-US">
                <a:latin typeface="Lora"/>
                <a:ea typeface="Lora"/>
                <a:cs typeface="Lora"/>
                <a:sym typeface="Lora"/>
              </a:rPr>
              <a:t>, which represents how long the speech voice sounds</a:t>
            </a:r>
            <a:endParaRPr>
              <a:latin typeface="Lora"/>
              <a:ea typeface="Lora"/>
              <a:cs typeface="Lora"/>
              <a:sym typeface="Lora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ora"/>
              <a:buChar char="●"/>
            </a:pPr>
            <a:r>
              <a:rPr lang="en-US" b="1">
                <a:latin typeface="Lora"/>
                <a:ea typeface="Lora"/>
                <a:cs typeface="Lora"/>
                <a:sym typeface="Lora"/>
              </a:rPr>
              <a:t>Pitch</a:t>
            </a:r>
            <a:r>
              <a:rPr lang="en-US">
                <a:latin typeface="Lora"/>
                <a:ea typeface="Lora"/>
                <a:cs typeface="Lora"/>
                <a:sym typeface="Lora"/>
              </a:rPr>
              <a:t>, which is a key feature to convey emotions and greatly affects the speech prosody. </a:t>
            </a:r>
            <a:endParaRPr>
              <a:latin typeface="Lora"/>
              <a:ea typeface="Lora"/>
              <a:cs typeface="Lora"/>
              <a:sym typeface="Lora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ora"/>
              <a:buChar char="●"/>
            </a:pPr>
            <a:r>
              <a:rPr lang="en-US" b="1">
                <a:latin typeface="Lora"/>
                <a:ea typeface="Lora"/>
                <a:cs typeface="Lora"/>
                <a:sym typeface="Lora"/>
              </a:rPr>
              <a:t>Energy</a:t>
            </a:r>
            <a:r>
              <a:rPr lang="en-US">
                <a:latin typeface="Lora"/>
                <a:ea typeface="Lora"/>
                <a:cs typeface="Lora"/>
                <a:sym typeface="Lora"/>
              </a:rPr>
              <a:t>, which indicates framelevel magnitude of mel-spectrograms.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19" name="Google Shape;219;p39"/>
          <p:cNvPicPr preferRelativeResize="0"/>
          <p:nvPr/>
        </p:nvPicPr>
        <p:blipFill rotWithShape="1">
          <a:blip r:embed="rId1"/>
          <a:srcRect r="25898"/>
          <a:stretch>
            <a:fillRect/>
          </a:stretch>
        </p:blipFill>
        <p:spPr>
          <a:xfrm>
            <a:off x="4639625" y="1210675"/>
            <a:ext cx="4044925" cy="272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9"/>
          <p:cNvSpPr txBox="1"/>
          <p:nvPr/>
        </p:nvSpPr>
        <p:spPr>
          <a:xfrm>
            <a:off x="6144000" y="482040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5"/>
                </a:solidFill>
              </a:rPr>
              <a:t>https://arxiv.org/abs/2006.04558</a:t>
            </a:r>
            <a:endParaRPr sz="9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Montreal</a:t>
            </a:r>
            <a:r>
              <a:rPr lang="en-US"/>
              <a:t> Forced Alignment</a:t>
            </a:r>
            <a:endParaRPr lang="en-US"/>
          </a:p>
        </p:txBody>
      </p:sp>
      <p:sp>
        <p:nvSpPr>
          <p:cNvPr id="226" name="Google Shape;226;p40"/>
          <p:cNvSpPr txBox="1"/>
          <p:nvPr>
            <p:ph type="body" idx="1"/>
          </p:nvPr>
        </p:nvSpPr>
        <p:spPr>
          <a:xfrm>
            <a:off x="311700" y="1152475"/>
            <a:ext cx="4046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Feature Extraction (MFCC)</a:t>
            </a:r>
            <a:endParaRPr lang="en-US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Modeling with Hidden Markov Models (HMM)</a:t>
            </a:r>
            <a:endParaRPr lang="en-US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Search for most probable path</a:t>
            </a:r>
            <a:endParaRPr lang="en-US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Multiple passes for speaker adaptation</a:t>
            </a:r>
            <a:endParaRPr lang="en-US"/>
          </a:p>
        </p:txBody>
      </p:sp>
      <p:pic>
        <p:nvPicPr>
          <p:cNvPr id="227" name="Google Shape;227;p40"/>
          <p:cNvPicPr preferRelativeResize="0"/>
          <p:nvPr/>
        </p:nvPicPr>
        <p:blipFill rotWithShape="1">
          <a:blip r:embed="rId1"/>
          <a:srcRect l="4285" r="5315"/>
          <a:stretch>
            <a:fillRect/>
          </a:stretch>
        </p:blipFill>
        <p:spPr>
          <a:xfrm>
            <a:off x="4223075" y="1152475"/>
            <a:ext cx="4920827" cy="31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40"/>
          <p:cNvSpPr txBox="1"/>
          <p:nvPr/>
        </p:nvSpPr>
        <p:spPr>
          <a:xfrm>
            <a:off x="3700400" y="4820400"/>
            <a:ext cx="5443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5"/>
                </a:solidFill>
              </a:rPr>
              <a:t>https://montrealcorpustools.github.io/Montreal-Forced-Aligner/images/MFA_paper_Interspeech2017.pdf</a:t>
            </a:r>
            <a:endParaRPr sz="9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What </a:t>
            </a:r>
            <a:r>
              <a:rPr lang="en-US" sz="3000">
                <a:latin typeface="Lora"/>
                <a:ea typeface="Lora"/>
                <a:cs typeface="Lora"/>
                <a:sym typeface="Lora"/>
              </a:rPr>
              <a:t>about vocoders</a:t>
            </a:r>
            <a:r>
              <a:rPr lang="en-US" sz="3000">
                <a:latin typeface="Lora"/>
                <a:ea typeface="Lora"/>
                <a:cs typeface="Lora"/>
                <a:sym typeface="Lora"/>
              </a:rPr>
              <a:t>?</a:t>
            </a:r>
            <a:endParaRPr sz="3000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34" name="Google Shape;234;p41"/>
          <p:cNvPicPr preferRelativeResize="0"/>
          <p:nvPr/>
        </p:nvPicPr>
        <p:blipFill rotWithShape="1">
          <a:blip r:embed="rId1"/>
          <a:srcRect l="1055" r="2994" b="2439"/>
          <a:stretch>
            <a:fillRect/>
          </a:stretch>
        </p:blipFill>
        <p:spPr>
          <a:xfrm>
            <a:off x="5044150" y="1819450"/>
            <a:ext cx="3101700" cy="209615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1"/>
          <p:cNvSpPr/>
          <p:nvPr/>
        </p:nvSpPr>
        <p:spPr>
          <a:xfrm>
            <a:off x="3589750" y="2554475"/>
            <a:ext cx="1085100" cy="6267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ora"/>
                <a:ea typeface="Lora"/>
                <a:cs typeface="Lora"/>
                <a:sym typeface="Lora"/>
              </a:rPr>
              <a:t>Vocoder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236" name="Google Shape;236;p41"/>
          <p:cNvCxnSpPr>
            <a:stCxn id="235" idx="3"/>
            <a:endCxn id="234" idx="1"/>
          </p:cNvCxnSpPr>
          <p:nvPr/>
        </p:nvCxnSpPr>
        <p:spPr>
          <a:xfrm>
            <a:off x="4674850" y="2867825"/>
            <a:ext cx="369300" cy="6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37" name="Google Shape;237;p41"/>
          <p:cNvPicPr preferRelativeResize="0"/>
          <p:nvPr/>
        </p:nvPicPr>
        <p:blipFill rotWithShape="1">
          <a:blip r:embed="rId2"/>
          <a:srcRect l="7727" t="4082" r="2635" b="10170"/>
          <a:stretch>
            <a:fillRect/>
          </a:stretch>
        </p:blipFill>
        <p:spPr>
          <a:xfrm>
            <a:off x="1146747" y="2318636"/>
            <a:ext cx="1489355" cy="10989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8" name="Google Shape;238;p41"/>
          <p:cNvCxnSpPr>
            <a:stCxn id="237" idx="3"/>
            <a:endCxn id="235" idx="1"/>
          </p:cNvCxnSpPr>
          <p:nvPr/>
        </p:nvCxnSpPr>
        <p:spPr>
          <a:xfrm>
            <a:off x="2636102" y="2868132"/>
            <a:ext cx="953700" cy="600"/>
          </a:xfrm>
          <a:prstGeom prst="curvedConnector3">
            <a:avLst>
              <a:gd name="adj1" fmla="val 4999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Lora"/>
                <a:ea typeface="Lora"/>
                <a:cs typeface="Lora"/>
                <a:sym typeface="Lora"/>
              </a:rPr>
              <a:t>What is MelSpectrogram?</a:t>
            </a:r>
            <a:endParaRPr sz="30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44" name="Google Shape;244;p4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394800" y="1092575"/>
            <a:ext cx="4478524" cy="3194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42"/>
          <p:cNvPicPr preferRelativeResize="0"/>
          <p:nvPr/>
        </p:nvPicPr>
        <p:blipFill rotWithShape="1">
          <a:blip r:embed="rId2"/>
          <a:srcRect l="7727" t="4082" r="85086" b="10170"/>
          <a:stretch>
            <a:fillRect/>
          </a:stretch>
        </p:blipFill>
        <p:spPr>
          <a:xfrm>
            <a:off x="3441300" y="4213075"/>
            <a:ext cx="93975" cy="8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42"/>
          <p:cNvPicPr preferRelativeResize="0"/>
          <p:nvPr/>
        </p:nvPicPr>
        <p:blipFill rotWithShape="1">
          <a:blip r:embed="rId2"/>
          <a:srcRect l="18037" t="4082" r="70001" b="10170"/>
          <a:stretch>
            <a:fillRect/>
          </a:stretch>
        </p:blipFill>
        <p:spPr>
          <a:xfrm>
            <a:off x="3965750" y="4213075"/>
            <a:ext cx="93975" cy="8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42"/>
          <p:cNvPicPr preferRelativeResize="0"/>
          <p:nvPr/>
        </p:nvPicPr>
        <p:blipFill rotWithShape="1">
          <a:blip r:embed="rId2"/>
          <a:srcRect l="30305" t="4082" r="58437" b="10170"/>
          <a:stretch>
            <a:fillRect/>
          </a:stretch>
        </p:blipFill>
        <p:spPr>
          <a:xfrm>
            <a:off x="4490200" y="4213075"/>
            <a:ext cx="93975" cy="8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42"/>
          <p:cNvPicPr preferRelativeResize="0"/>
          <p:nvPr/>
        </p:nvPicPr>
        <p:blipFill rotWithShape="1">
          <a:blip r:embed="rId2"/>
          <a:srcRect l="51017" t="4082" r="41796" b="10170"/>
          <a:stretch>
            <a:fillRect/>
          </a:stretch>
        </p:blipFill>
        <p:spPr>
          <a:xfrm>
            <a:off x="5048675" y="4213075"/>
            <a:ext cx="93975" cy="8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42"/>
          <p:cNvPicPr preferRelativeResize="0"/>
          <p:nvPr/>
        </p:nvPicPr>
        <p:blipFill rotWithShape="1">
          <a:blip r:embed="rId2"/>
          <a:srcRect l="65400" t="4082" r="27414" b="10170"/>
          <a:stretch>
            <a:fillRect/>
          </a:stretch>
        </p:blipFill>
        <p:spPr>
          <a:xfrm>
            <a:off x="5578137" y="4213075"/>
            <a:ext cx="93975" cy="8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42"/>
          <p:cNvPicPr preferRelativeResize="0"/>
          <p:nvPr/>
        </p:nvPicPr>
        <p:blipFill rotWithShape="1">
          <a:blip r:embed="rId2"/>
          <a:srcRect l="90178" t="4082" r="2635" b="10170"/>
          <a:stretch>
            <a:fillRect/>
          </a:stretch>
        </p:blipFill>
        <p:spPr>
          <a:xfrm>
            <a:off x="6107574" y="4213075"/>
            <a:ext cx="93975" cy="8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42"/>
          <p:cNvPicPr preferRelativeResize="0"/>
          <p:nvPr/>
        </p:nvPicPr>
        <p:blipFill rotWithShape="1">
          <a:blip r:embed="rId2"/>
          <a:srcRect l="7727" t="4082" r="2635" b="10170"/>
          <a:stretch>
            <a:fillRect/>
          </a:stretch>
        </p:blipFill>
        <p:spPr>
          <a:xfrm>
            <a:off x="7522525" y="4180119"/>
            <a:ext cx="1261450" cy="93083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42"/>
          <p:cNvSpPr/>
          <p:nvPr/>
        </p:nvSpPr>
        <p:spPr>
          <a:xfrm>
            <a:off x="2254013" y="3671300"/>
            <a:ext cx="1058450" cy="929325"/>
          </a:xfrm>
          <a:custGeom>
            <a:avLst/>
            <a:gdLst/>
            <a:ahLst/>
            <a:cxnLst/>
            <a:rect l="l" t="t" r="r" b="b"/>
            <a:pathLst>
              <a:path w="42338" h="37173" extrusionOk="0">
                <a:moveTo>
                  <a:pt x="41234" y="0"/>
                </a:moveTo>
                <a:cubicBezTo>
                  <a:pt x="34364" y="3558"/>
                  <a:pt x="-172" y="15152"/>
                  <a:pt x="12" y="21347"/>
                </a:cubicBezTo>
                <a:cubicBezTo>
                  <a:pt x="196" y="27543"/>
                  <a:pt x="35284" y="34535"/>
                  <a:pt x="42338" y="37173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53" name="Google Shape;253;p42"/>
          <p:cNvSpPr/>
          <p:nvPr/>
        </p:nvSpPr>
        <p:spPr>
          <a:xfrm>
            <a:off x="533675" y="4011750"/>
            <a:ext cx="1720500" cy="4038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ora"/>
                <a:ea typeface="Lora"/>
                <a:cs typeface="Lora"/>
                <a:sym typeface="Lora"/>
              </a:rPr>
              <a:t>log(MelScale(x))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254" name="Google Shape;254;p42"/>
          <p:cNvCxnSpPr>
            <a:endCxn id="251" idx="1"/>
          </p:cNvCxnSpPr>
          <p:nvPr/>
        </p:nvCxnSpPr>
        <p:spPr>
          <a:xfrm rot="10800000" flipH="1">
            <a:off x="6385525" y="4645535"/>
            <a:ext cx="1137000" cy="10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3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Lora"/>
                <a:ea typeface="Lora"/>
                <a:cs typeface="Lora"/>
                <a:sym typeface="Lora"/>
              </a:rPr>
              <a:t>WaveNet</a:t>
            </a:r>
            <a:endParaRPr sz="30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60" name="Google Shape;260;p4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44250" y="1220200"/>
            <a:ext cx="2544149" cy="63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4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043425" y="1110435"/>
            <a:ext cx="5886301" cy="300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4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44237" y="1999125"/>
            <a:ext cx="2670574" cy="259463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3"/>
          <p:cNvSpPr txBox="1"/>
          <p:nvPr/>
        </p:nvSpPr>
        <p:spPr>
          <a:xfrm>
            <a:off x="6144000" y="482040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5"/>
                </a:solidFill>
              </a:rPr>
              <a:t>https://arxiv.org/pdf/1609.03499</a:t>
            </a:r>
            <a:endParaRPr sz="9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11111"/>
                </a:solidFill>
                <a:highlight>
                  <a:srgbClr val="FDFDFD"/>
                </a:highlight>
                <a:latin typeface="Lora"/>
                <a:ea typeface="Lora"/>
                <a:cs typeface="Lora"/>
                <a:sym typeface="Lora"/>
              </a:rPr>
              <a:t>Dilated Causal Convolution</a:t>
            </a:r>
            <a:endParaRPr sz="3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9" name="Google Shape;269;p44"/>
          <p:cNvSpPr txBox="1"/>
          <p:nvPr/>
        </p:nvSpPr>
        <p:spPr>
          <a:xfrm>
            <a:off x="311700" y="1218700"/>
            <a:ext cx="3801300" cy="25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Increase receptive field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Allow modeling long time dependencies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Causal for avoiding looking in the future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70" name="Google Shape;270;p4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113000" y="1547630"/>
            <a:ext cx="4961626" cy="1766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495425" y="3174120"/>
            <a:ext cx="2196787" cy="2115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5"/>
          <p:cNvSpPr txBox="1"/>
          <p:nvPr/>
        </p:nvSpPr>
        <p:spPr>
          <a:xfrm>
            <a:off x="311700" y="-8012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11111"/>
                </a:solidFill>
                <a:highlight>
                  <a:srgbClr val="FDFDFD"/>
                </a:highlight>
                <a:latin typeface="Lora"/>
                <a:ea typeface="Lora"/>
                <a:cs typeface="Lora"/>
                <a:sym typeface="Lora"/>
              </a:rPr>
              <a:t>Conditional WaveNet</a:t>
            </a:r>
            <a:endParaRPr sz="3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77" name="Google Shape;277;p45"/>
          <p:cNvSpPr txBox="1"/>
          <p:nvPr/>
        </p:nvSpPr>
        <p:spPr>
          <a:xfrm>
            <a:off x="311700" y="1218700"/>
            <a:ext cx="7794600" cy="1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 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 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78" name="Google Shape;278;p45"/>
          <p:cNvSpPr/>
          <p:nvPr/>
        </p:nvSpPr>
        <p:spPr>
          <a:xfrm>
            <a:off x="7167775" y="1058150"/>
            <a:ext cx="93840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79" name="Google Shape;279;p4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7875" y="1324850"/>
            <a:ext cx="3901150" cy="33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17875" y="1899575"/>
            <a:ext cx="6291178" cy="33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5"/>
          <p:cNvPicPr preferRelativeResize="0"/>
          <p:nvPr/>
        </p:nvPicPr>
        <p:blipFill rotWithShape="1">
          <a:blip r:embed="rId3"/>
          <a:srcRect l="4314" t="5008" r="73276" b="40440"/>
          <a:stretch>
            <a:fillRect/>
          </a:stretch>
        </p:blipFill>
        <p:spPr>
          <a:xfrm>
            <a:off x="3597700" y="2703675"/>
            <a:ext cx="1479324" cy="1841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5"/>
          <p:cNvSpPr/>
          <p:nvPr/>
        </p:nvSpPr>
        <p:spPr>
          <a:xfrm>
            <a:off x="3217043" y="2263500"/>
            <a:ext cx="610675" cy="1619425"/>
          </a:xfrm>
          <a:custGeom>
            <a:avLst/>
            <a:gdLst/>
            <a:ahLst/>
            <a:cxnLst/>
            <a:rect l="l" t="t" r="r" b="b"/>
            <a:pathLst>
              <a:path w="24427" h="64777" extrusionOk="0">
                <a:moveTo>
                  <a:pt x="5288" y="0"/>
                </a:moveTo>
                <a:cubicBezTo>
                  <a:pt x="4552" y="7177"/>
                  <a:pt x="-2318" y="32266"/>
                  <a:pt x="872" y="43062"/>
                </a:cubicBezTo>
                <a:cubicBezTo>
                  <a:pt x="4062" y="53858"/>
                  <a:pt x="20501" y="61158"/>
                  <a:pt x="24427" y="64777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83" name="Google Shape;283;p45"/>
          <p:cNvSpPr/>
          <p:nvPr/>
        </p:nvSpPr>
        <p:spPr>
          <a:xfrm>
            <a:off x="4968675" y="2263500"/>
            <a:ext cx="1518200" cy="1637825"/>
          </a:xfrm>
          <a:custGeom>
            <a:avLst/>
            <a:gdLst/>
            <a:ahLst/>
            <a:cxnLst/>
            <a:rect l="l" t="t" r="r" b="b"/>
            <a:pathLst>
              <a:path w="60728" h="65513" extrusionOk="0">
                <a:moveTo>
                  <a:pt x="60728" y="0"/>
                </a:moveTo>
                <a:cubicBezTo>
                  <a:pt x="58274" y="7484"/>
                  <a:pt x="56127" y="33983"/>
                  <a:pt x="46006" y="44902"/>
                </a:cubicBezTo>
                <a:cubicBezTo>
                  <a:pt x="35885" y="55821"/>
                  <a:pt x="7668" y="62078"/>
                  <a:pt x="0" y="65513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sp>
      <p:pic>
        <p:nvPicPr>
          <p:cNvPr id="284" name="Google Shape;284;p45"/>
          <p:cNvPicPr preferRelativeResize="0"/>
          <p:nvPr/>
        </p:nvPicPr>
        <p:blipFill rotWithShape="1">
          <a:blip r:embed="rId4"/>
          <a:srcRect l="7727" t="4082" r="2635" b="10170"/>
          <a:stretch>
            <a:fillRect/>
          </a:stretch>
        </p:blipFill>
        <p:spPr>
          <a:xfrm>
            <a:off x="7073447" y="3228586"/>
            <a:ext cx="1489355" cy="10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5"/>
          <p:cNvSpPr/>
          <p:nvPr/>
        </p:nvSpPr>
        <p:spPr>
          <a:xfrm>
            <a:off x="6836525" y="2226700"/>
            <a:ext cx="984550" cy="975325"/>
          </a:xfrm>
          <a:custGeom>
            <a:avLst/>
            <a:gdLst/>
            <a:ahLst/>
            <a:cxnLst/>
            <a:rect l="l" t="t" r="r" b="b"/>
            <a:pathLst>
              <a:path w="39382" h="39013" extrusionOk="0">
                <a:moveTo>
                  <a:pt x="39382" y="39013"/>
                </a:moveTo>
                <a:cubicBezTo>
                  <a:pt x="38217" y="35517"/>
                  <a:pt x="38953" y="24537"/>
                  <a:pt x="32389" y="18035"/>
                </a:cubicBezTo>
                <a:cubicBezTo>
                  <a:pt x="25825" y="11533"/>
                  <a:pt x="5398" y="3006"/>
                  <a:pt x="0" y="0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86" name="Google Shape;286;p45"/>
          <p:cNvSpPr/>
          <p:nvPr/>
        </p:nvSpPr>
        <p:spPr>
          <a:xfrm>
            <a:off x="3993350" y="2254300"/>
            <a:ext cx="3836925" cy="947725"/>
          </a:xfrm>
          <a:custGeom>
            <a:avLst/>
            <a:gdLst/>
            <a:ahLst/>
            <a:cxnLst/>
            <a:rect l="l" t="t" r="r" b="b"/>
            <a:pathLst>
              <a:path w="153477" h="37909" extrusionOk="0">
                <a:moveTo>
                  <a:pt x="153477" y="37909"/>
                </a:moveTo>
                <a:cubicBezTo>
                  <a:pt x="135381" y="34658"/>
                  <a:pt x="70482" y="24721"/>
                  <a:pt x="44902" y="18403"/>
                </a:cubicBezTo>
                <a:cubicBezTo>
                  <a:pt x="19323" y="12085"/>
                  <a:pt x="7484" y="3067"/>
                  <a:pt x="0" y="0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87" name="Google Shape;287;p45"/>
          <p:cNvSpPr/>
          <p:nvPr/>
        </p:nvSpPr>
        <p:spPr>
          <a:xfrm>
            <a:off x="3082425" y="1748250"/>
            <a:ext cx="984600" cy="5727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8" name="Google Shape;288;p45"/>
          <p:cNvSpPr/>
          <p:nvPr/>
        </p:nvSpPr>
        <p:spPr>
          <a:xfrm>
            <a:off x="5958400" y="1748250"/>
            <a:ext cx="984600" cy="5727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6"/>
          <p:cNvSpPr txBox="1"/>
          <p:nvPr/>
        </p:nvSpPr>
        <p:spPr>
          <a:xfrm>
            <a:off x="311700" y="-11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11111"/>
                </a:solidFill>
                <a:highlight>
                  <a:srgbClr val="FDFDFD"/>
                </a:highlight>
                <a:latin typeface="Lora"/>
                <a:ea typeface="Lora"/>
                <a:cs typeface="Lora"/>
                <a:sym typeface="Lora"/>
              </a:rPr>
              <a:t>Mu Law Encoding</a:t>
            </a:r>
            <a:endParaRPr sz="3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4" name="Google Shape;294;p46"/>
          <p:cNvSpPr txBox="1"/>
          <p:nvPr/>
        </p:nvSpPr>
        <p:spPr>
          <a:xfrm>
            <a:off x="311700" y="1218700"/>
            <a:ext cx="5218200" cy="3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ra"/>
              <a:buChar char="●"/>
            </a:pPr>
            <a:r>
              <a:rPr lang="en-US" sz="1800">
                <a:latin typeface="Lora"/>
                <a:ea typeface="Lora"/>
                <a:cs typeface="Lora"/>
                <a:sym typeface="Lora"/>
              </a:rPr>
              <a:t> 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ora"/>
              <a:buChar char="●"/>
            </a:pPr>
            <a:r>
              <a:rPr lang="en-US" sz="1800">
                <a:latin typeface="Lora"/>
                <a:ea typeface="Lora"/>
                <a:cs typeface="Lora"/>
                <a:sym typeface="Lora"/>
              </a:rPr>
              <a:t>16-bit WAV contain 2^16 values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ora"/>
              <a:buChar char="●"/>
            </a:pPr>
            <a:r>
              <a:rPr lang="en-US" sz="1800">
                <a:latin typeface="Lora"/>
                <a:ea typeface="Lora"/>
                <a:cs typeface="Lora"/>
                <a:sym typeface="Lora"/>
              </a:rPr>
              <a:t>Softmax will die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ora"/>
              <a:buChar char="●"/>
            </a:pPr>
            <a:r>
              <a:rPr lang="en-US" sz="1800">
                <a:latin typeface="Lora"/>
                <a:ea typeface="Lora"/>
                <a:cs typeface="Lora"/>
                <a:sym typeface="Lora"/>
              </a:rPr>
              <a:t>Human hearing on a </a:t>
            </a:r>
            <a:r>
              <a:rPr lang="en-US" sz="1800" b="1">
                <a:latin typeface="Lora"/>
                <a:ea typeface="Lora"/>
                <a:cs typeface="Lora"/>
                <a:sym typeface="Lora"/>
              </a:rPr>
              <a:t>logarithmic</a:t>
            </a:r>
            <a:r>
              <a:rPr lang="en-US" sz="1800">
                <a:latin typeface="Lora"/>
                <a:ea typeface="Lora"/>
                <a:cs typeface="Lora"/>
                <a:sym typeface="Lora"/>
              </a:rPr>
              <a:t> scale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ora"/>
              <a:buChar char="●"/>
            </a:pPr>
            <a:r>
              <a:rPr lang="en-US" sz="1800" b="1">
                <a:latin typeface="Lora"/>
                <a:ea typeface="Lora"/>
                <a:cs typeface="Lora"/>
                <a:sym typeface="Lora"/>
              </a:rPr>
              <a:t>Low-amplitude</a:t>
            </a:r>
            <a:r>
              <a:rPr lang="en-US" sz="1800">
                <a:latin typeface="Lora"/>
                <a:ea typeface="Lora"/>
                <a:cs typeface="Lora"/>
                <a:sym typeface="Lora"/>
              </a:rPr>
              <a:t> sounds in </a:t>
            </a:r>
            <a:r>
              <a:rPr lang="en-US" sz="1800" b="1">
                <a:latin typeface="Lora"/>
                <a:ea typeface="Lora"/>
                <a:cs typeface="Lora"/>
                <a:sym typeface="Lora"/>
              </a:rPr>
              <a:t>high</a:t>
            </a:r>
            <a:r>
              <a:rPr lang="en-US" sz="1800">
                <a:latin typeface="Lora"/>
                <a:ea typeface="Lora"/>
                <a:cs typeface="Lora"/>
                <a:sym typeface="Lora"/>
              </a:rPr>
              <a:t> resolution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ora"/>
              <a:buChar char="●"/>
            </a:pPr>
            <a:r>
              <a:rPr lang="en-US" sz="1800" b="1">
                <a:latin typeface="Lora"/>
                <a:ea typeface="Lora"/>
                <a:cs typeface="Lora"/>
                <a:sym typeface="Lora"/>
              </a:rPr>
              <a:t>High-amplitude</a:t>
            </a:r>
            <a:r>
              <a:rPr lang="en-US" sz="1800">
                <a:latin typeface="Lora"/>
                <a:ea typeface="Lora"/>
                <a:cs typeface="Lora"/>
                <a:sym typeface="Lora"/>
              </a:rPr>
              <a:t> sounds in </a:t>
            </a:r>
            <a:r>
              <a:rPr lang="en-US" sz="1800" b="1">
                <a:latin typeface="Lora"/>
                <a:ea typeface="Lora"/>
                <a:cs typeface="Lora"/>
                <a:sym typeface="Lora"/>
              </a:rPr>
              <a:t>low</a:t>
            </a:r>
            <a:r>
              <a:rPr lang="en-US" sz="1800">
                <a:latin typeface="Lora"/>
                <a:ea typeface="Lora"/>
                <a:cs typeface="Lora"/>
                <a:sym typeface="Lora"/>
              </a:rPr>
              <a:t> resolution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95" name="Google Shape;295;p4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44116" y="1142500"/>
            <a:ext cx="299401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46"/>
          <p:cNvSpPr txBox="1"/>
          <p:nvPr/>
        </p:nvSpPr>
        <p:spPr>
          <a:xfrm>
            <a:off x="3963600" y="4820400"/>
            <a:ext cx="5180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5"/>
                </a:solidFill>
              </a:rPr>
              <a:t>http://educypedia.karadimov.info/library/YoungEngineering_ALaw_and_MuLaw_Companding.pdf</a:t>
            </a:r>
            <a:endParaRPr sz="900">
              <a:solidFill>
                <a:schemeClr val="accent5"/>
              </a:solidFill>
            </a:endParaRPr>
          </a:p>
        </p:txBody>
      </p:sp>
      <p:sp>
        <p:nvSpPr>
          <p:cNvPr id="297" name="Google Shape;297;p46"/>
          <p:cNvSpPr/>
          <p:nvPr/>
        </p:nvSpPr>
        <p:spPr>
          <a:xfrm>
            <a:off x="7167775" y="1058150"/>
            <a:ext cx="93840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98" name="Google Shape;298;p4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388000" y="1142500"/>
            <a:ext cx="3603600" cy="250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7"/>
          <p:cNvSpPr txBox="1"/>
          <p:nvPr/>
        </p:nvSpPr>
        <p:spPr>
          <a:xfrm>
            <a:off x="311700" y="270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Parallel WaveGAN</a:t>
            </a:r>
            <a:endParaRPr sz="30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304" name="Google Shape;304;p4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793068" y="503375"/>
            <a:ext cx="5251033" cy="3964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7"/>
          <p:cNvSpPr txBox="1"/>
          <p:nvPr/>
        </p:nvSpPr>
        <p:spPr>
          <a:xfrm>
            <a:off x="325670" y="1066300"/>
            <a:ext cx="3359700" cy="26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Lora"/>
              <a:buChar char="●"/>
            </a:pPr>
            <a:r>
              <a:rPr lang="en-US" sz="1800">
                <a:solidFill>
                  <a:srgbClr val="111111"/>
                </a:solidFill>
                <a:highlight>
                  <a:srgbClr val="FDFDFD"/>
                </a:highlight>
                <a:latin typeface="Lora"/>
                <a:ea typeface="Lora"/>
                <a:cs typeface="Lora"/>
                <a:sym typeface="Lora"/>
              </a:rPr>
              <a:t>Use WaveNet based Generator</a:t>
            </a:r>
            <a:endParaRPr sz="1800">
              <a:solidFill>
                <a:srgbClr val="111111"/>
              </a:solidFill>
              <a:highlight>
                <a:srgbClr val="FDFDFD"/>
              </a:highlight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Lora"/>
              <a:buChar char="●"/>
            </a:pPr>
            <a:r>
              <a:rPr lang="en-US" sz="1800">
                <a:solidFill>
                  <a:srgbClr val="111111"/>
                </a:solidFill>
                <a:highlight>
                  <a:srgbClr val="FDFDFD"/>
                </a:highlight>
                <a:latin typeface="Lora"/>
                <a:ea typeface="Lora"/>
                <a:cs typeface="Lora"/>
                <a:sym typeface="Lora"/>
              </a:rPr>
              <a:t>Additionally use </a:t>
            </a:r>
            <a:r>
              <a:rPr lang="en-US" sz="1800" b="1">
                <a:solidFill>
                  <a:srgbClr val="111111"/>
                </a:solidFill>
                <a:highlight>
                  <a:srgbClr val="FDFDFD"/>
                </a:highlight>
                <a:latin typeface="Lora"/>
                <a:ea typeface="Lora"/>
                <a:cs typeface="Lora"/>
                <a:sym typeface="Lora"/>
              </a:rPr>
              <a:t>multi-STFT loss </a:t>
            </a:r>
            <a:endParaRPr sz="1800">
              <a:solidFill>
                <a:srgbClr val="111111"/>
              </a:solidFill>
              <a:highlight>
                <a:srgbClr val="FDFDFD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06" name="Google Shape;306;p47"/>
          <p:cNvSpPr txBox="1"/>
          <p:nvPr/>
        </p:nvSpPr>
        <p:spPr>
          <a:xfrm>
            <a:off x="6144000" y="482040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5"/>
                </a:solidFill>
              </a:rPr>
              <a:t>https://arxiv.org/pdf/1910.11480</a:t>
            </a:r>
            <a:endParaRPr sz="9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8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STFT Loss</a:t>
            </a:r>
            <a:endParaRPr sz="3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312" name="Google Shape;312;p4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851462" y="0"/>
            <a:ext cx="6256383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8"/>
          <p:cNvPicPr preferRelativeResize="0"/>
          <p:nvPr/>
        </p:nvPicPr>
        <p:blipFill rotWithShape="1">
          <a:blip r:embed="rId2"/>
          <a:srcRect l="32669"/>
          <a:stretch>
            <a:fillRect/>
          </a:stretch>
        </p:blipFill>
        <p:spPr>
          <a:xfrm>
            <a:off x="-32271" y="2612375"/>
            <a:ext cx="4468622" cy="232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8"/>
          <p:cNvPicPr preferRelativeResize="0"/>
          <p:nvPr/>
        </p:nvPicPr>
        <p:blipFill rotWithShape="1">
          <a:blip r:embed="rId3"/>
          <a:srcRect l="32746"/>
          <a:stretch>
            <a:fillRect/>
          </a:stretch>
        </p:blipFill>
        <p:spPr>
          <a:xfrm>
            <a:off x="4436350" y="2612363"/>
            <a:ext cx="4812269" cy="2326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9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Lora"/>
                <a:ea typeface="Lora"/>
                <a:cs typeface="Lora"/>
                <a:sym typeface="Lora"/>
              </a:rPr>
              <a:t>MelGAN</a:t>
            </a:r>
            <a:endParaRPr sz="30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320" name="Google Shape;320;p49"/>
          <p:cNvPicPr preferRelativeResize="0"/>
          <p:nvPr/>
        </p:nvPicPr>
        <p:blipFill rotWithShape="1">
          <a:blip r:embed="rId1"/>
          <a:srcRect r="50000"/>
          <a:stretch>
            <a:fillRect/>
          </a:stretch>
        </p:blipFill>
        <p:spPr>
          <a:xfrm>
            <a:off x="5376950" y="1116225"/>
            <a:ext cx="3144974" cy="330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9"/>
          <p:cNvPicPr preferRelativeResize="0"/>
          <p:nvPr/>
        </p:nvPicPr>
        <p:blipFill rotWithShape="1">
          <a:blip r:embed="rId2"/>
          <a:srcRect l="7727" t="4082" r="2635" b="10170"/>
          <a:stretch>
            <a:fillRect/>
          </a:stretch>
        </p:blipFill>
        <p:spPr>
          <a:xfrm>
            <a:off x="5557350" y="326175"/>
            <a:ext cx="1361500" cy="100465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9"/>
          <p:cNvSpPr txBox="1"/>
          <p:nvPr/>
        </p:nvSpPr>
        <p:spPr>
          <a:xfrm>
            <a:off x="311700" y="1066300"/>
            <a:ext cx="4611000" cy="26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Lora"/>
              <a:buChar char="●"/>
            </a:pPr>
            <a:r>
              <a:rPr lang="en-US" sz="1800">
                <a:solidFill>
                  <a:srgbClr val="111111"/>
                </a:solidFill>
                <a:highlight>
                  <a:srgbClr val="FDFDFD"/>
                </a:highlight>
                <a:latin typeface="Lora"/>
                <a:ea typeface="Lora"/>
                <a:cs typeface="Lora"/>
                <a:sym typeface="Lora"/>
              </a:rPr>
              <a:t>Non-autoregressive</a:t>
            </a:r>
            <a:endParaRPr sz="1800">
              <a:solidFill>
                <a:srgbClr val="111111"/>
              </a:solidFill>
              <a:highlight>
                <a:srgbClr val="FDFDFD"/>
              </a:highlight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Lora"/>
              <a:buChar char="●"/>
            </a:pPr>
            <a:r>
              <a:rPr lang="en-US" sz="1800">
                <a:solidFill>
                  <a:srgbClr val="111111"/>
                </a:solidFill>
                <a:highlight>
                  <a:srgbClr val="FDFDFD"/>
                </a:highlight>
                <a:latin typeface="Lora"/>
                <a:ea typeface="Lora"/>
                <a:cs typeface="Lora"/>
                <a:sym typeface="Lora"/>
              </a:rPr>
              <a:t>Incredibly fast and don’t require any kind of distillation</a:t>
            </a:r>
            <a:endParaRPr sz="1800">
              <a:solidFill>
                <a:srgbClr val="111111"/>
              </a:solidFill>
              <a:highlight>
                <a:srgbClr val="FDFDFD"/>
              </a:highlight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323" name="Google Shape;323;p49"/>
          <p:cNvPicPr preferRelativeResize="0"/>
          <p:nvPr/>
        </p:nvPicPr>
        <p:blipFill rotWithShape="1">
          <a:blip r:embed="rId3"/>
          <a:srcRect l="11201" t="5524" r="3620" b="10400"/>
          <a:stretch>
            <a:fillRect/>
          </a:stretch>
        </p:blipFill>
        <p:spPr>
          <a:xfrm>
            <a:off x="5557350" y="4143025"/>
            <a:ext cx="1489350" cy="910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0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Lora"/>
                <a:ea typeface="Lora"/>
                <a:cs typeface="Lora"/>
                <a:sym typeface="Lora"/>
              </a:rPr>
              <a:t>MelGAN</a:t>
            </a:r>
            <a:endParaRPr sz="30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30" name="Google Shape;330;p50"/>
          <p:cNvSpPr txBox="1"/>
          <p:nvPr/>
        </p:nvSpPr>
        <p:spPr>
          <a:xfrm>
            <a:off x="311700" y="1066300"/>
            <a:ext cx="4611000" cy="24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Lora"/>
              <a:buChar char="●"/>
            </a:pPr>
            <a:r>
              <a:rPr lang="en-US" sz="1800">
                <a:solidFill>
                  <a:srgbClr val="111111"/>
                </a:solidFill>
                <a:highlight>
                  <a:srgbClr val="FDFDFD"/>
                </a:highlight>
                <a:latin typeface="Lora"/>
                <a:ea typeface="Lora"/>
                <a:cs typeface="Lora"/>
                <a:sym typeface="Lora"/>
              </a:rPr>
              <a:t>Multiscale discriminator</a:t>
            </a:r>
            <a:endParaRPr sz="1800">
              <a:solidFill>
                <a:srgbClr val="111111"/>
              </a:solidFill>
              <a:highlight>
                <a:srgbClr val="FDFDFD"/>
              </a:highlight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Lora"/>
              <a:buChar char="●"/>
            </a:pPr>
            <a:r>
              <a:rPr lang="en-US" sz="1800">
                <a:solidFill>
                  <a:srgbClr val="111111"/>
                </a:solidFill>
                <a:highlight>
                  <a:srgbClr val="FDFDFD"/>
                </a:highlight>
                <a:latin typeface="Lora"/>
                <a:ea typeface="Lora"/>
                <a:cs typeface="Lora"/>
                <a:sym typeface="Lora"/>
              </a:rPr>
              <a:t>Feature Matching</a:t>
            </a:r>
            <a:endParaRPr sz="1800">
              <a:solidFill>
                <a:srgbClr val="111111"/>
              </a:solidFill>
              <a:highlight>
                <a:srgbClr val="FDFDFD"/>
              </a:highlight>
              <a:latin typeface="Lora"/>
              <a:ea typeface="Lora"/>
              <a:cs typeface="Lora"/>
              <a:sym typeface="Lora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11111"/>
                </a:solidFill>
                <a:highlight>
                  <a:srgbClr val="FDFDFD"/>
                </a:highlight>
                <a:latin typeface="Lora"/>
                <a:ea typeface="Lora"/>
                <a:cs typeface="Lora"/>
                <a:sym typeface="Lora"/>
              </a:rPr>
              <a:t> </a:t>
            </a:r>
            <a:endParaRPr sz="1800">
              <a:solidFill>
                <a:srgbClr val="111111"/>
              </a:solidFill>
              <a:highlight>
                <a:srgbClr val="FDFDFD"/>
              </a:highlight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Lora"/>
              <a:buChar char="●"/>
            </a:pPr>
            <a:r>
              <a:rPr lang="en-US" sz="1800">
                <a:solidFill>
                  <a:srgbClr val="111111"/>
                </a:solidFill>
                <a:highlight>
                  <a:srgbClr val="FDFDFD"/>
                </a:highlight>
                <a:latin typeface="Lora"/>
                <a:ea typeface="Lora"/>
                <a:cs typeface="Lora"/>
                <a:sym typeface="Lora"/>
              </a:rPr>
              <a:t>Hinge Loss</a:t>
            </a:r>
            <a:endParaRPr sz="1800">
              <a:solidFill>
                <a:srgbClr val="111111"/>
              </a:solidFill>
              <a:highlight>
                <a:srgbClr val="FDFDFD"/>
              </a:highlight>
              <a:latin typeface="Lora"/>
              <a:ea typeface="Lora"/>
              <a:cs typeface="Lora"/>
              <a:sym typeface="Lora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111111"/>
              </a:solidFill>
              <a:highlight>
                <a:srgbClr val="FDFDFD"/>
              </a:highlight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331" name="Google Shape;331;p50"/>
          <p:cNvPicPr preferRelativeResize="0"/>
          <p:nvPr/>
        </p:nvPicPr>
        <p:blipFill rotWithShape="1">
          <a:blip r:embed="rId1"/>
          <a:srcRect l="50000"/>
          <a:stretch>
            <a:fillRect/>
          </a:stretch>
        </p:blipFill>
        <p:spPr>
          <a:xfrm>
            <a:off x="5005524" y="1017725"/>
            <a:ext cx="3632976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5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83350" y="1881575"/>
            <a:ext cx="4186578" cy="51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5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83350" y="2802550"/>
            <a:ext cx="3632972" cy="841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1"/>
          <p:cNvSpPr txBox="1"/>
          <p:nvPr/>
        </p:nvSpPr>
        <p:spPr>
          <a:xfrm>
            <a:off x="32567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Lora"/>
                <a:ea typeface="Lora"/>
                <a:cs typeface="Lora"/>
                <a:sym typeface="Lora"/>
              </a:rPr>
              <a:t>HiFi GAN</a:t>
            </a:r>
            <a:endParaRPr sz="30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Generator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339" name="Google Shape;339;p51"/>
          <p:cNvPicPr preferRelativeResize="0"/>
          <p:nvPr/>
        </p:nvPicPr>
        <p:blipFill rotWithShape="1">
          <a:blip r:embed="rId1"/>
          <a:srcRect t="5980"/>
          <a:stretch>
            <a:fillRect/>
          </a:stretch>
        </p:blipFill>
        <p:spPr>
          <a:xfrm>
            <a:off x="152400" y="1283551"/>
            <a:ext cx="8839199" cy="279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5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624450" y="4010876"/>
            <a:ext cx="7895101" cy="84787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51"/>
          <p:cNvSpPr txBox="1"/>
          <p:nvPr/>
        </p:nvSpPr>
        <p:spPr>
          <a:xfrm>
            <a:off x="6144000" y="482040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5"/>
                </a:solidFill>
              </a:rPr>
              <a:t>https://arxiv.org/pdf/2010.05646</a:t>
            </a:r>
            <a:endParaRPr sz="9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2"/>
          <p:cNvSpPr txBox="1"/>
          <p:nvPr/>
        </p:nvSpPr>
        <p:spPr>
          <a:xfrm>
            <a:off x="311700" y="445025"/>
            <a:ext cx="8520600" cy="8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Lora"/>
                <a:ea typeface="Lora"/>
                <a:cs typeface="Lora"/>
                <a:sym typeface="Lora"/>
              </a:rPr>
              <a:t>HiFi GAN</a:t>
            </a:r>
            <a:endParaRPr sz="30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Discriminator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347" name="Google Shape;347;p5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62125" y="1292825"/>
            <a:ext cx="8670164" cy="354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3"/>
          <p:cNvSpPr txBox="1"/>
          <p:nvPr/>
        </p:nvSpPr>
        <p:spPr>
          <a:xfrm>
            <a:off x="311700" y="445025"/>
            <a:ext cx="8520600" cy="8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Lora"/>
                <a:ea typeface="Lora"/>
                <a:cs typeface="Lora"/>
                <a:sym typeface="Lora"/>
              </a:rPr>
              <a:t>HiFi GAN</a:t>
            </a:r>
            <a:endParaRPr sz="30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Criterions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353" name="Google Shape;353;p5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15150" y="1701525"/>
            <a:ext cx="6113705" cy="8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5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140738" y="2729425"/>
            <a:ext cx="4862530" cy="38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5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515163" y="3238198"/>
            <a:ext cx="6113705" cy="8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4"/>
          <p:cNvSpPr txBox="1"/>
          <p:nvPr>
            <p:ph type="title"/>
          </p:nvPr>
        </p:nvSpPr>
        <p:spPr>
          <a:xfrm>
            <a:off x="311700" y="2354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11111"/>
                </a:solidFill>
                <a:highlight>
                  <a:srgbClr val="FDFDFD"/>
                </a:highlight>
                <a:latin typeface="Lora"/>
                <a:ea typeface="Lora"/>
                <a:cs typeface="Lora"/>
                <a:sym typeface="Lora"/>
              </a:rPr>
              <a:t>Weight Normalization</a:t>
            </a:r>
            <a:endParaRPr sz="3000"/>
          </a:p>
        </p:txBody>
      </p:sp>
      <p:pic>
        <p:nvPicPr>
          <p:cNvPr id="361" name="Google Shape;361;p5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048400" y="1552025"/>
            <a:ext cx="2113100" cy="9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54"/>
          <p:cNvSpPr txBox="1"/>
          <p:nvPr/>
        </p:nvSpPr>
        <p:spPr>
          <a:xfrm>
            <a:off x="311700" y="1066300"/>
            <a:ext cx="4611000" cy="26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Lora"/>
              <a:buChar char="●"/>
            </a:pPr>
            <a:r>
              <a:rPr lang="en-US" sz="1800">
                <a:solidFill>
                  <a:srgbClr val="111111"/>
                </a:solidFill>
                <a:highlight>
                  <a:srgbClr val="FDFDFD"/>
                </a:highlight>
                <a:latin typeface="Lora"/>
                <a:ea typeface="Lora"/>
                <a:cs typeface="Lora"/>
                <a:sym typeface="Lora"/>
              </a:rPr>
              <a:t>Low-cost calculations</a:t>
            </a:r>
            <a:endParaRPr sz="1800">
              <a:solidFill>
                <a:srgbClr val="111111"/>
              </a:solidFill>
              <a:highlight>
                <a:srgbClr val="FDFDFD"/>
              </a:highlight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Lora"/>
              <a:buChar char="●"/>
            </a:pPr>
            <a:r>
              <a:rPr lang="en-US" sz="1800">
                <a:solidFill>
                  <a:srgbClr val="111111"/>
                </a:solidFill>
                <a:highlight>
                  <a:srgbClr val="FDFDFD"/>
                </a:highlight>
                <a:latin typeface="Lora"/>
                <a:ea typeface="Lora"/>
                <a:cs typeface="Lora"/>
                <a:sym typeface="Lora"/>
              </a:rPr>
              <a:t>Don’t store additional weight</a:t>
            </a:r>
            <a:endParaRPr sz="1800">
              <a:solidFill>
                <a:srgbClr val="111111"/>
              </a:solidFill>
              <a:highlight>
                <a:srgbClr val="FDFDFD"/>
              </a:highlight>
              <a:latin typeface="Lora"/>
              <a:ea typeface="Lora"/>
              <a:cs typeface="Lora"/>
              <a:sym typeface="Lora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Lora"/>
              <a:buChar char="●"/>
            </a:pPr>
            <a:r>
              <a:rPr lang="en-US" sz="1800">
                <a:solidFill>
                  <a:srgbClr val="111111"/>
                </a:solidFill>
                <a:highlight>
                  <a:srgbClr val="FDFDFD"/>
                </a:highlight>
                <a:latin typeface="Lora"/>
                <a:ea typeface="Lora"/>
                <a:cs typeface="Lora"/>
                <a:sym typeface="Lora"/>
              </a:rPr>
              <a:t>Don’t have train/test domain gap in statistics</a:t>
            </a:r>
            <a:endParaRPr sz="1800">
              <a:solidFill>
                <a:srgbClr val="111111"/>
              </a:solidFill>
              <a:highlight>
                <a:srgbClr val="FDFDFD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63" name="Google Shape;363;p54"/>
          <p:cNvSpPr txBox="1"/>
          <p:nvPr/>
        </p:nvSpPr>
        <p:spPr>
          <a:xfrm>
            <a:off x="6144000" y="474330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5"/>
                </a:solidFill>
              </a:rPr>
              <a:t>https://arxiv.org/pdf/1602.07868</a:t>
            </a:r>
            <a:endParaRPr sz="9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5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Lora"/>
                <a:ea typeface="Lora"/>
                <a:cs typeface="Lora"/>
                <a:sym typeface="Lora"/>
              </a:rPr>
              <a:t>How to Measure Quality?</a:t>
            </a:r>
            <a:endParaRPr sz="3000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69" name="Google Shape;369;p55"/>
          <p:cNvSpPr txBox="1"/>
          <p:nvPr/>
        </p:nvSpPr>
        <p:spPr>
          <a:xfrm>
            <a:off x="311700" y="1142975"/>
            <a:ext cx="3991200" cy="18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There’s no correct answer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Subjective perception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A lot of types of mistakes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6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Lora"/>
                <a:ea typeface="Lora"/>
                <a:cs typeface="Lora"/>
                <a:sym typeface="Lora"/>
              </a:rPr>
              <a:t>How to Measure Quality?</a:t>
            </a:r>
            <a:endParaRPr sz="3000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75" name="Google Shape;375;p56"/>
          <p:cNvSpPr txBox="1"/>
          <p:nvPr/>
        </p:nvSpPr>
        <p:spPr>
          <a:xfrm>
            <a:off x="311700" y="1163900"/>
            <a:ext cx="4000500" cy="19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Overall impression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Intelligibility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Similarity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Naturalness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76" name="Google Shape;376;p56"/>
          <p:cNvSpPr txBox="1"/>
          <p:nvPr/>
        </p:nvSpPr>
        <p:spPr>
          <a:xfrm>
            <a:off x="4572000" y="1163900"/>
            <a:ext cx="4000500" cy="19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-US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Pleasantness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-US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Intonation and pauses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-US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Emotions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-US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Listening effort</a:t>
            </a:r>
            <a:endParaRPr lang="en-US"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5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924025" y="1142963"/>
            <a:ext cx="3830850" cy="214585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57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Lora"/>
                <a:ea typeface="Lora"/>
                <a:cs typeface="Lora"/>
                <a:sym typeface="Lora"/>
              </a:rPr>
              <a:t>Mean Opinion Score (MOS)</a:t>
            </a:r>
            <a:endParaRPr sz="3000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383" name="Google Shape;383;p5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052025" y="3500075"/>
            <a:ext cx="3574874" cy="10883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57"/>
          <p:cNvSpPr txBox="1"/>
          <p:nvPr/>
        </p:nvSpPr>
        <p:spPr>
          <a:xfrm>
            <a:off x="311700" y="1142975"/>
            <a:ext cx="4539300" cy="18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Ask people to rate audio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Typically in the range from 1 to 5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Average scores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8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Lora"/>
                <a:ea typeface="Lora"/>
                <a:cs typeface="Lora"/>
                <a:sym typeface="Lora"/>
              </a:rPr>
              <a:t>Mean Opinion Score (MOS)</a:t>
            </a:r>
            <a:endParaRPr sz="3000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90" name="Google Shape;390;p58"/>
          <p:cNvSpPr txBox="1"/>
          <p:nvPr/>
        </p:nvSpPr>
        <p:spPr>
          <a:xfrm>
            <a:off x="311700" y="1142975"/>
            <a:ext cx="5316000" cy="18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Large variance due to human factor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Less variance more money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Hard to catch “hard” mistakes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9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MUSHRA</a:t>
            </a:r>
            <a:endParaRPr sz="30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96" name="Google Shape;396;p59"/>
          <p:cNvSpPr txBox="1"/>
          <p:nvPr/>
        </p:nvSpPr>
        <p:spPr>
          <a:xfrm>
            <a:off x="311700" y="1142975"/>
            <a:ext cx="7408200" cy="3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 b="1">
                <a:latin typeface="Lora"/>
                <a:ea typeface="Lora"/>
                <a:cs typeface="Lora"/>
                <a:sym typeface="Lora"/>
              </a:rPr>
              <a:t>MU</a:t>
            </a:r>
            <a:r>
              <a:rPr lang="en-US" sz="2000">
                <a:latin typeface="Lora"/>
                <a:ea typeface="Lora"/>
                <a:cs typeface="Lora"/>
                <a:sym typeface="Lora"/>
              </a:rPr>
              <a:t>ltiple </a:t>
            </a:r>
            <a:r>
              <a:rPr lang="en-US" sz="2000" b="1">
                <a:latin typeface="Lora"/>
                <a:ea typeface="Lora"/>
                <a:cs typeface="Lora"/>
                <a:sym typeface="Lora"/>
              </a:rPr>
              <a:t>S</a:t>
            </a:r>
            <a:r>
              <a:rPr lang="en-US" sz="2000">
                <a:latin typeface="Lora"/>
                <a:ea typeface="Lora"/>
                <a:cs typeface="Lora"/>
                <a:sym typeface="Lora"/>
              </a:rPr>
              <a:t>timuli with </a:t>
            </a:r>
            <a:r>
              <a:rPr lang="en-US" sz="2000" b="1">
                <a:latin typeface="Lora"/>
                <a:ea typeface="Lora"/>
                <a:cs typeface="Lora"/>
                <a:sym typeface="Lora"/>
              </a:rPr>
              <a:t>H</a:t>
            </a:r>
            <a:r>
              <a:rPr lang="en-US" sz="2000">
                <a:latin typeface="Lora"/>
                <a:ea typeface="Lora"/>
                <a:cs typeface="Lora"/>
                <a:sym typeface="Lora"/>
              </a:rPr>
              <a:t>idden </a:t>
            </a:r>
            <a:r>
              <a:rPr lang="en-US" sz="2000" b="1">
                <a:latin typeface="Lora"/>
                <a:ea typeface="Lora"/>
                <a:cs typeface="Lora"/>
                <a:sym typeface="Lora"/>
              </a:rPr>
              <a:t>R</a:t>
            </a:r>
            <a:r>
              <a:rPr lang="en-US" sz="2000">
                <a:latin typeface="Lora"/>
                <a:ea typeface="Lora"/>
                <a:cs typeface="Lora"/>
                <a:sym typeface="Lora"/>
              </a:rPr>
              <a:t>eference and </a:t>
            </a:r>
            <a:r>
              <a:rPr lang="en-US" sz="2000" b="1">
                <a:latin typeface="Lora"/>
                <a:ea typeface="Lora"/>
                <a:cs typeface="Lora"/>
                <a:sym typeface="Lora"/>
              </a:rPr>
              <a:t>A</a:t>
            </a:r>
            <a:r>
              <a:rPr lang="en-US" sz="2000">
                <a:latin typeface="Lora"/>
                <a:ea typeface="Lora"/>
                <a:cs typeface="Lora"/>
                <a:sym typeface="Lora"/>
              </a:rPr>
              <a:t>nchor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Explicit and hidden references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Calibration Anchors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Score </a:t>
            </a:r>
            <a:r>
              <a:rPr lang="en-US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range from 0 to 100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-US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More stable than MOS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0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Side-by-Side</a:t>
            </a:r>
            <a:endParaRPr sz="30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02" name="Google Shape;402;p60"/>
          <p:cNvSpPr txBox="1"/>
          <p:nvPr/>
        </p:nvSpPr>
        <p:spPr>
          <a:xfrm>
            <a:off x="311700" y="1142975"/>
            <a:ext cx="7408200" cy="23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Compare pair of instances and choose more “preferable”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Answer is binary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Possibly evaluate small improvements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Sensitive to “hard” mistakes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Binary metrics</a:t>
            </a:r>
            <a:endParaRPr sz="30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08" name="Google Shape;408;p61"/>
          <p:cNvSpPr txBox="1"/>
          <p:nvPr/>
        </p:nvSpPr>
        <p:spPr>
          <a:xfrm>
            <a:off x="311700" y="1142975"/>
            <a:ext cx="7408200" cy="23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Answer if provided audio meets the condition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Answer is binary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Possibly evaluate small improvements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2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Lora"/>
                <a:ea typeface="Lora"/>
                <a:cs typeface="Lora"/>
                <a:sym typeface="Lora"/>
              </a:rPr>
              <a:t>How to conduct measurements?</a:t>
            </a:r>
            <a:endParaRPr sz="3000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14" name="Google Shape;414;p62"/>
          <p:cNvSpPr txBox="1"/>
          <p:nvPr/>
        </p:nvSpPr>
        <p:spPr>
          <a:xfrm>
            <a:off x="311700" y="1142975"/>
            <a:ext cx="4539300" cy="18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Crowdsourcing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Confidence intervals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415" name="Google Shape;415;p6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257175" y="3670850"/>
            <a:ext cx="2794573" cy="115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6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559375" y="1142975"/>
            <a:ext cx="2402625" cy="240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3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Lora"/>
                <a:ea typeface="Lora"/>
                <a:cs typeface="Lora"/>
                <a:sym typeface="Lora"/>
              </a:rPr>
              <a:t>What About Public Datasets?</a:t>
            </a:r>
            <a:endParaRPr sz="3000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22" name="Google Shape;422;p63"/>
          <p:cNvSpPr txBox="1"/>
          <p:nvPr/>
        </p:nvSpPr>
        <p:spPr>
          <a:xfrm>
            <a:off x="311700" y="1142975"/>
            <a:ext cx="7408200" cy="3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solidFill>
                  <a:schemeClr val="hlink"/>
                </a:solidFill>
                <a:uFill>
                  <a:noFill/>
                </a:uFill>
                <a:latin typeface="Lora"/>
                <a:ea typeface="Lora"/>
                <a:cs typeface="Lora"/>
                <a:sym typeface="Lora"/>
                <a:hlinkClick r:id="rId1"/>
              </a:rPr>
              <a:t>LJSpeech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solidFill>
                  <a:schemeClr val="hlink"/>
                </a:solidFill>
                <a:uFill>
                  <a:noFill/>
                </a:uFill>
                <a:latin typeface="Lora"/>
                <a:ea typeface="Lora"/>
                <a:cs typeface="Lora"/>
                <a:sym typeface="Lora"/>
                <a:hlinkClick r:id="rId2"/>
              </a:rPr>
              <a:t>LibtiTTS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solidFill>
                  <a:schemeClr val="hlink"/>
                </a:solidFill>
                <a:uFill>
                  <a:noFill/>
                </a:uFill>
                <a:latin typeface="Lora"/>
                <a:ea typeface="Lora"/>
                <a:cs typeface="Lora"/>
                <a:sym typeface="Lora"/>
                <a:hlinkClick r:id="rId3"/>
              </a:rPr>
              <a:t>CommonVoice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solidFill>
                  <a:schemeClr val="hlink"/>
                </a:solidFill>
                <a:uFill>
                  <a:noFill/>
                </a:uFill>
                <a:latin typeface="Lora"/>
                <a:ea typeface="Lora"/>
                <a:cs typeface="Lora"/>
                <a:sym typeface="Lora"/>
                <a:hlinkClick r:id="rId4"/>
              </a:rPr>
              <a:t>OpenTTS</a:t>
            </a:r>
            <a:r>
              <a:rPr lang="en-US" sz="2000">
                <a:latin typeface="Lora"/>
                <a:ea typeface="Lora"/>
                <a:cs typeface="Lora"/>
                <a:sym typeface="Lora"/>
              </a:rPr>
              <a:t> (or </a:t>
            </a:r>
            <a:r>
              <a:rPr lang="en-US" sz="2000">
                <a:latin typeface="Lora"/>
                <a:ea typeface="Lora"/>
                <a:cs typeface="Lora"/>
                <a:sym typeface="Lora"/>
              </a:rPr>
              <a:t>analogs</a:t>
            </a:r>
            <a:r>
              <a:rPr lang="en-US" sz="2000">
                <a:latin typeface="Lora"/>
                <a:ea typeface="Lora"/>
                <a:cs typeface="Lora"/>
                <a:sym typeface="Lora"/>
              </a:rPr>
              <a:t>)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Custom vibes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4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Lora"/>
                <a:ea typeface="Lora"/>
                <a:cs typeface="Lora"/>
                <a:sym typeface="Lora"/>
              </a:rPr>
              <a:t>Why do we still use classical approach?</a:t>
            </a:r>
            <a:endParaRPr sz="3000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28" name="Google Shape;428;p64"/>
          <p:cNvSpPr txBox="1"/>
          <p:nvPr/>
        </p:nvSpPr>
        <p:spPr>
          <a:xfrm>
            <a:off x="311700" y="1142975"/>
            <a:ext cx="7408200" cy="3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Inference speed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Required data amount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Money</a:t>
            </a:r>
            <a:endParaRPr sz="2000">
              <a:latin typeface="Lora"/>
              <a:ea typeface="Lora"/>
              <a:cs typeface="Lora"/>
              <a:sym typeface="Lora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●"/>
            </a:pPr>
            <a:r>
              <a:rPr lang="en-US" sz="2000">
                <a:latin typeface="Lora"/>
                <a:ea typeface="Lora"/>
                <a:cs typeface="Lora"/>
                <a:sym typeface="Lora"/>
              </a:rPr>
              <a:t>Controllability</a:t>
            </a:r>
            <a:endParaRPr sz="20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4093</Words>
  <Application>WPS 演示</Application>
  <PresentationFormat/>
  <Paragraphs>276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40</vt:i4>
      </vt:variant>
    </vt:vector>
  </HeadingPairs>
  <TitlesOfParts>
    <vt:vector size="53" baseType="lpstr">
      <vt:lpstr>Arial</vt:lpstr>
      <vt:lpstr>宋体</vt:lpstr>
      <vt:lpstr>Wingdings</vt:lpstr>
      <vt:lpstr>Arial</vt:lpstr>
      <vt:lpstr>Lora</vt:lpstr>
      <vt:lpstr>微软雅黑</vt:lpstr>
      <vt:lpstr>方正雅意黑 GB18030L2</vt:lpstr>
      <vt:lpstr>宋体</vt:lpstr>
      <vt:lpstr>Arial Unicode MS</vt:lpstr>
      <vt:lpstr>汉仪书宋二KW</vt:lpstr>
      <vt:lpstr>Lora</vt:lpstr>
      <vt:lpstr>Simple Light</vt:lpstr>
      <vt:lpstr>Simple Light</vt:lpstr>
      <vt:lpstr>PowerPoint 演示文稿</vt:lpstr>
      <vt:lpstr>PowerPoint 演示文稿</vt:lpstr>
      <vt:lpstr>PowerPoint 演示文稿</vt:lpstr>
      <vt:lpstr>PowerPoint 演示文稿</vt:lpstr>
      <vt:lpstr>Text Frontend | Normalization</vt:lpstr>
      <vt:lpstr>Text Frontend | G2P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Montreal Forced Alignment</vt:lpstr>
      <vt:lpstr>PowerPoint 演示文稿</vt:lpstr>
      <vt:lpstr>What is MelSpectrogram?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Weight Normalization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York</cp:lastModifiedBy>
  <cp:revision>6</cp:revision>
  <dcterms:created xsi:type="dcterms:W3CDTF">2026-09-07T01:30:50Z</dcterms:created>
  <dcterms:modified xsi:type="dcterms:W3CDTF">2026-09-07T01:30:50Z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2052-12.1.26055.26055</vt:lpwstr>
  </property>
  <property fmtid="{D5CDD505-2E9C-101B-9397-08002B2CF9AE}" pid="3" name="ICV">
    <vt:lpwstr>A5CEA562233E455E609A9A6A6D8E983B_42</vt:lpwstr>
  </property>
</Properties>
</file>