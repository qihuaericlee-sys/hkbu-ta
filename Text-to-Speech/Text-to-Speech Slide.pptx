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17" r:id="rId6"/>
    <p:sldId id="258" r:id="rId7"/>
    <p:sldId id="260" r:id="rId8"/>
    <p:sldId id="259" r:id="rId9"/>
    <p:sldId id="261" r:id="rId10"/>
    <p:sldId id="326" r:id="rId11"/>
    <p:sldId id="319" r:id="rId12"/>
    <p:sldId id="327" r:id="rId13"/>
    <p:sldId id="321" r:id="rId14"/>
    <p:sldId id="322" r:id="rId15"/>
    <p:sldId id="267" r:id="rId16"/>
    <p:sldId id="269" r:id="rId17"/>
    <p:sldId id="323" r:id="rId18"/>
    <p:sldId id="270" r:id="rId19"/>
    <p:sldId id="271" r:id="rId20"/>
    <p:sldId id="325" r:id="rId21"/>
    <p:sldId id="272" r:id="rId22"/>
    <p:sldId id="275" r:id="rId23"/>
    <p:sldId id="276" r:id="rId24"/>
    <p:sldId id="277" r:id="rId25"/>
    <p:sldId id="329" r:id="rId26"/>
    <p:sldId id="350" r:id="rId27"/>
    <p:sldId id="279" r:id="rId28"/>
    <p:sldId id="280" r:id="rId29"/>
    <p:sldId id="330" r:id="rId30"/>
    <p:sldId id="281" r:id="rId31"/>
    <p:sldId id="282" r:id="rId32"/>
    <p:sldId id="331" r:id="rId33"/>
    <p:sldId id="284" r:id="rId34"/>
    <p:sldId id="332" r:id="rId35"/>
    <p:sldId id="333" r:id="rId36"/>
    <p:sldId id="287" r:id="rId37"/>
    <p:sldId id="334" r:id="rId38"/>
    <p:sldId id="335" r:id="rId39"/>
    <p:sldId id="336" r:id="rId40"/>
    <p:sldId id="291" r:id="rId41"/>
    <p:sldId id="292" r:id="rId42"/>
    <p:sldId id="293" r:id="rId43"/>
    <p:sldId id="337" r:id="rId44"/>
    <p:sldId id="338" r:id="rId45"/>
    <p:sldId id="295" r:id="rId46"/>
    <p:sldId id="296" r:id="rId47"/>
    <p:sldId id="340" r:id="rId48"/>
    <p:sldId id="341" r:id="rId49"/>
    <p:sldId id="342" r:id="rId50"/>
    <p:sldId id="343" r:id="rId51"/>
    <p:sldId id="344" r:id="rId52"/>
    <p:sldId id="345" r:id="rId53"/>
    <p:sldId id="346" r:id="rId54"/>
    <p:sldId id="347" r:id="rId55"/>
    <p:sldId id="348" r:id="rId56"/>
    <p:sldId id="349" r:id="rId57"/>
    <p:sldId id="302" r:id="rId58"/>
    <p:sldId id="303" r:id="rId59"/>
    <p:sldId id="304" r:id="rId60"/>
    <p:sldId id="305" r:id="rId61"/>
    <p:sldId id="306" r:id="rId62"/>
    <p:sldId id="307" r:id="rId63"/>
    <p:sldId id="315" r:id="rId6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Visual style follows the user-provided source-separation courseware.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aim is to explain the system and inspect how its mechanisms appear in code. We will trace representations from text to samples, distinguish training and inference, and compare learned alignment with supervised duration expansion. We will also connect vocoder components to losses and interpret quality tests with appropriate uncertainty. Familiarity with the STFT, convolution, attention and basic statistics provides the starting point.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Rules and finite-state transducers encode explicit language patterns and provide control, but expanding coverage requires maintenance. Sequence-to-sequence models learn written-to-spoken mappings from examples and can still make semantic errors. Hybrid systems constrain sensitive cases with rules while using learned models for broader coverage. Numbers, dates, currency, abbreviations and locale each deserve separate tests.</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Rules and finite-state transducers encode explicit language patterns and provide control, but expanding coverage requires maintenance. Sequence-to-sequence models learn written-to-spoken mappings from examples and can still make semantic errors. Hybrid systems constrain sensitive cases with rules while using learned models for broader coverage. Numbers, dates, currency, abbreviations and locale each deserve separate tests.</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Rules and finite-state transducers encode explicit language patterns and provide control, but expanding coverage requires maintenance. Sequence-to-sequence models learn written-to-spoken mappings from examples and can still make semantic errors. Hybrid systems constrain sensitive cases with rules while using learned models for broader coverage. Numbers, dates, currency, abbreviations and locale each deserve separate tests.</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These questions separate meaning errors from pronunciation errors. Consider why the same written token can be a number or date, which module handles an unfamiliar name, and whether waveform reconstruction can repair an earlier semantic mistake. Trace the first incorrect representation rather than judging only the final sound.</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Locale, domain and sentence context distinguish a date from a number. G2P resolves an unfamiliar name's pronunciation using a lexicon override or a learned fallback. A vocoder follows its acoustic conditioning and cannot recover the intended written meaning from incorrect features. Correct synthesis therefore begins with correct symbolic interpretation.</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Tacotron 2, arXiv:1712.05884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Tacotron 2, arXiv:1712.05884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source equations connect attention scoring to normalized weights and location features. The attention scorer combines a projected decoder query, location features from previous and cumulative attention weights, and projected encoder memory. A nonlinear projection produces energies with shape batch by text length. Softmax occurs later, so the excerpt supplies neither probabilities nor a hard monotonic constraint by itself. The original equation illustrations come from TTS_second slide fifteen. The exact NVIDIA source is https://github.com/NVIDIA/tacotron2/blob/185cd24e046cc1304b4f8e564734d2498c6e2e6f/model.py#L57-L63.</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Tacotron 2, arXiv:1712.05884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Tacotron 2, arXiv:1712.05884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Inference transforms the current input, predicts mel and gate outputs, and collects the alignment. The sigmoid gate threshold or maximum decoder steps terminates the loop, otherwise the predicted mel becomes the next input. The displayed condition assumes single-utterance inference and should not be copied unmodified as a general batched stop rule. The pinned NVIDIA code is https://github.com/NVIDIA/tacotron2/blob/185cd24e046cc1304b4f8e564734d2498c6e2e6f/model.py#L435-L449.</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Guided Attention, arXiv:1906.00672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Global Style Tokens, arXiv:1803.09017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Global Style Tokens, arXiv:1803.09017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Location-sensitive attention supplies position-aware features without guaranteeing monotonic alignment. In inference the generated mel frame becomes the next input after the initial GO frame. GST tokens acquire meanings through learning rather than being fixed emotion labels. These answers distinguish useful inductive biases from absolute guarantees.</a:t>
            </a: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Location-sensitive attention supplies position-aware features without guaranteeing monotonic alignment. In inference the generated mel frame becomes the next input after the initial GO frame. GST tokens acquire meanings through learning rather than being fixed emotion labels. These answers distinguish useful inductive biases from absolute guarantees.</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FastSpeech, arXiv:1905.09263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FastSpeech, arXiv:1905.09263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For one utterance, the expansion loop receives N hidden vectors and N durations, repeats each vector a nonnegative integer number of times, and concatenates the result. The output has sum-of-durations frames with unchanged hidden width. Durations here are frame counts rather than seconds. This is Chung-Ming Chien's independently maintained MIT reference implementation, not original-paper official code: https://github.com/ming024/FastSpeech2/blob/d4e79eb52e8b01d24703b2dfc0385544092958f3/model/modules.py#L182-L194.</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FastSpeech, arXiv:1905.09263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FastSpeech 2, arXiv:2006.04558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excerpt chooses target durations when provided, otherwise transforms log-duration predictions, rounds and clamps them, and passes them to the length regulator. This changes a batch of text-length states into frame-length states. A frame-level pitch embedding can then be added. The shown independent F0-style implementation should not be treated as the original paper's full pitch representation: https://github.com/ming024/FastSpeech2/blob/d4e79eb52e8b01d24703b2dfc0385544092958f3/model/modules.py#L128-L143.</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Montreal Forced Aligner, Interspeech 2017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Expand the three states using durations one, three and two, then identify where the regulator belongs relative to the variance adaptor. Finally, consider whether explicit durations can guarantee that words are never skipped. These checks address sequence length, module boundaries and the limits of controllability.</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expansion is a, b, b, b, c, c, giving six frames. The length regulator is a component inside the variance adaptor. Explicit duration control does not guarantee intelligibility: frontend mistakes, zero or incorrect durations and acoustic failures can still damage the utterance.</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WaveNet models the waveform as a product of conditional sample probabilities given previous samples and acoustic conditioning. Dilated causal convolution, gated activations, residual paths and skip connections support deep historical modeling. Original quantized outputs are categorical, although later variants can differ. Known histories permit parallel training computation, but generated histories create sequential inference. The source is original slide nineteen and https://arxiv.org/abs/1609.03499.</a:t>
            </a: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Dilation factors one, two, four and eight expand historical coverage while causality excludes future samples. For a stride-one chain, receptive field equals one plus the sum of kernel-size-minus-one multiplied by dilation at each layer. This relationship assumes the stated chain rather than arbitrary strided architectures. Correct target shifting is essential because causal padding alone does not prevent current-sample leakage. The supplied diagram is original course slide twenty.</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original equations from Classical TTS slide twenty-one compare a gate without acoustic conditioning with one that adds conditioning to both branches. The activation multiplies a tanh branch by a sigmoid branch elementwise. Each branch combines a learned projection of hidden waveform-history states x with a projection of upsampled acoustic conditioning y, denoted s elsewhere in this deck. Conditioning guides content while waveform generation remains autoregressive. The sigmoid controls learned features and should not be interpreted as a literal loudness switch.</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WaveNet, arXiv:1609.03499</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WaveNet, arXiv:1609.03499</a:t>
            </a:r>
          </a:p>
          <a:p>
            <a:r>
              <a:t>- Parallel WaveGAN, arXiv:1910.11480</a:t>
            </a:r>
          </a:p>
          <a:p>
            <a:r>
              <a:t>- MelGAN, arXiv:1910.06711</a:t>
            </a:r>
          </a:p>
          <a:p>
            <a:r>
              <a:t>- HiFi-GAN, arXiv:2010.05646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Parallel WaveGAN, arXiv:1910.11480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original illustrations from TTS_second slide forty compare STFT analysis settings and target, generated and error spectra. Short STFT windows emphasize temporal detail, while long windows improve frequency resolution. Spectral convergence normalizes the Frobenius norm of spectral error by the target norm, and log-magnitude loss averages absolute differences in log spectra. Average the two terms across resolutions to combine complementary information, including relative low-amplitude differences. Numerical clamps prevent logarithms of zero, and the analysis settings must be disclosed. The following code implements this resolution-by-resolution aggregation.</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code flattens batch and channel dimensions when needed, applies each configured STFT-loss module, and separately averages convergence and magnitude terms. Predicted and target audio produce two scalar losses, not synthesized clips at multiple resolutions. This is Tomoki Hayashi's explicitly unofficial community ParallelWaveGAN implementation under MIT: https://github.com/kan-bayashi/ParallelWaveGAN/blob/86740373ec609cb9fb192d472d2aea125041491a/parallel_wavegan/losses/stft_loss.py#L158-L170.</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MelGAN, arXiv:1910.06711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MelGAN, arXiv:1910.06711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HiFi-GAN combines temporal upsampling with multi-receptive-field residual processing. In author configuration V1, strides eight, eight, two and two multiply to two hundred and fifty-six samples per mel frame, matching the mel hop. Kernels sixteen, sixteen, four and four describe filter support rather than expansion rates. MRF combines branches with different kernel and dilation settings before the final mono projection, and other configurations differ. The figure is original slide twenty-seven, with configuration at https://github.com/jik876/hifi-gan/blob/4769534d45265d52a904b850da5a622601885777/config_v1.json.</a:t>
            </a:r>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constructor pairs each upsampling rate with its kernel size. ConvTranspose1d stride determines temporal expansion, its kernel determines filter support, and padding affects exact length, while channels shrink across stages. The rate product must match the expected samples-per-frame interface. The author MIT excerpt is https://github.com/jik876/hifi-gan/blob/4769534d45265d52a904b850da5a622601885777/models.py#L84-L96.</a:t>
            </a:r>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After each upsampling stage, several residual blocks process the same hidden features. Their outputs accumulate and divide by the number of kernels, demonstrating multi-receptive-field fusion rather than mixing separate speech clips. Final projection and tanh produce a bounded mono waveform. The author source is https://github.com/jik876/hifi-gan/blob/4769534d45265d52a904b850da5a622601885777/models.py#L100-L116.</a:t>
            </a:r>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supplied original slide twenty-eight distinguishes two analysis views. Multi-scale discriminators inspect raw and average-pooled waveforms, while multi-period discriminators fold samples into successive groups and phase positions before two-dimensional convolution. In the time-divided-by-period by period layout, columns index phase positions and rows index successive groups of consecutive samples. These complementary realism signals do not independently guarantee correct spoken text.</a:t>
            </a:r>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discriminator pads the waveform with reflection when its length is not divisible by the selected period, then reshapes it from batch by channel by time into batch by channel by groups by period. For period three, consecutive rows contain samples zero through two and three through five. Several fixed periods offer complementary views without estimating one exact pitch or requiring pitch labels. The author excerpt is https://github.com/jik876/hifi-gan/blob/4769534d45265d52a904b850da5a622601885777/models.py#L142-L156.</a:t>
            </a:r>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For one discriminator view, the least-squares objective moves real-waveform scores toward one and generated scores toward zero. The generator instead moves generated scores toward one and combines adversarial loss with weighted mel and feature-matching losses. Mel L1 compares generated and target spectral features, whereas feature matching compares intermediate discriminator activations. Here x denotes target audio and s denotes conditioning mel. These consistency signals are complementary and do not formally guarantee intelligibility.</a:t>
            </a:r>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Nested lists index discriminator views and their intermediate layers. The loss sums mean absolute differences between real and generated activations and applies this implementation's final multiplier. This compares more information than the final real-or-fake score. Real-feature detachment and discriminator update control belong to the surrounding training loop rather than being established by this function alone. The author source is https://github.com/jik876/hifi-gan/blob/4769534d45265d52a904b850da5a622601885777/models.py#L251-L257.</a:t>
            </a:r>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Weight normalization parameterizes a filter as a scale g multiplied by a normalized direction v. Unlike batch normalization, it does not use running input-batch statistics. This adds a reparameterization rather than zero extra parameters. Implementations may fold the resulting weights for inference, with removal behavior depending on the model and normalization API.</a:t>
            </a:r>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Explain why mel features do not have a unique waveform inverse and why multiplying kernel sizes does not establish expansion. Then identify the phase axis in the period-folded discriminator and explain the purpose of multiple STFT windows. Information loss, stride, tensor axes and analysis resolution provide the mechanisms behind these model names.</a:t>
            </a:r>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Mel aggregation and phase loss discard information. HiFi-GAN V1 expands by the product of its rates, yielding two hundred and fifty-six rather than the product of kernel sizes. In the period-folded layout, the period-sized column axis indexes phase while the other indexes successive groups. Short and long STFT windows emphasize time and frequency detail respectively. Units and axes are therefore central to implementation reasoning.</a:t>
            </a:r>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outline: week9 TTS 大纲.docx</a:t>
            </a:r>
          </a:p>
          <a:p>
            <a:r>
              <a:t>- User-provided reference deck and diagrams: week 9 _ Classical TTS.pptx</a:t>
            </a:r>
          </a:p>
          <a:p>
            <a:r>
              <a:t>- Tacotron 2, arXiv:1712.05884</a:t>
            </a:r>
          </a:p>
          <a:p>
            <a:r>
              <a:t>- Guided Attention, arXiv:1906.00672</a:t>
            </a:r>
          </a:p>
          <a:p>
            <a:r>
              <a:t>- Global Style Tokens, arXiv:1803.09017</a:t>
            </a:r>
          </a:p>
          <a:p>
            <a:r>
              <a:t>- FastSpeech, arXiv:1905.09263</a:t>
            </a:r>
          </a:p>
          <a:p>
            <a:r>
              <a:t>- FastSpeech 2, arXiv:2006.04558</a:t>
            </a:r>
          </a:p>
          <a:p>
            <a:r>
              <a:t>- WaveNet, arXiv:1609.03499</a:t>
            </a:r>
          </a:p>
          <a:p>
            <a:r>
              <a:t>- Parallel WaveGAN, arXiv:1910.11480</a:t>
            </a:r>
          </a:p>
          <a:p>
            <a:r>
              <a:t>- MelGAN, arXiv:1910.06711</a:t>
            </a:r>
          </a:p>
          <a:p>
            <a:r>
              <a:t>- HiFi-GAN, arXiv:2010.05646</a:t>
            </a:r>
          </a:p>
          <a:p>
            <a:r>
              <a:t>- Weight Normalization, arXiv:1602.07868</a:t>
            </a:r>
          </a:p>
          <a:p>
            <a:r>
              <a:t>- Montreal Forced Aligner, Interspeech 2017</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lassical_tts_revised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200" y="6356350"/>
            <a:ext cx="2895600" cy="365125"/>
          </a:xfrm>
        </p:spPr>
        <p:txBody>
          <a:bodyPr/>
          <a:lstStyle/>
          <a:p>
            <a:endParaRPr lang="en-US"/>
          </a:p>
        </p:txBody>
      </p:sp>
      <p:sp>
        <p:nvSpPr>
          <p:cNvPr id="4" name="Slide Number Placeholder 3"/>
          <p:cNvSpPr>
            <a:spLocks noGrp="1"/>
          </p:cNvSpPr>
          <p:nvPr>
            <p:ph type="sldNum" sz="quarter" idx="12"/>
          </p:nvPr>
        </p:nvSpPr>
        <p:spPr>
          <a:xfrm>
            <a:off x="6553200" y="6356350"/>
            <a:ext cx="2133600" cy="365125"/>
          </a:xfrm>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hyperlink" Target="http://www.speech.cs.cmu.edu/cgi-bin/cmudict&#13;"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xml"/><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image" Target="../media/image40.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5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8" name="矩形 7"/>
          <p:cNvSpPr>
            <a:spLocks noGrp="1"/>
          </p:cNvSpPr>
          <p:nvPr/>
        </p:nvSpPr>
        <p:spPr>
          <a:xfrm>
            <a:off x="0" y="0"/>
            <a:ext cx="190500" cy="6858000"/>
          </a:xfrm>
          <a:prstGeom prst="rect">
            <a:avLst/>
          </a:prstGeom>
          <a:solidFill>
            <a:srgbClr val="1E40AF"/>
          </a:solidFill>
          <a:ln w="0">
            <a:noFill/>
            <a:prstDash val="solid"/>
          </a:ln>
        </p:spPr>
      </p:sp>
      <p:sp>
        <p:nvSpPr>
          <p:cNvPr id="2" name="矩形 1"/>
          <p:cNvSpPr>
            <a:spLocks noGrp="1"/>
          </p:cNvSpPr>
          <p:nvPr/>
        </p:nvSpPr>
        <p:spPr>
          <a:xfrm>
            <a:off x="723900" y="1562100"/>
            <a:ext cx="9906000" cy="609600"/>
          </a:xfrm>
          <a:prstGeom prst="rect">
            <a:avLst/>
          </a:prstGeom>
          <a:noFill/>
          <a:ln w="0">
            <a:noFill/>
            <a:prstDash val="solid"/>
          </a:ln>
        </p:spPr>
        <p:txBody>
          <a:bodyPr wrap="square" lIns="0" tIns="0" rIns="0" bIns="0" anchor="t">
            <a:noAutofit/>
          </a:bodyPr>
          <a:lstStyle/>
          <a:p>
            <a:pPr algn="l">
              <a:lnSpc>
                <a:spcPct val="110000"/>
              </a:lnSpc>
              <a:buNone/>
              <a:defRPr sz="3450" b="1" i="0">
                <a:solidFill>
                  <a:srgbClr val="0F172A"/>
                </a:solidFill>
                <a:latin typeface="Arial" panose="020B0604020202090204"/>
                <a:ea typeface="Arial" panose="020B0604020202090204"/>
                <a:cs typeface="Arial" panose="020B0604020202090204"/>
              </a:defRPr>
            </a:pPr>
            <a:r>
              <a:rPr sz="4000" b="1" i="0">
                <a:solidFill>
                  <a:srgbClr val="0F172A"/>
                </a:solidFill>
                <a:latin typeface="Arial" panose="020B0604020202090204"/>
                <a:ea typeface="Arial" panose="020B0604020202090204"/>
                <a:cs typeface="Arial" panose="020B0604020202090204"/>
              </a:rPr>
              <a:t>TEXT</a:t>
            </a:r>
            <a:r>
              <a:rPr lang="en-US" sz="4000" b="1" i="0">
                <a:solidFill>
                  <a:srgbClr val="0F172A"/>
                </a:solidFill>
                <a:latin typeface="Arial" panose="020B0604020202090204"/>
                <a:ea typeface="Arial" panose="020B0604020202090204"/>
                <a:cs typeface="Arial" panose="020B0604020202090204"/>
              </a:rPr>
              <a:t>-</a:t>
            </a:r>
            <a:r>
              <a:rPr sz="4000" b="1" i="0">
                <a:solidFill>
                  <a:srgbClr val="0F172A"/>
                </a:solidFill>
                <a:latin typeface="Arial" panose="020B0604020202090204"/>
                <a:ea typeface="Arial" panose="020B0604020202090204"/>
                <a:cs typeface="Arial" panose="020B0604020202090204"/>
              </a:rPr>
              <a:t>TO-SPEECH</a:t>
            </a:r>
            <a:r>
              <a:rPr lang="en-US" sz="4000" b="1" i="0">
                <a:solidFill>
                  <a:srgbClr val="0F172A"/>
                </a:solidFill>
                <a:latin typeface="Arial" panose="020B0604020202090204"/>
                <a:ea typeface="Arial" panose="020B0604020202090204"/>
                <a:cs typeface="Arial" panose="020B0604020202090204"/>
              </a:rPr>
              <a:t> </a:t>
            </a:r>
            <a:endParaRPr lang="en-US" sz="4000" b="1" i="0">
              <a:solidFill>
                <a:srgbClr val="0F172A"/>
              </a:solidFill>
              <a:latin typeface="Arial" panose="020B0604020202090204"/>
              <a:ea typeface="Arial" panose="020B0604020202090204"/>
              <a:cs typeface="Arial" panose="020B0604020202090204"/>
            </a:endParaRPr>
          </a:p>
        </p:txBody>
      </p:sp>
      <p:sp>
        <p:nvSpPr>
          <p:cNvPr id="3" name="矩形 2"/>
          <p:cNvSpPr>
            <a:spLocks noGrp="1"/>
          </p:cNvSpPr>
          <p:nvPr/>
        </p:nvSpPr>
        <p:spPr>
          <a:xfrm>
            <a:off x="723900" y="2281555"/>
            <a:ext cx="9144000" cy="419100"/>
          </a:xfrm>
          <a:prstGeom prst="rect">
            <a:avLst/>
          </a:prstGeom>
          <a:noFill/>
          <a:ln w="0">
            <a:noFill/>
            <a:prstDash val="solid"/>
          </a:ln>
        </p:spPr>
        <p:txBody>
          <a:bodyPr wrap="square" lIns="0" tIns="0" rIns="0" bIns="0" anchor="t">
            <a:normAutofit/>
          </a:bodyPr>
          <a:lstStyle/>
          <a:p>
            <a:pPr algn="l">
              <a:lnSpc>
                <a:spcPct val="110000"/>
              </a:lnSpc>
              <a:buNone/>
              <a:defRPr sz="2100" b="0" i="0">
                <a:solidFill>
                  <a:srgbClr val="1E40AF"/>
                </a:solidFill>
                <a:latin typeface="Arial" panose="020B0604020202090204"/>
                <a:ea typeface="Arial" panose="020B0604020202090204"/>
                <a:cs typeface="Arial" panose="020B0604020202090204"/>
              </a:defRPr>
            </a:pPr>
            <a:r>
              <a:rPr sz="2400" b="0" i="0">
                <a:solidFill>
                  <a:srgbClr val="1E40AF"/>
                </a:solidFill>
                <a:latin typeface="Arial" panose="020B0604020202090204"/>
                <a:ea typeface="Arial" panose="020B0604020202090204"/>
                <a:cs typeface="Arial" panose="020B0604020202090204"/>
              </a:rPr>
              <a:t>Classical TTS: </a:t>
            </a:r>
            <a:r>
              <a:rPr lang="en-US" sz="2400" b="0" i="0">
                <a:solidFill>
                  <a:srgbClr val="1E40AF"/>
                </a:solidFill>
                <a:latin typeface="Arial" panose="020B0604020202090204"/>
                <a:ea typeface="Arial" panose="020B0604020202090204"/>
                <a:cs typeface="Arial" panose="020B0604020202090204"/>
              </a:rPr>
              <a:t>Text </a:t>
            </a:r>
            <a:r>
              <a:rPr sz="2400" b="0" i="0">
                <a:solidFill>
                  <a:srgbClr val="1E40AF"/>
                </a:solidFill>
                <a:latin typeface="Arial" panose="020B0604020202090204"/>
                <a:ea typeface="Arial" panose="020B0604020202090204"/>
                <a:cs typeface="Arial" panose="020B0604020202090204"/>
              </a:rPr>
              <a:t>Frontend, Acoustic Models &amp; Vocoders</a:t>
            </a:r>
            <a:endParaRPr sz="2400" b="0" i="0">
              <a:solidFill>
                <a:srgbClr val="1E40AF"/>
              </a:solidFill>
              <a:latin typeface="Arial" panose="020B0604020202090204"/>
              <a:ea typeface="Arial" panose="020B0604020202090204"/>
              <a:cs typeface="Arial" panose="020B0604020202090204"/>
            </a:endParaRPr>
          </a:p>
        </p:txBody>
      </p:sp>
      <p:sp>
        <p:nvSpPr>
          <p:cNvPr id="4" name="矩形 3"/>
          <p:cNvSpPr>
            <a:spLocks noGrp="1"/>
          </p:cNvSpPr>
          <p:nvPr/>
        </p:nvSpPr>
        <p:spPr>
          <a:xfrm>
            <a:off x="723900" y="2834005"/>
            <a:ext cx="9144000" cy="323850"/>
          </a:xfrm>
          <a:prstGeom prst="rect">
            <a:avLst/>
          </a:prstGeom>
          <a:noFill/>
          <a:ln w="0">
            <a:noFill/>
            <a:prstDash val="solid"/>
          </a:ln>
        </p:spPr>
        <p:txBody>
          <a:bodyPr wrap="square" lIns="0" tIns="0" rIns="0" bIns="0" anchor="t">
            <a:noAutofit/>
          </a:bodyPr>
          <a:lstStyle/>
          <a:p>
            <a:pPr algn="l">
              <a:lnSpc>
                <a:spcPct val="110000"/>
              </a:lnSpc>
              <a:buNone/>
              <a:defRPr sz="1650" b="0" i="0">
                <a:solidFill>
                  <a:srgbClr val="334155"/>
                </a:solidFill>
                <a:latin typeface="Arial" panose="020B0604020202090204"/>
                <a:ea typeface="Arial" panose="020B0604020202090204"/>
                <a:cs typeface="Arial" panose="020B0604020202090204"/>
              </a:defRPr>
            </a:pPr>
            <a:r>
              <a:rPr sz="2000" b="0" i="0">
                <a:solidFill>
                  <a:srgbClr val="334155"/>
                </a:solidFill>
                <a:latin typeface="Arial" panose="020B0604020202090204"/>
                <a:ea typeface="Arial" panose="020B0604020202090204"/>
                <a:cs typeface="Arial" panose="020B0604020202090204"/>
              </a:rPr>
              <a:t>From text normalization to perceptual evaluation</a:t>
            </a:r>
            <a:endParaRPr sz="2000" b="0" i="0">
              <a:solidFill>
                <a:srgbClr val="334155"/>
              </a:solidFill>
              <a:latin typeface="Arial" panose="020B0604020202090204"/>
              <a:ea typeface="Arial" panose="020B0604020202090204"/>
              <a:cs typeface="Arial" panose="020B0604020202090204"/>
            </a:endParaRPr>
          </a:p>
        </p:txBody>
      </p:sp>
      <p:sp>
        <p:nvSpPr>
          <p:cNvPr id="5" name="矩形 4"/>
          <p:cNvSpPr>
            <a:spLocks noGrp="1"/>
          </p:cNvSpPr>
          <p:nvPr/>
        </p:nvSpPr>
        <p:spPr>
          <a:xfrm>
            <a:off x="723900" y="5619750"/>
            <a:ext cx="5334000" cy="266700"/>
          </a:xfrm>
          <a:prstGeom prst="rect">
            <a:avLst/>
          </a:prstGeom>
          <a:noFill/>
          <a:ln w="0">
            <a:noFill/>
            <a:prstDash val="solid"/>
          </a:ln>
        </p:spPr>
        <p:txBody>
          <a:bodyPr wrap="square" lIns="0" tIns="0" rIns="0" bIns="0" anchor="t">
            <a:normAutofit/>
          </a:bodyPr>
          <a:lstStyle/>
          <a:p>
            <a:pPr algn="l">
              <a:lnSpc>
                <a:spcPct val="110000"/>
              </a:lnSpc>
              <a:buNone/>
              <a:defRPr sz="1350" b="0" i="0">
                <a:solidFill>
                  <a:srgbClr val="64748B"/>
                </a:solidFill>
                <a:latin typeface="Arial" panose="020B0604020202090204"/>
                <a:ea typeface="Arial" panose="020B0604020202090204"/>
                <a:cs typeface="Arial" panose="020B0604020202090204"/>
              </a:defRPr>
            </a:pPr>
            <a:r>
              <a:rPr lang="en-US" sz="1350" b="0" i="0">
                <a:solidFill>
                  <a:srgbClr val="64748B"/>
                </a:solidFill>
                <a:latin typeface="Arial" panose="020B0604020202090204"/>
                <a:ea typeface="Arial" panose="020B0604020202090204"/>
                <a:cs typeface="Arial" panose="020B0604020202090204"/>
              </a:rPr>
              <a:t>COMP 4147/ COMP 7135 Audio &amp; Speech Processing</a:t>
            </a:r>
            <a:endParaRPr lang="en-US" sz="1350" b="0" i="0">
              <a:solidFill>
                <a:srgbClr val="64748B"/>
              </a:solidFill>
              <a:latin typeface="Arial" panose="020B0604020202090204"/>
              <a:ea typeface="Arial" panose="020B0604020202090204"/>
              <a:cs typeface="Arial" panose="020B0604020202090204"/>
            </a:endParaRPr>
          </a:p>
        </p:txBody>
      </p:sp>
      <p:sp>
        <p:nvSpPr>
          <p:cNvPr id="6" name="矩形 5"/>
          <p:cNvSpPr>
            <a:spLocks noGrp="1"/>
          </p:cNvSpPr>
          <p:nvPr/>
        </p:nvSpPr>
        <p:spPr>
          <a:xfrm>
            <a:off x="723900" y="5905500"/>
            <a:ext cx="5334000" cy="266700"/>
          </a:xfrm>
          <a:prstGeom prst="rect">
            <a:avLst/>
          </a:prstGeom>
          <a:noFill/>
          <a:ln w="0">
            <a:noFill/>
            <a:prstDash val="solid"/>
          </a:ln>
        </p:spPr>
        <p:txBody>
          <a:bodyPr wrap="square" lIns="0" tIns="0" rIns="0" bIns="0" anchor="t">
            <a:normAutofit/>
          </a:bodyPr>
          <a:lstStyle/>
          <a:p>
            <a:pPr algn="l">
              <a:lnSpc>
                <a:spcPct val="110000"/>
              </a:lnSpc>
              <a:buNone/>
              <a:defRPr sz="1350" b="0" i="0">
                <a:solidFill>
                  <a:srgbClr val="64748B"/>
                </a:solidFill>
                <a:latin typeface="Arial" panose="020B0604020202090204"/>
                <a:ea typeface="Arial" panose="020B0604020202090204"/>
                <a:cs typeface="Arial" panose="020B0604020202090204"/>
              </a:defRPr>
            </a:pPr>
            <a:r>
              <a:rPr lang="en-US" sz="1350" b="0" i="0">
                <a:solidFill>
                  <a:srgbClr val="64748B"/>
                </a:solidFill>
                <a:latin typeface="Arial" panose="020B0604020202090204"/>
                <a:ea typeface="Arial" panose="020B0604020202090204"/>
                <a:cs typeface="Arial" panose="020B0604020202090204"/>
              </a:rPr>
              <a:t>Hong Kong Baptist University</a:t>
            </a:r>
            <a:endParaRPr lang="en-US" sz="1350" b="0" i="0">
              <a:solidFill>
                <a:srgbClr val="64748B"/>
              </a:solidFill>
              <a:latin typeface="Arial" panose="020B0604020202090204"/>
              <a:ea typeface="Arial" panose="020B0604020202090204"/>
              <a:cs typeface="Arial" panose="020B0604020202090204"/>
            </a:endParaRPr>
          </a:p>
        </p:txBody>
      </p:sp>
      <p:sp>
        <p:nvSpPr>
          <p:cNvPr id="7" name="矩形 6"/>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3200" b="1" i="0">
                <a:solidFill>
                  <a:srgbClr val="0F172A"/>
                </a:solidFill>
                <a:latin typeface="Arial" panose="020B0604020202090204"/>
                <a:ea typeface="Arial" panose="020B0604020202090204"/>
                <a:cs typeface="Arial" panose="020B0604020202090204"/>
              </a:rPr>
              <a:t>Course </a:t>
            </a:r>
            <a:r>
              <a:rPr lang="en-US" sz="3200" b="1" i="0">
                <a:solidFill>
                  <a:srgbClr val="0F172A"/>
                </a:solidFill>
                <a:latin typeface="Arial" panose="020B0604020202090204"/>
                <a:ea typeface="Arial" panose="020B0604020202090204"/>
                <a:cs typeface="Arial" panose="020B0604020202090204"/>
              </a:rPr>
              <a:t>Overview</a:t>
            </a:r>
            <a:endParaRPr lang="en-US"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圆角矩形 4"/>
          <p:cNvSpPr>
            <a:spLocks noGrp="1"/>
          </p:cNvSpPr>
          <p:nvPr/>
        </p:nvSpPr>
        <p:spPr>
          <a:xfrm>
            <a:off x="571500" y="1333500"/>
            <a:ext cx="5143500" cy="4662170"/>
          </a:xfrm>
          <a:prstGeom prst="roundRect">
            <a:avLst>
              <a:gd name="adj" fmla="val 1860"/>
            </a:avLst>
          </a:prstGeom>
          <a:solidFill>
            <a:srgbClr val="F8FAFC"/>
          </a:solidFill>
          <a:ln w="9525">
            <a:solidFill>
              <a:srgbClr val="CBD5E1"/>
            </a:solidFill>
            <a:prstDash val="solid"/>
          </a:ln>
        </p:spPr>
      </p:sp>
      <p:sp>
        <p:nvSpPr>
          <p:cNvPr id="6" name="圆角矩形 5"/>
          <p:cNvSpPr>
            <a:spLocks noGrp="1"/>
          </p:cNvSpPr>
          <p:nvPr/>
        </p:nvSpPr>
        <p:spPr>
          <a:xfrm>
            <a:off x="6096000" y="1333500"/>
            <a:ext cx="5524500" cy="4651375"/>
          </a:xfrm>
          <a:prstGeom prst="roundRect">
            <a:avLst>
              <a:gd name="adj" fmla="val 1860"/>
            </a:avLst>
          </a:prstGeom>
          <a:solidFill>
            <a:srgbClr val="F8FAFC"/>
          </a:solidFill>
          <a:ln w="9525">
            <a:solidFill>
              <a:srgbClr val="CBD5E1"/>
            </a:solidFill>
            <a:prstDash val="solid"/>
          </a:ln>
        </p:spPr>
      </p:sp>
      <p:sp>
        <p:nvSpPr>
          <p:cNvPr id="7" name="矩形 6"/>
          <p:cNvSpPr>
            <a:spLocks noGrp="1"/>
          </p:cNvSpPr>
          <p:nvPr/>
        </p:nvSpPr>
        <p:spPr>
          <a:xfrm>
            <a:off x="767715" y="1557020"/>
            <a:ext cx="4286250" cy="323850"/>
          </a:xfrm>
          <a:prstGeom prst="rect">
            <a:avLst/>
          </a:prstGeom>
          <a:noFill/>
          <a:ln w="0">
            <a:noFill/>
            <a:prstDash val="solid"/>
          </a:ln>
        </p:spPr>
        <p:txBody>
          <a:bodyPr wrap="square" lIns="0" tIns="0" rIns="0" bIns="0" anchor="t">
            <a:noAutofit/>
          </a:bodyPr>
          <a:lstStyle/>
          <a:p>
            <a:pPr algn="ctr">
              <a:lnSpc>
                <a:spcPct val="110000"/>
              </a:lnSpc>
              <a:buNone/>
              <a:defRPr sz="1650" b="1" i="0">
                <a:solidFill>
                  <a:srgbClr val="1E40AF"/>
                </a:solidFill>
                <a:latin typeface="Arial" panose="020B0604020202090204"/>
                <a:ea typeface="Arial" panose="020B0604020202090204"/>
                <a:cs typeface="Arial" panose="020B0604020202090204"/>
              </a:defRPr>
            </a:pPr>
            <a:r>
              <a:rPr sz="2400" b="1" i="0">
                <a:solidFill>
                  <a:srgbClr val="1E40AF"/>
                </a:solidFill>
                <a:latin typeface="Arial" panose="020B0604020202090204"/>
                <a:ea typeface="Arial" panose="020B0604020202090204"/>
                <a:cs typeface="Arial" panose="020B0604020202090204"/>
              </a:rPr>
              <a:t>Part A · The TTS pipeline</a:t>
            </a:r>
            <a:endParaRPr sz="2400" b="1" i="0">
              <a:solidFill>
                <a:srgbClr val="1E40AF"/>
              </a:solidFill>
              <a:latin typeface="Arial" panose="020B0604020202090204"/>
              <a:ea typeface="Arial" panose="020B0604020202090204"/>
              <a:cs typeface="Arial" panose="020B0604020202090204"/>
            </a:endParaRPr>
          </a:p>
        </p:txBody>
      </p:sp>
      <p:sp>
        <p:nvSpPr>
          <p:cNvPr id="8" name="矩形 7"/>
          <p:cNvSpPr>
            <a:spLocks noGrp="1"/>
          </p:cNvSpPr>
          <p:nvPr/>
        </p:nvSpPr>
        <p:spPr>
          <a:xfrm>
            <a:off x="767715" y="2493645"/>
            <a:ext cx="4691380" cy="323342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Text normalization </a:t>
            </a:r>
            <a:r>
              <a:rPr lang="en-US" sz="1600" b="0" i="0">
                <a:solidFill>
                  <a:srgbClr val="334155"/>
                </a:solidFill>
                <a:latin typeface="Arial" panose="020B0604020202090204"/>
                <a:ea typeface="Arial" panose="020B0604020202090204"/>
                <a:cs typeface="Arial" panose="020B0604020202090204"/>
              </a:rPr>
              <a:t>&amp;</a:t>
            </a:r>
            <a:r>
              <a:rPr sz="1600" b="0" i="0">
                <a:solidFill>
                  <a:srgbClr val="334155"/>
                </a:solidFill>
                <a:latin typeface="Arial" panose="020B0604020202090204"/>
                <a:ea typeface="Arial" panose="020B0604020202090204"/>
                <a:cs typeface="Arial" panose="020B0604020202090204"/>
              </a:rPr>
              <a:t> G2P</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Acoustic models</a:t>
            </a:r>
            <a:r>
              <a:rPr lang="en-US" sz="1600" b="0" i="0">
                <a:solidFill>
                  <a:srgbClr val="334155"/>
                </a:solidFill>
                <a:latin typeface="Arial" panose="020B0604020202090204"/>
                <a:ea typeface="Arial" panose="020B0604020202090204"/>
                <a:cs typeface="Arial" panose="020B0604020202090204"/>
              </a:rPr>
              <a:t> (</a:t>
            </a:r>
            <a:r>
              <a:rPr sz="1600" b="0" i="0">
                <a:solidFill>
                  <a:srgbClr val="334155"/>
                </a:solidFill>
                <a:latin typeface="Arial" panose="020B0604020202090204"/>
                <a:ea typeface="Arial" panose="020B0604020202090204"/>
                <a:cs typeface="Arial" panose="020B0604020202090204"/>
              </a:rPr>
              <a:t>Tacotron 2 </a:t>
            </a:r>
            <a:r>
              <a:rPr lang="en-US" sz="1600" b="0" i="0">
                <a:solidFill>
                  <a:srgbClr val="334155"/>
                </a:solidFill>
                <a:latin typeface="Arial" panose="020B0604020202090204"/>
                <a:ea typeface="Arial" panose="020B0604020202090204"/>
                <a:cs typeface="Arial" panose="020B0604020202090204"/>
              </a:rPr>
              <a:t>&amp;</a:t>
            </a:r>
            <a:r>
              <a:rPr sz="1600" b="0" i="0">
                <a:solidFill>
                  <a:srgbClr val="334155"/>
                </a:solidFill>
                <a:latin typeface="Arial" panose="020B0604020202090204"/>
                <a:ea typeface="Arial" panose="020B0604020202090204"/>
                <a:cs typeface="Arial" panose="020B0604020202090204"/>
              </a:rPr>
              <a:t> FastSpeech</a:t>
            </a:r>
            <a:r>
              <a:rPr lang="en-US" sz="1600" b="0" i="0">
                <a:solidFill>
                  <a:srgbClr val="334155"/>
                </a:solidFill>
                <a:latin typeface="Arial" panose="020B0604020202090204"/>
                <a:ea typeface="Arial" panose="020B0604020202090204"/>
                <a:cs typeface="Arial" panose="020B0604020202090204"/>
              </a:rPr>
              <a:t>)</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Prosody, style</a:t>
            </a:r>
            <a:r>
              <a:rPr lang="en-US" sz="1600" b="0" i="0">
                <a:solidFill>
                  <a:srgbClr val="334155"/>
                </a:solidFill>
                <a:latin typeface="Arial" panose="020B0604020202090204"/>
                <a:ea typeface="Arial" panose="020B0604020202090204"/>
                <a:cs typeface="Arial" panose="020B0604020202090204"/>
              </a:rPr>
              <a:t> &amp;</a:t>
            </a:r>
            <a:r>
              <a:rPr sz="1600" b="0" i="0">
                <a:solidFill>
                  <a:srgbClr val="334155"/>
                </a:solidFill>
                <a:latin typeface="Arial" panose="020B0604020202090204"/>
                <a:ea typeface="Arial" panose="020B0604020202090204"/>
                <a:cs typeface="Arial" panose="020B0604020202090204"/>
              </a:rPr>
              <a:t> speaker conditioning</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Alignment </a:t>
            </a:r>
            <a:r>
              <a:rPr lang="en-US" sz="1600" b="0" i="0">
                <a:solidFill>
                  <a:srgbClr val="334155"/>
                </a:solidFill>
                <a:latin typeface="Arial" panose="020B0604020202090204"/>
                <a:ea typeface="Arial" panose="020B0604020202090204"/>
                <a:cs typeface="Arial" panose="020B0604020202090204"/>
              </a:rPr>
              <a:t>mechanisms &amp; Duration modeling</a:t>
            </a: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ym typeface="+mn-ea"/>
              </a:rPr>
              <a:t>• </a:t>
            </a:r>
            <a:r>
              <a:rPr lang="en-US" sz="1600" b="0" i="0">
                <a:solidFill>
                  <a:srgbClr val="334155"/>
                </a:solidFill>
                <a:latin typeface="Arial" panose="020B0604020202090204"/>
                <a:ea typeface="Arial" panose="020B0604020202090204"/>
                <a:cs typeface="Arial" panose="020B0604020202090204"/>
              </a:rPr>
              <a:t>Intermediate representations </a:t>
            </a: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0" i="0">
                <a:solidFill>
                  <a:srgbClr val="334155"/>
                </a:solidFill>
                <a:latin typeface="Arial" panose="020B0604020202090204"/>
                <a:ea typeface="Arial" panose="020B0604020202090204"/>
                <a:cs typeface="Arial" panose="020B0604020202090204"/>
              </a:rPr>
              <a:t>(Mel-spectrograms)</a:t>
            </a:r>
            <a:endParaRPr lang="en-US" sz="1600" b="0" i="0">
              <a:solidFill>
                <a:srgbClr val="334155"/>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167755" y="1556385"/>
            <a:ext cx="5329555" cy="570230"/>
          </a:xfrm>
          <a:prstGeom prst="rect">
            <a:avLst/>
          </a:prstGeom>
          <a:noFill/>
          <a:ln w="0">
            <a:noFill/>
            <a:prstDash val="solid"/>
          </a:ln>
        </p:spPr>
        <p:txBody>
          <a:bodyPr wrap="square" lIns="0" tIns="0" rIns="0" bIns="0" anchor="t">
            <a:noAutofit/>
          </a:bodyPr>
          <a:lstStyle/>
          <a:p>
            <a:pPr algn="ctr">
              <a:lnSpc>
                <a:spcPct val="110000"/>
              </a:lnSpc>
              <a:buNone/>
              <a:defRPr sz="1650" b="1" i="0">
                <a:solidFill>
                  <a:srgbClr val="059669"/>
                </a:solidFill>
                <a:latin typeface="Arial" panose="020B0604020202090204"/>
                <a:ea typeface="Arial" panose="020B0604020202090204"/>
                <a:cs typeface="Arial" panose="020B0604020202090204"/>
              </a:defRPr>
            </a:pPr>
            <a:r>
              <a:rPr sz="2400" b="1" i="0">
                <a:solidFill>
                  <a:srgbClr val="059669"/>
                </a:solidFill>
                <a:latin typeface="Arial" panose="020B0604020202090204"/>
                <a:ea typeface="Arial" panose="020B0604020202090204"/>
                <a:cs typeface="Arial" panose="020B0604020202090204"/>
              </a:rPr>
              <a:t>Part B · The vocoder </a:t>
            </a:r>
            <a:r>
              <a:rPr lang="en-US" sz="2400" b="1" i="0">
                <a:solidFill>
                  <a:srgbClr val="059669"/>
                </a:solidFill>
                <a:latin typeface="Arial" panose="020B0604020202090204"/>
                <a:ea typeface="Arial" panose="020B0604020202090204"/>
                <a:cs typeface="Arial" panose="020B0604020202090204"/>
              </a:rPr>
              <a:t>&amp;</a:t>
            </a:r>
            <a:r>
              <a:rPr sz="2400" b="1" i="0">
                <a:solidFill>
                  <a:srgbClr val="059669"/>
                </a:solidFill>
                <a:latin typeface="Arial" panose="020B0604020202090204"/>
                <a:ea typeface="Arial" panose="020B0604020202090204"/>
                <a:cs typeface="Arial" panose="020B0604020202090204"/>
              </a:rPr>
              <a:t> evaluation</a:t>
            </a:r>
            <a:endParaRPr sz="2400" b="1" i="0">
              <a:solidFill>
                <a:srgbClr val="05966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311900" y="2492375"/>
            <a:ext cx="4852035" cy="311785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lang="en-US" sz="1600" b="0" i="0">
                <a:solidFill>
                  <a:srgbClr val="334155"/>
                </a:solidFill>
                <a:latin typeface="Arial" panose="020B0604020202090204"/>
                <a:ea typeface="Arial" panose="020B0604020202090204"/>
                <a:cs typeface="Arial" panose="020B0604020202090204"/>
              </a:rPr>
              <a:t>Neural vocoders (</a:t>
            </a:r>
            <a:r>
              <a:rPr sz="1600">
                <a:sym typeface="+mn-ea"/>
              </a:rPr>
              <a:t>WaveNet</a:t>
            </a:r>
            <a:r>
              <a:rPr lang="en-US" sz="1600">
                <a:sym typeface="+mn-ea"/>
              </a:rPr>
              <a:t> </a:t>
            </a:r>
            <a:r>
              <a:rPr sz="1600">
                <a:sym typeface="+mn-ea"/>
              </a:rPr>
              <a:t> → </a:t>
            </a:r>
            <a:r>
              <a:rPr lang="en-US" sz="1600">
                <a:sym typeface="+mn-ea"/>
              </a:rPr>
              <a:t> </a:t>
            </a:r>
            <a:r>
              <a:rPr sz="1600">
                <a:sym typeface="+mn-ea"/>
              </a:rPr>
              <a:t>Parallel WaveGAN → MelGAN → HiFi-GAN</a:t>
            </a:r>
            <a:r>
              <a:rPr lang="en-US" sz="1600" b="0" i="0">
                <a:solidFill>
                  <a:srgbClr val="334155"/>
                </a:solidFill>
                <a:latin typeface="Arial" panose="020B0604020202090204"/>
                <a:ea typeface="Arial" panose="020B0604020202090204"/>
                <a:cs typeface="Arial" panose="020B0604020202090204"/>
              </a:rPr>
              <a:t>)</a:t>
            </a: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lang="en-US" sz="1600" b="0" i="0">
                <a:solidFill>
                  <a:srgbClr val="334155"/>
                </a:solidFill>
                <a:latin typeface="Arial" panose="020B0604020202090204"/>
                <a:ea typeface="Arial" panose="020B0604020202090204"/>
                <a:cs typeface="Arial" panose="020B0604020202090204"/>
              </a:rPr>
              <a:t>Waveform synthesis from spectral features</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lang="en-US" sz="1600" b="0" i="0">
                <a:solidFill>
                  <a:srgbClr val="334155"/>
                </a:solidFill>
                <a:latin typeface="Arial" panose="020B0604020202090204"/>
                <a:ea typeface="Arial" panose="020B0604020202090204"/>
                <a:cs typeface="Arial" panose="020B0604020202090204"/>
              </a:rPr>
              <a:t>Subjective evaluation </a:t>
            </a: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0" i="0">
                <a:solidFill>
                  <a:srgbClr val="334155"/>
                </a:solidFill>
                <a:latin typeface="Arial" panose="020B0604020202090204"/>
                <a:ea typeface="Arial" panose="020B0604020202090204"/>
                <a:cs typeface="Arial" panose="020B0604020202090204"/>
              </a:rPr>
              <a:t>(</a:t>
            </a:r>
            <a:r>
              <a:rPr sz="1600" b="0" i="0">
                <a:solidFill>
                  <a:srgbClr val="334155"/>
                </a:solidFill>
                <a:latin typeface="Arial" panose="020B0604020202090204"/>
                <a:ea typeface="Arial" panose="020B0604020202090204"/>
                <a:cs typeface="Arial" panose="020B0604020202090204"/>
              </a:rPr>
              <a:t>MOS, MUSHRA, preference tests</a:t>
            </a:r>
            <a:r>
              <a:rPr lang="en-US" sz="1600" b="0" i="0">
                <a:solidFill>
                  <a:srgbClr val="334155"/>
                </a:solidFill>
                <a:latin typeface="Arial" panose="020B0604020202090204"/>
                <a:ea typeface="Arial" panose="020B0604020202090204"/>
                <a:cs typeface="Arial" panose="020B0604020202090204"/>
              </a:rPr>
              <a:t>)</a:t>
            </a: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ym typeface="+mn-ea"/>
              </a:rPr>
              <a:t>• </a:t>
            </a:r>
            <a:r>
              <a:rPr lang="en-US" sz="1600">
                <a:sym typeface="+mn-ea"/>
              </a:rPr>
              <a:t>Objective metrics (Confidence intervals)</a:t>
            </a:r>
            <a:endParaRPr lang="en-US" sz="1600" b="0" i="0">
              <a:solidFill>
                <a:srgbClr val="334155"/>
              </a:solidFill>
              <a:latin typeface="Arial" panose="020B0604020202090204"/>
              <a:ea typeface="Arial" panose="020B0604020202090204"/>
              <a:cs typeface="Arial" panose="020B0604020202090204"/>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932307"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COURSE MAP          </a:t>
            </a:r>
            <a:endParaRPr lang="en-US" sz="750" dirty="0">
              <a:solidFill>
                <a:srgbClr val="64748B"/>
              </a:solidFill>
              <a:latin typeface="+mn-lt"/>
              <a:ea typeface="+mn-ea"/>
              <a:cs typeface="+mn-cs"/>
            </a:endParaRPr>
          </a:p>
        </p:txBody>
      </p:sp>
      <p:sp>
        <p:nvSpPr>
          <p:cNvPr id="3" name="TextBox 3"/>
          <p:cNvSpPr txBox="1"/>
          <p:nvPr/>
        </p:nvSpPr>
        <p:spPr>
          <a:xfrm>
            <a:off x="407670" y="548640"/>
            <a:ext cx="3935095" cy="658495"/>
          </a:xfrm>
          <a:prstGeom prst="rect">
            <a:avLst/>
          </a:prstGeom>
          <a:noFill/>
          <a:ln>
            <a:noFill/>
          </a:ln>
        </p:spPr>
        <p:txBody>
          <a:bodyPr wrap="none" lIns="0" tIns="0" rIns="0" bIns="0" anchor="t" anchorCtr="0">
            <a:noAutofit/>
          </a:bodyPr>
          <a:lstStyle/>
          <a:p>
            <a:pPr algn="l"/>
            <a:r>
              <a:rPr sz="3200" b="1">
                <a:solidFill>
                  <a:srgbClr val="0F172A"/>
                </a:solidFill>
                <a:latin typeface="Arial" panose="020B0604020202090204"/>
                <a:ea typeface="Arial" panose="020B0604020202090204"/>
                <a:cs typeface="Arial" panose="020B0604020202090204"/>
              </a:rPr>
              <a:t>Learning objectives</a:t>
            </a:r>
            <a:endParaRPr sz="3200" b="1">
              <a:solidFill>
                <a:srgbClr val="0F172A"/>
              </a:solidFill>
              <a:latin typeface="Arial" panose="020B0604020202090204"/>
              <a:ea typeface="Arial" panose="020B0604020202090204"/>
              <a:cs typeface="Arial" panose="020B0604020202090204"/>
            </a:endParaRPr>
          </a:p>
        </p:txBody>
      </p:sp>
      <p:sp>
        <p:nvSpPr>
          <p:cNvPr id="6" name="TextBox 6"/>
          <p:cNvSpPr txBox="1"/>
          <p:nvPr/>
        </p:nvSpPr>
        <p:spPr>
          <a:xfrm>
            <a:off x="335280" y="1976120"/>
            <a:ext cx="84518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dirty="0">
                <a:solidFill>
                  <a:schemeClr val="dk1"/>
                </a:solidFill>
                <a:latin typeface="Arial" panose="020B0604020202090204" pitchFamily="34" charset="0"/>
                <a:ea typeface="+mn-ea"/>
                <a:cs typeface="Arial" panose="020B0604020202090204" pitchFamily="34" charset="0"/>
              </a:rPr>
              <a:t>Trace the full TTS pipeline from text normalization down to waveform generation.</a:t>
            </a:r>
            <a:endParaRPr lang="en-US"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335280" y="2595245"/>
            <a:ext cx="91122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dirty="0">
                <a:solidFill>
                  <a:schemeClr val="dk1"/>
                </a:solidFill>
                <a:latin typeface="Arial" panose="020B0604020202090204" pitchFamily="34" charset="0"/>
                <a:ea typeface="+mn-ea"/>
                <a:cs typeface="Arial" panose="020B0604020202090204" pitchFamily="34" charset="0"/>
              </a:rPr>
              <a:t>Distinguish training vs. inference modes and implicit vs. explicit alignment mechanisms.</a:t>
            </a:r>
            <a:endParaRPr lang="en-US" dirty="0">
              <a:solidFill>
                <a:schemeClr val="dk1"/>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335280" y="3214370"/>
            <a:ext cx="91630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dirty="0">
                <a:solidFill>
                  <a:schemeClr val="dk1"/>
                </a:solidFill>
                <a:latin typeface="Arial" panose="020B0604020202090204" pitchFamily="34" charset="0"/>
                <a:ea typeface="+mn-ea"/>
                <a:cs typeface="Arial" panose="020B0604020202090204" pitchFamily="34" charset="0"/>
              </a:rPr>
              <a:t>Connect acoustic model &amp; neural-vocoder architectures to their repective loss functions.</a:t>
            </a:r>
            <a:endParaRPr lang="en-US" dirty="0">
              <a:solidFill>
                <a:schemeClr val="dk1"/>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335280" y="3833495"/>
            <a:ext cx="107759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dirty="0">
                <a:solidFill>
                  <a:schemeClr val="dk1"/>
                </a:solidFill>
                <a:latin typeface="Arial" panose="020B0604020202090204" pitchFamily="34" charset="0"/>
                <a:ea typeface="+mn-ea"/>
                <a:cs typeface="Arial" panose="020B0604020202090204" pitchFamily="34" charset="0"/>
              </a:rPr>
              <a:t>Select speech quality evaluation methods (MOS/MUSHRA) and interpret statistical confidence intervals.</a:t>
            </a:r>
            <a:endParaRPr lang="en-US" dirty="0">
              <a:solidFill>
                <a:schemeClr val="dk1"/>
              </a:solidFill>
              <a:latin typeface="Arial" panose="020B0604020202090204" pitchFamily="34" charset="0"/>
              <a:ea typeface="+mn-ea"/>
              <a:cs typeface="Arial" panose="020B0604020202090204" pitchFamily="34" charset="0"/>
            </a:endParaRPr>
          </a:p>
        </p:txBody>
      </p:sp>
      <p:sp>
        <p:nvSpPr>
          <p:cNvPr id="10" name="TextBox 10"/>
          <p:cNvSpPr txBox="1"/>
          <p:nvPr/>
        </p:nvSpPr>
        <p:spPr>
          <a:xfrm>
            <a:off x="507873" y="5733574"/>
            <a:ext cx="4906645" cy="215265"/>
          </a:xfrm>
          <a:prstGeom prst="rect">
            <a:avLst/>
          </a:prstGeom>
          <a:noFill/>
          <a:ln>
            <a:noFill/>
          </a:ln>
        </p:spPr>
        <p:txBody>
          <a:bodyPr wrap="none" lIns="0" tIns="0" rIns="0" bIns="0" anchor="t" anchorCtr="0">
            <a:spAutoFit/>
          </a:bodyPr>
          <a:lstStyle/>
          <a:p>
            <a:pPr algn="l"/>
            <a:r>
              <a:rPr lang="en-US" sz="1400" i="1" dirty="0">
                <a:solidFill>
                  <a:srgbClr val="64748B"/>
                </a:solidFill>
                <a:latin typeface="Arial" panose="020B0604020202090204" pitchFamily="34" charset="0"/>
                <a:ea typeface="+mn-ea"/>
                <a:cs typeface="Arial" panose="020B0604020202090204" pitchFamily="34" charset="0"/>
              </a:rPr>
              <a:t>Prerequisites: STFT, convolution, attention and basic statistics</a:t>
            </a:r>
            <a:endParaRPr lang="en-US" sz="1400" i="1" dirty="0">
              <a:solidFill>
                <a:srgbClr val="64748B"/>
              </a:solidFill>
              <a:latin typeface="Arial" panose="020B0604020202090204" pitchFamily="34" charset="0"/>
              <a:ea typeface="+mn-ea"/>
              <a:cs typeface="Arial" panose="020B0604020202090204" pitchFamily="34" charset="0"/>
            </a:endParaRPr>
          </a:p>
        </p:txBody>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479425" y="332740"/>
            <a:ext cx="11125200" cy="476250"/>
          </a:xfrm>
          <a:prstGeom prst="rect">
            <a:avLst/>
          </a:prstGeom>
          <a:noFill/>
          <a:ln w="0">
            <a:noFill/>
            <a:prstDash val="solid"/>
          </a:ln>
        </p:spPr>
        <p:txBody>
          <a:bodyPr wrap="square" lIns="0" tIns="0" rIns="0" bIns="0" anchor="t">
            <a:no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3200" b="1" i="0">
                <a:solidFill>
                  <a:srgbClr val="0F172A"/>
                </a:solidFill>
                <a:latin typeface="Arial" panose="020B0604020202090204"/>
                <a:ea typeface="Arial" panose="020B0604020202090204"/>
                <a:cs typeface="Arial" panose="020B0604020202090204"/>
              </a:rPr>
              <a:t>What is </a:t>
            </a:r>
            <a:r>
              <a:rPr sz="3200" b="1" i="0">
                <a:solidFill>
                  <a:srgbClr val="0F172A"/>
                </a:solidFill>
                <a:latin typeface="Arial" panose="020B0604020202090204"/>
                <a:ea typeface="Arial" panose="020B0604020202090204"/>
                <a:cs typeface="Arial" panose="020B0604020202090204"/>
              </a:rPr>
              <a:t>TTS</a:t>
            </a:r>
            <a:r>
              <a:rPr lang="en-US" sz="3200" b="1" i="0">
                <a:solidFill>
                  <a:srgbClr val="0F172A"/>
                </a:solidFill>
                <a:latin typeface="Arial" panose="020B0604020202090204"/>
                <a:ea typeface="Arial" panose="020B0604020202090204"/>
                <a:cs typeface="Arial" panose="020B0604020202090204"/>
              </a:rPr>
              <a:t>?</a:t>
            </a:r>
            <a:endParaRPr lang="en-US"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623570" y="4172585"/>
            <a:ext cx="38100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sz="2000" b="1" i="0">
                <a:solidFill>
                  <a:srgbClr val="1E40AF"/>
                </a:solidFill>
                <a:latin typeface="Arial" panose="020B0604020202090204"/>
                <a:ea typeface="Arial" panose="020B0604020202090204"/>
                <a:cs typeface="Arial" panose="020B0604020202090204"/>
              </a:rPr>
              <a:t>Three Modules</a:t>
            </a:r>
            <a:endParaRPr lang="en-US" sz="2000" b="1" i="0">
              <a:solidFill>
                <a:srgbClr val="1E40AF"/>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839470" y="4658995"/>
            <a:ext cx="5162550" cy="133096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lang="en-US" sz="1400" b="1" i="0">
                <a:solidFill>
                  <a:srgbClr val="334155"/>
                </a:solidFill>
                <a:latin typeface="Arial" panose="020B0604020202090204" pitchFamily="34" charset="0"/>
                <a:ea typeface="Arial" panose="020B0604020202090204"/>
                <a:cs typeface="Arial" panose="020B0604020202090204" pitchFamily="34" charset="0"/>
              </a:rPr>
              <a:t>Text</a:t>
            </a:r>
            <a:r>
              <a:rPr sz="1400" b="1" i="0">
                <a:solidFill>
                  <a:srgbClr val="334155"/>
                </a:solidFill>
                <a:latin typeface="Arial" panose="020B0604020202090204" pitchFamily="34" charset="0"/>
                <a:ea typeface="Arial" panose="020B0604020202090204"/>
                <a:cs typeface="Arial" panose="020B0604020202090204" pitchFamily="34" charset="0"/>
              </a:rPr>
              <a:t> frontend </a:t>
            </a:r>
            <a:r>
              <a:rPr sz="1400" b="0" i="0">
                <a:solidFill>
                  <a:srgbClr val="334155"/>
                </a:solidFill>
                <a:latin typeface="Arial" panose="020B0604020202090204"/>
                <a:ea typeface="Arial" panose="020B0604020202090204"/>
                <a:cs typeface="Arial" panose="020B0604020202090204"/>
              </a:rPr>
              <a:t>turns ambiguous writing into a</a:t>
            </a:r>
            <a:r>
              <a:rPr lang="en-US" sz="1400" b="0" i="0">
                <a:solidFill>
                  <a:srgbClr val="334155"/>
                </a:solidFill>
                <a:latin typeface="Arial" panose="020B0604020202090204"/>
                <a:ea typeface="Arial" panose="020B0604020202090204"/>
                <a:cs typeface="Arial" panose="020B0604020202090204"/>
              </a:rPr>
              <a:t> </a:t>
            </a:r>
            <a:r>
              <a:rPr sz="1400" b="0" i="0">
                <a:solidFill>
                  <a:srgbClr val="334155"/>
                </a:solidFill>
                <a:latin typeface="Arial" panose="020B0604020202090204"/>
                <a:ea typeface="Arial" panose="020B0604020202090204"/>
                <a:cs typeface="Arial" panose="020B0604020202090204"/>
              </a:rPr>
              <a:t>pronounceable sequence.</a:t>
            </a: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lang="en-US" sz="1400" b="1" i="0">
                <a:solidFill>
                  <a:srgbClr val="334155"/>
                </a:solidFill>
                <a:latin typeface="Arial" panose="020B0604020202090204" pitchFamily="34" charset="0"/>
                <a:ea typeface="Arial" panose="020B0604020202090204"/>
                <a:cs typeface="Arial" panose="020B0604020202090204" pitchFamily="34" charset="0"/>
              </a:rPr>
              <a:t>A</a:t>
            </a:r>
            <a:r>
              <a:rPr sz="1400" b="1" i="0">
                <a:solidFill>
                  <a:srgbClr val="334155"/>
                </a:solidFill>
                <a:latin typeface="Arial" panose="020B0604020202090204" pitchFamily="34" charset="0"/>
                <a:ea typeface="Arial" panose="020B0604020202090204"/>
                <a:cs typeface="Arial" panose="020B0604020202090204" pitchFamily="34" charset="0"/>
              </a:rPr>
              <a:t>coustic model</a:t>
            </a:r>
            <a:r>
              <a:rPr sz="1400" b="0" i="0">
                <a:solidFill>
                  <a:srgbClr val="334155"/>
                </a:solidFill>
                <a:latin typeface="Arial" panose="020B0604020202090204"/>
                <a:ea typeface="Arial" panose="020B0604020202090204"/>
                <a:cs typeface="Arial" panose="020B0604020202090204"/>
              </a:rPr>
              <a:t> predicts a smooth, time-frequency target.</a:t>
            </a: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lang="en-US" sz="1400" b="1" i="0">
                <a:solidFill>
                  <a:srgbClr val="334155"/>
                </a:solidFill>
                <a:latin typeface="Arial" panose="020B0604020202090204" pitchFamily="34" charset="0"/>
                <a:ea typeface="Arial" panose="020B0604020202090204"/>
                <a:cs typeface="Arial" panose="020B0604020202090204" pitchFamily="34" charset="0"/>
              </a:rPr>
              <a:t>V</a:t>
            </a:r>
            <a:r>
              <a:rPr sz="1400" b="1" i="0">
                <a:solidFill>
                  <a:srgbClr val="334155"/>
                </a:solidFill>
                <a:latin typeface="Arial" panose="020B0604020202090204" pitchFamily="34" charset="0"/>
                <a:ea typeface="Arial" panose="020B0604020202090204"/>
                <a:cs typeface="Arial" panose="020B0604020202090204" pitchFamily="34" charset="0"/>
              </a:rPr>
              <a:t>ocoder</a:t>
            </a:r>
            <a:r>
              <a:rPr sz="1400" b="0" i="0">
                <a:solidFill>
                  <a:srgbClr val="334155"/>
                </a:solidFill>
                <a:latin typeface="Arial" panose="020B0604020202090204"/>
                <a:ea typeface="Arial" panose="020B0604020202090204"/>
                <a:cs typeface="Arial" panose="020B0604020202090204"/>
              </a:rPr>
              <a:t> restores phase, fine structure, and audible detail.</a:t>
            </a:r>
            <a:endParaRPr sz="1400" b="0" i="0">
              <a:solidFill>
                <a:srgbClr val="334155"/>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6456045" y="4234815"/>
            <a:ext cx="38100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D97706"/>
                </a:solidFill>
                <a:latin typeface="Arial" panose="020B0604020202090204"/>
                <a:ea typeface="Arial" panose="020B0604020202090204"/>
                <a:cs typeface="Arial" panose="020B0604020202090204"/>
              </a:defRPr>
            </a:pPr>
            <a:r>
              <a:rPr sz="1800" b="1" i="0">
                <a:solidFill>
                  <a:srgbClr val="D97706"/>
                </a:solidFill>
                <a:latin typeface="Arial" panose="020B0604020202090204"/>
                <a:ea typeface="Arial" panose="020B0604020202090204"/>
                <a:cs typeface="Arial" panose="020B0604020202090204"/>
              </a:rPr>
              <a:t>Why stage the problem?</a:t>
            </a:r>
            <a:endParaRPr sz="1800" b="1" i="0">
              <a:solidFill>
                <a:srgbClr val="D97706"/>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6672580" y="4707890"/>
            <a:ext cx="5304155" cy="1428750"/>
          </a:xfrm>
          <a:prstGeom prst="rect">
            <a:avLst/>
          </a:prstGeom>
          <a:noFill/>
          <a:ln w="0">
            <a:noFill/>
            <a:prstDash val="solid"/>
          </a:ln>
        </p:spPr>
        <p:txBody>
          <a:bodyPr wrap="square" lIns="0" tIns="0" rIns="0" bIns="0" anchor="t">
            <a:normAutofit lnSpcReduction="20000"/>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25" b="0" i="0">
                <a:solidFill>
                  <a:srgbClr val="334155"/>
                </a:solidFill>
                <a:latin typeface="Arial" panose="020B0604020202090204"/>
                <a:ea typeface="Arial" panose="020B0604020202090204"/>
                <a:cs typeface="Arial" panose="020B0604020202090204"/>
              </a:rPr>
              <a:t>• Different modules operate at </a:t>
            </a:r>
            <a:r>
              <a:rPr sz="1425" b="1" i="0">
                <a:solidFill>
                  <a:srgbClr val="334155"/>
                </a:solidFill>
                <a:latin typeface="Arial" panose="020B0604020202090204" pitchFamily="34" charset="0"/>
                <a:ea typeface="Arial" panose="020B0604020202090204"/>
                <a:cs typeface="Arial" panose="020B0604020202090204" pitchFamily="34" charset="0"/>
              </a:rPr>
              <a:t>different time scales</a:t>
            </a:r>
            <a:r>
              <a:rPr sz="1425" b="0" i="0">
                <a:solidFill>
                  <a:srgbClr val="334155"/>
                </a:solidFill>
                <a:latin typeface="Arial" panose="020B0604020202090204"/>
                <a:ea typeface="Arial" panose="020B0604020202090204"/>
                <a:cs typeface="Arial" panose="020B0604020202090204"/>
              </a:rPr>
              <a:t>.</a:t>
            </a: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25" b="0" i="0">
                <a:solidFill>
                  <a:srgbClr val="334155"/>
                </a:solidFill>
                <a:latin typeface="Arial" panose="020B0604020202090204"/>
                <a:ea typeface="Arial" panose="020B0604020202090204"/>
                <a:cs typeface="Arial" panose="020B0604020202090204"/>
              </a:rPr>
              <a:t>• </a:t>
            </a:r>
            <a:r>
              <a:rPr sz="1425" b="1" i="0">
                <a:solidFill>
                  <a:srgbClr val="334155"/>
                </a:solidFill>
                <a:latin typeface="Arial" panose="020B0604020202090204" pitchFamily="34" charset="0"/>
                <a:ea typeface="Arial" panose="020B0604020202090204"/>
                <a:cs typeface="Arial" panose="020B0604020202090204" pitchFamily="34" charset="0"/>
              </a:rPr>
              <a:t>Intermediate targets</a:t>
            </a:r>
            <a:r>
              <a:rPr sz="1425" b="0" i="0">
                <a:solidFill>
                  <a:srgbClr val="334155"/>
                </a:solidFill>
                <a:latin typeface="Arial" panose="020B0604020202090204"/>
                <a:ea typeface="Arial" panose="020B0604020202090204"/>
                <a:cs typeface="Arial" panose="020B0604020202090204"/>
              </a:rPr>
              <a:t> are easier to supervise than raw waveform samples.</a:t>
            </a: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br>
              <a:rPr sz="1425" b="0" i="0">
                <a:solidFill>
                  <a:srgbClr val="334155"/>
                </a:solidFill>
                <a:latin typeface="Arial" panose="020B0604020202090204"/>
                <a:ea typeface="Arial" panose="020B0604020202090204"/>
                <a:cs typeface="Arial" panose="020B0604020202090204"/>
              </a:rPr>
            </a:br>
            <a:r>
              <a:rPr sz="1425" b="0" i="0">
                <a:solidFill>
                  <a:srgbClr val="334155"/>
                </a:solidFill>
                <a:latin typeface="Arial" panose="020B0604020202090204"/>
                <a:ea typeface="Arial" panose="020B0604020202090204"/>
                <a:cs typeface="Arial" panose="020B0604020202090204"/>
              </a:rPr>
              <a:t>• Each module can be replaced, profiled, and debugged </a:t>
            </a:r>
            <a:r>
              <a:rPr sz="1425" b="1" i="0">
                <a:solidFill>
                  <a:srgbClr val="334155"/>
                </a:solidFill>
                <a:latin typeface="Arial" panose="020B0604020202090204" pitchFamily="34" charset="0"/>
                <a:ea typeface="Arial" panose="020B0604020202090204"/>
                <a:cs typeface="Arial" panose="020B0604020202090204" pitchFamily="34" charset="0"/>
              </a:rPr>
              <a:t>independently</a:t>
            </a:r>
            <a:r>
              <a:rPr sz="1425" b="0" i="0">
                <a:solidFill>
                  <a:srgbClr val="334155"/>
                </a:solidFill>
                <a:latin typeface="Arial" panose="020B0604020202090204"/>
                <a:ea typeface="Arial" panose="020B0604020202090204"/>
                <a:cs typeface="Arial" panose="020B0604020202090204"/>
              </a:rPr>
              <a:t>.</a:t>
            </a:r>
            <a:endParaRPr sz="1425" b="0" i="0">
              <a:solidFill>
                <a:srgbClr val="334155"/>
              </a:solidFill>
              <a:latin typeface="Arial" panose="020B0604020202090204"/>
              <a:ea typeface="Arial" panose="020B0604020202090204"/>
              <a:cs typeface="Arial" panose="020B0604020202090204"/>
            </a:endParaRPr>
          </a:p>
        </p:txBody>
      </p:sp>
      <p:pic>
        <p:nvPicPr>
          <p:cNvPr id="19" name="图片 1"/>
          <p:cNvPicPr>
            <a:picLocks noChangeAspect="1"/>
          </p:cNvPicPr>
          <p:nvPr/>
        </p:nvPicPr>
        <p:blipFill>
          <a:blip r:embed="rId1"/>
          <a:srcRect b="10882"/>
          <a:stretch>
            <a:fillRect/>
          </a:stretch>
        </p:blipFill>
        <p:spPr>
          <a:xfrm>
            <a:off x="1847215" y="991870"/>
            <a:ext cx="8517890" cy="3051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REPRESENTATIONS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3200" b="1" i="0">
                <a:solidFill>
                  <a:srgbClr val="0F172A"/>
                </a:solidFill>
                <a:latin typeface="Arial" panose="020B0604020202090204"/>
                <a:ea typeface="Arial" panose="020B0604020202090204"/>
                <a:cs typeface="Arial" panose="020B0604020202090204"/>
              </a:rPr>
              <a:t>Mel-spectrograms trade exactness for trainability</a:t>
            </a:r>
            <a:endParaRPr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246380" y="1412875"/>
            <a:ext cx="6471285" cy="4615815"/>
          </a:xfrm>
          <a:prstGeom prst="rect">
            <a:avLst/>
          </a:prstGeom>
        </p:spPr>
      </p:pic>
      <p:sp>
        <p:nvSpPr>
          <p:cNvPr id="6" name="矩形 5"/>
          <p:cNvSpPr>
            <a:spLocks noGrp="1"/>
          </p:cNvSpPr>
          <p:nvPr/>
        </p:nvSpPr>
        <p:spPr>
          <a:xfrm>
            <a:off x="6816090" y="1339850"/>
            <a:ext cx="131572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400" b="1" i="0">
                <a:solidFill>
                  <a:srgbClr val="1E40AF"/>
                </a:solidFill>
                <a:latin typeface="Arial" panose="020B0604020202090204"/>
                <a:ea typeface="Arial" panose="020B0604020202090204"/>
                <a:cs typeface="Arial" panose="020B0604020202090204"/>
              </a:rPr>
              <a:t>Pipeline</a:t>
            </a:r>
            <a:endParaRPr sz="24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887845" y="1931035"/>
            <a:ext cx="5166360" cy="395668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Step 1: </a:t>
            </a:r>
            <a:r>
              <a:rPr sz="1600" b="1" i="0">
                <a:solidFill>
                  <a:srgbClr val="334155"/>
                </a:solidFill>
                <a:latin typeface="Arial" panose="020B0604020202090204" pitchFamily="34" charset="0"/>
                <a:ea typeface="Arial" panose="020B0604020202090204"/>
                <a:cs typeface="Arial" panose="020B0604020202090204" pitchFamily="34" charset="0"/>
              </a:rPr>
              <a:t>Fram</a:t>
            </a:r>
            <a:r>
              <a:rPr lang="en-US" sz="1600" b="1" i="0">
                <a:solidFill>
                  <a:srgbClr val="334155"/>
                </a:solidFill>
                <a:latin typeface="Arial" panose="020B0604020202090204" pitchFamily="34" charset="0"/>
                <a:ea typeface="Arial" panose="020B0604020202090204"/>
                <a:cs typeface="Arial" panose="020B0604020202090204" pitchFamily="34" charset="0"/>
              </a:rPr>
              <a:t>ing &amp;</a:t>
            </a:r>
            <a:r>
              <a:rPr sz="1600" b="1" i="0">
                <a:solidFill>
                  <a:srgbClr val="334155"/>
                </a:solidFill>
                <a:latin typeface="Arial" panose="020B0604020202090204" pitchFamily="34" charset="0"/>
                <a:ea typeface="Arial" panose="020B0604020202090204"/>
                <a:cs typeface="Arial" panose="020B0604020202090204" pitchFamily="34" charset="0"/>
              </a:rPr>
              <a:t> window</a:t>
            </a:r>
            <a:r>
              <a:rPr lang="en-US" sz="1600" b="1" i="0">
                <a:solidFill>
                  <a:srgbClr val="334155"/>
                </a:solidFill>
                <a:latin typeface="Arial" panose="020B0604020202090204" pitchFamily="34" charset="0"/>
                <a:ea typeface="Arial" panose="020B0604020202090204"/>
                <a:cs typeface="Arial" panose="020B0604020202090204" pitchFamily="34" charset="0"/>
              </a:rPr>
              <a:t>ing</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1">
                <a:solidFill>
                  <a:srgbClr val="334155"/>
                </a:solidFill>
                <a:latin typeface="Arial" panose="020B0604020202090204" pitchFamily="34" charset="0"/>
                <a:ea typeface="Arial" panose="020B0604020202090204"/>
                <a:cs typeface="Arial" panose="020B0604020202090204" pitchFamily="34" charset="0"/>
              </a:rPr>
              <a:t>Segment raw waveform x(n) into overlapping frames using a window function g(n) (e.g., Hann window).</a:t>
            </a: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Step 2: </a:t>
            </a:r>
            <a:r>
              <a:rPr sz="1600" b="1" i="0">
                <a:solidFill>
                  <a:srgbClr val="334155"/>
                </a:solidFill>
                <a:latin typeface="Arial" panose="020B0604020202090204" pitchFamily="34" charset="0"/>
                <a:ea typeface="Arial" panose="020B0604020202090204"/>
                <a:cs typeface="Arial" panose="020B0604020202090204" pitchFamily="34" charset="0"/>
              </a:rPr>
              <a:t>Apply </a:t>
            </a:r>
            <a:r>
              <a:rPr lang="en-US" sz="1600" b="1" i="0">
                <a:solidFill>
                  <a:srgbClr val="334155"/>
                </a:solidFill>
                <a:latin typeface="Arial" panose="020B0604020202090204" pitchFamily="34" charset="0"/>
                <a:ea typeface="Arial" panose="020B0604020202090204"/>
                <a:cs typeface="Arial" panose="020B0604020202090204" pitchFamily="34" charset="0"/>
              </a:rPr>
              <a:t>DFT (STFT)</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1">
                <a:solidFill>
                  <a:srgbClr val="334155"/>
                </a:solidFill>
                <a:latin typeface="Arial" panose="020B0604020202090204" pitchFamily="34" charset="0"/>
                <a:ea typeface="Arial" panose="020B0604020202090204"/>
                <a:cs typeface="Arial" panose="020B0604020202090204" pitchFamily="34" charset="0"/>
              </a:rPr>
              <a:t>Apply DFT to each frame to compute the magnitude / power spectrum |X(f)|</a:t>
            </a:r>
            <a:r>
              <a:rPr lang="en-US" altLang="zh-CN" sz="1400" b="0" i="1" baseline="30000">
                <a:solidFill>
                  <a:srgbClr val="334155"/>
                </a:solidFill>
                <a:latin typeface="Arial" panose="020B0604020202090204" pitchFamily="34" charset="0"/>
                <a:ea typeface="Arial" panose="020B0604020202090204"/>
                <a:cs typeface="Arial" panose="020B0604020202090204" pitchFamily="34" charset="0"/>
              </a:rPr>
              <a:t>2</a:t>
            </a:r>
            <a:r>
              <a:rPr lang="en-US" altLang="zh-CN" sz="1400" b="0" i="1">
                <a:solidFill>
                  <a:srgbClr val="334155"/>
                </a:solidFill>
                <a:latin typeface="Arial" panose="020B0604020202090204" pitchFamily="34" charset="0"/>
                <a:ea typeface="Arial" panose="020B0604020202090204"/>
                <a:cs typeface="Arial" panose="020B0604020202090204" pitchFamily="34" charset="0"/>
              </a:rPr>
              <a:t>.</a:t>
            </a: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Step 3: Mel Filterbank Pooling</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1">
                <a:solidFill>
                  <a:srgbClr val="334155"/>
                </a:solidFill>
                <a:latin typeface="Arial" panose="020B0604020202090204" pitchFamily="34" charset="0"/>
                <a:ea typeface="Arial" panose="020B0604020202090204"/>
                <a:cs typeface="Arial" panose="020B0604020202090204" pitchFamily="34" charset="0"/>
              </a:rPr>
              <a:t>Pass magnitude spectra through non-linear triangular filterbanks to extract energy in Mel scale.</a:t>
            </a: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Step 4: Log compression &amp; stacking</a:t>
            </a:r>
            <a:endParaRPr lang="en-US" sz="1600" b="0" i="0">
              <a:solidFill>
                <a:srgbClr val="334155"/>
              </a:solidFill>
              <a:latin typeface="Arial" panose="020B0604020202090204"/>
              <a:ea typeface="Arial" panose="020B0604020202090204"/>
              <a:cs typeface="Arial" panose="020B0604020202090204"/>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1">
                <a:solidFill>
                  <a:srgbClr val="334155"/>
                </a:solidFill>
                <a:latin typeface="Arial" panose="020B0604020202090204" pitchFamily="34" charset="0"/>
                <a:ea typeface="Arial" panose="020B0604020202090204"/>
                <a:cs typeface="Arial" panose="020B0604020202090204" pitchFamily="34" charset="0"/>
              </a:rPr>
              <a:t>Apply dynamic-range compression and stack frame vectors into a 2D mel-spectrogram matrix. </a:t>
            </a:r>
            <a:r>
              <a:rPr lang="en-US" altLang="zh-CN" sz="1600" b="0" i="0">
                <a:solidFill>
                  <a:srgbClr val="334155"/>
                </a:solidFill>
                <a:latin typeface="Arial" panose="020B0604020202090204"/>
                <a:ea typeface="Arial" panose="020B0604020202090204"/>
                <a:cs typeface="Arial" panose="020B0604020202090204"/>
              </a:rPr>
              <a:t> </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442595" y="309245"/>
            <a:ext cx="11125200" cy="476250"/>
          </a:xfrm>
          <a:prstGeom prst="rect">
            <a:avLst/>
          </a:prstGeom>
          <a:noFill/>
          <a:ln w="0">
            <a:noFill/>
            <a:prstDash val="solid"/>
          </a:ln>
        </p:spPr>
        <p:txBody>
          <a:bodyPr wrap="square" lIns="0" tIns="0" rIns="0" bIns="0" anchor="t"/>
          <a:lstStyle/>
          <a:p>
            <a:pPr marL="101600" indent="0" algn="l">
              <a:lnSpc>
                <a:spcPct val="110000"/>
              </a:lnSpc>
              <a:spcBef>
                <a:spcPts val="0"/>
              </a:spcBef>
              <a:spcAft>
                <a:spcPts val="0"/>
              </a:spcAft>
              <a:buSzPts val="2000"/>
              <a:buFont typeface="Lora"/>
              <a:buNone/>
            </a:pPr>
            <a:r>
              <a:rPr lang="en-US" sz="3200" b="1">
                <a:solidFill>
                  <a:schemeClr val="tx1"/>
                </a:solidFill>
                <a:latin typeface="Arial" panose="020B0604020202090204" pitchFamily="34" charset="0"/>
                <a:ea typeface="Lora"/>
                <a:cs typeface="Arial" panose="020B0604020202090204" pitchFamily="34" charset="0"/>
                <a:sym typeface="Lora"/>
              </a:rPr>
              <a:t>Why Mel-spectrogram as an Intermediate Target?</a:t>
            </a:r>
            <a:endParaRPr lang="en-US" sz="3200" b="1">
              <a:solidFill>
                <a:schemeClr val="tx1"/>
              </a:solidFill>
              <a:latin typeface="Arial" panose="020B0604020202090204" pitchFamily="34" charset="0"/>
              <a:ea typeface="Lora"/>
              <a:cs typeface="Arial" panose="020B0604020202090204" pitchFamily="34" charset="0"/>
              <a:sym typeface="Lora"/>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480060" y="1053465"/>
            <a:ext cx="512381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200" b="1" i="0">
                <a:solidFill>
                  <a:srgbClr val="1E40AF"/>
                </a:solidFill>
                <a:latin typeface="Arial" panose="020B0604020202090204"/>
                <a:ea typeface="Arial" panose="020B0604020202090204"/>
                <a:cs typeface="Arial" panose="020B0604020202090204"/>
              </a:rPr>
              <a:t>Waveform</a:t>
            </a:r>
            <a:r>
              <a:rPr lang="en-US" sz="2200" b="1" i="0">
                <a:solidFill>
                  <a:srgbClr val="1E40AF"/>
                </a:solidFill>
                <a:latin typeface="Arial" panose="020B0604020202090204"/>
                <a:ea typeface="Arial" panose="020B0604020202090204"/>
                <a:cs typeface="Arial" panose="020B0604020202090204"/>
              </a:rPr>
              <a:t> (Raw Time-Domain Audio)</a:t>
            </a:r>
            <a:endParaRPr lang="en-US" sz="22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24205" y="1557655"/>
            <a:ext cx="6408420" cy="207137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sz="1600" b="1" i="0">
                <a:solidFill>
                  <a:srgbClr val="334155"/>
                </a:solidFill>
                <a:latin typeface="Arial" panose="020B0604020202090204" pitchFamily="34" charset="0"/>
                <a:ea typeface="Arial" panose="020B0604020202090204"/>
                <a:cs typeface="Arial" panose="020B0604020202090204" pitchFamily="34" charset="0"/>
              </a:rPr>
              <a:t>High </a:t>
            </a:r>
            <a:r>
              <a:rPr lang="en-US" sz="1600" b="1" i="0">
                <a:solidFill>
                  <a:srgbClr val="334155"/>
                </a:solidFill>
                <a:latin typeface="Arial" panose="020B0604020202090204" pitchFamily="34" charset="0"/>
                <a:ea typeface="Arial" panose="020B0604020202090204"/>
                <a:cs typeface="Arial" panose="020B0604020202090204" pitchFamily="34" charset="0"/>
              </a:rPr>
              <a:t>temporal resolution</a:t>
            </a:r>
            <a:r>
              <a:rPr sz="1600" b="1" i="0">
                <a:solidFill>
                  <a:srgbClr val="334155"/>
                </a:solidFill>
                <a:latin typeface="Arial" panose="020B0604020202090204" pitchFamily="34" charset="0"/>
                <a:ea typeface="Arial" panose="020B0604020202090204"/>
                <a:cs typeface="Arial" panose="020B0604020202090204" pitchFamily="34" charset="0"/>
              </a:rPr>
              <a:t>:</a:t>
            </a:r>
            <a:r>
              <a:rPr sz="1600" b="0" i="0">
                <a:solidFill>
                  <a:srgbClr val="334155"/>
                </a:solidFill>
                <a:latin typeface="Arial" panose="020B0604020202090204"/>
                <a:ea typeface="Arial" panose="020B0604020202090204"/>
                <a:cs typeface="Arial" panose="020B0604020202090204"/>
              </a:rPr>
              <a:t> </a:t>
            </a:r>
            <a:r>
              <a:rPr lang="en-US" sz="1600" b="0" i="0">
                <a:solidFill>
                  <a:srgbClr val="334155"/>
                </a:solidFill>
                <a:latin typeface="Arial" panose="020B0604020202090204"/>
                <a:ea typeface="Arial" panose="020B0604020202090204"/>
                <a:cs typeface="Arial" panose="020B0604020202090204"/>
              </a:rPr>
              <a:t>24k-48k samples per seconds (24 kHz+)</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sz="1600" b="1" i="0">
                <a:solidFill>
                  <a:srgbClr val="334155"/>
                </a:solidFill>
                <a:latin typeface="Arial" panose="020B0604020202090204" pitchFamily="34" charset="0"/>
                <a:ea typeface="Arial" panose="020B0604020202090204"/>
                <a:cs typeface="Arial" panose="020B0604020202090204" pitchFamily="34" charset="0"/>
              </a:rPr>
              <a:t>Phase </a:t>
            </a:r>
            <a:r>
              <a:rPr lang="en-US" sz="1600" b="1" i="0">
                <a:solidFill>
                  <a:srgbClr val="334155"/>
                </a:solidFill>
                <a:latin typeface="Arial" panose="020B0604020202090204" pitchFamily="34" charset="0"/>
                <a:ea typeface="Arial" panose="020B0604020202090204"/>
                <a:cs typeface="Arial" panose="020B0604020202090204" pitchFamily="34" charset="0"/>
              </a:rPr>
              <a:t>sensitiviity</a:t>
            </a:r>
            <a:r>
              <a:rPr lang="en-US" sz="1600" b="1" i="0">
                <a:solidFill>
                  <a:srgbClr val="334155"/>
                </a:solidFill>
                <a:latin typeface="Arial" panose="020B0604020202090204"/>
                <a:ea typeface="Arial" panose="020B0604020202090204"/>
                <a:cs typeface="Arial" panose="020B0604020202090204"/>
              </a:rPr>
              <a:t>: </a:t>
            </a:r>
            <a:r>
              <a:rPr lang="en-US" sz="1600" b="0" i="0">
                <a:solidFill>
                  <a:srgbClr val="334155"/>
                </a:solidFill>
                <a:latin typeface="Arial" panose="020B0604020202090204"/>
                <a:ea typeface="Arial" panose="020B0604020202090204"/>
                <a:cs typeface="Arial" panose="020B0604020202090204"/>
              </a:rPr>
              <a:t>Minor phase/timing shifts produce huge </a:t>
            </a:r>
            <a:r>
              <a:rPr lang="en-US" altLang="zh-CN" sz="1600" b="0" i="0">
                <a:solidFill>
                  <a:srgbClr val="334155"/>
                </a:solidFill>
                <a:latin typeface="Arial" panose="020B0604020202090204"/>
                <a:ea typeface="Arial" panose="020B0604020202090204"/>
                <a:cs typeface="Arial" panose="020B0604020202090204"/>
              </a:rPr>
              <a:t>point-wise errors, yet sound virtually identical to human ears.</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a:r>
            <a:r>
              <a:rPr lang="en-US" altLang="zh-CN" sz="1600" b="1" i="0">
                <a:solidFill>
                  <a:srgbClr val="334155"/>
                </a:solidFill>
                <a:latin typeface="Arial" panose="020B0604020202090204" pitchFamily="34" charset="0"/>
                <a:ea typeface="Arial" panose="020B0604020202090204"/>
                <a:cs typeface="Arial" panose="020B0604020202090204" pitchFamily="34" charset="0"/>
              </a:rPr>
              <a:t>Loss mismatch:</a:t>
            </a:r>
            <a:r>
              <a:rPr lang="en-US" altLang="zh-CN" sz="1600" b="0" i="0">
                <a:solidFill>
                  <a:srgbClr val="334155"/>
                </a:solidFill>
                <a:latin typeface="Arial" panose="020B0604020202090204"/>
                <a:ea typeface="Arial" panose="020B0604020202090204"/>
                <a:cs typeface="Arial" panose="020B0604020202090204"/>
              </a:rPr>
              <a:t> Point-wise losses (e.g., L1/L2) severely penalize perceptually equivalent waveforms.</a:t>
            </a:r>
            <a:endParaRPr lang="en-US" altLang="zh-CN" sz="1600" b="0" i="0">
              <a:solidFill>
                <a:srgbClr val="334155"/>
              </a:solidFill>
              <a:latin typeface="Arial" panose="020B0604020202090204"/>
              <a:ea typeface="Arial" panose="020B0604020202090204"/>
              <a:cs typeface="Arial" panose="020B0604020202090204"/>
            </a:endParaRPr>
          </a:p>
        </p:txBody>
      </p:sp>
      <p:pic>
        <p:nvPicPr>
          <p:cNvPr id="17" name="图片 16"/>
          <p:cNvPicPr>
            <a:picLocks noChangeAspect="1"/>
          </p:cNvPicPr>
          <p:nvPr/>
        </p:nvPicPr>
        <p:blipFill>
          <a:blip r:embed="rId1"/>
          <a:stretch>
            <a:fillRect/>
          </a:stretch>
        </p:blipFill>
        <p:spPr>
          <a:xfrm>
            <a:off x="7607935" y="1080135"/>
            <a:ext cx="3603625" cy="2395855"/>
          </a:xfrm>
          <a:prstGeom prst="rect">
            <a:avLst/>
          </a:prstGeom>
        </p:spPr>
      </p:pic>
      <p:sp>
        <p:nvSpPr>
          <p:cNvPr id="8" name="矩形 7"/>
          <p:cNvSpPr>
            <a:spLocks noGrp="1"/>
          </p:cNvSpPr>
          <p:nvPr/>
        </p:nvSpPr>
        <p:spPr>
          <a:xfrm>
            <a:off x="480060" y="3689985"/>
            <a:ext cx="24765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2200" b="1" i="0">
                <a:solidFill>
                  <a:srgbClr val="059669"/>
                </a:solidFill>
                <a:latin typeface="Arial" panose="020B0604020202090204"/>
                <a:ea typeface="Arial" panose="020B0604020202090204"/>
                <a:cs typeface="Arial" panose="020B0604020202090204"/>
              </a:rPr>
              <a:t>Mel-spectrogram</a:t>
            </a:r>
            <a:endParaRPr sz="2200" b="1" i="0">
              <a:solidFill>
                <a:srgbClr val="05966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22935" y="4157345"/>
            <a:ext cx="6984365" cy="231648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ym typeface="+mn-ea"/>
              </a:rPr>
              <a:t>• </a:t>
            </a:r>
            <a:r>
              <a:rPr lang="en-US" altLang="zh-CN" sz="1600" b="1" i="0">
                <a:solidFill>
                  <a:srgbClr val="334155"/>
                </a:solidFill>
                <a:latin typeface="Arial" panose="020B0604020202090204" pitchFamily="34" charset="0"/>
                <a:ea typeface="Arial" panose="020B0604020202090204"/>
                <a:cs typeface="Arial" panose="020B0604020202090204" pitchFamily="34" charset="0"/>
              </a:rPr>
              <a:t>Lower frame rate: </a:t>
            </a:r>
            <a:r>
              <a:rPr lang="en-US" altLang="zh-CN" sz="1600" b="0" i="0">
                <a:solidFill>
                  <a:srgbClr val="334155"/>
                </a:solidFill>
                <a:latin typeface="Arial" panose="020B0604020202090204"/>
                <a:ea typeface="Arial" panose="020B0604020202090204"/>
                <a:cs typeface="Arial" panose="020B0604020202090204"/>
              </a:rPr>
              <a:t>Reduced temporal dimension (~80–100 frames/sec), making sequence modeling manageable. </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ym typeface="+mn-ea"/>
              </a:rPr>
              <a:t>• </a:t>
            </a:r>
            <a:r>
              <a:rPr lang="en-US" altLang="zh-CN" sz="1600" b="1" i="0">
                <a:solidFill>
                  <a:srgbClr val="334155"/>
                </a:solidFill>
                <a:latin typeface="Arial" panose="020B0604020202090204" pitchFamily="34" charset="0"/>
                <a:ea typeface="Arial" panose="020B0604020202090204"/>
                <a:cs typeface="Arial" panose="020B0604020202090204" pitchFamily="34" charset="0"/>
              </a:rPr>
              <a:t>Perceptual alignment: </a:t>
            </a:r>
            <a:r>
              <a:rPr lang="en-US" altLang="zh-CN" sz="1600" b="0" i="0">
                <a:solidFill>
                  <a:srgbClr val="334155"/>
                </a:solidFill>
                <a:latin typeface="Arial" panose="020B0604020202090204"/>
                <a:ea typeface="Arial" panose="020B0604020202090204"/>
                <a:cs typeface="Arial" panose="020B0604020202090204"/>
              </a:rPr>
              <a:t>Mel scale mimics the non-linear frequency resolution of human auditory perception.   </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ym typeface="+mn-ea"/>
              </a:rPr>
              <a:t>• </a:t>
            </a:r>
            <a:r>
              <a:rPr lang="en-US" altLang="zh-CN" sz="1600" b="1" i="0">
                <a:solidFill>
                  <a:srgbClr val="334155"/>
                </a:solidFill>
                <a:latin typeface="Arial" panose="020B0604020202090204" pitchFamily="34" charset="0"/>
                <a:ea typeface="Arial" panose="020B0604020202090204"/>
                <a:cs typeface="Arial" panose="020B0604020202090204" pitchFamily="34" charset="0"/>
              </a:rPr>
              <a:t>Effective objective: </a:t>
            </a:r>
            <a:r>
              <a:rPr lang="en-US" altLang="zh-CN" sz="1600" b="0" i="0">
                <a:solidFill>
                  <a:srgbClr val="334155"/>
                </a:solidFill>
                <a:latin typeface="Arial" panose="020B0604020202090204"/>
                <a:ea typeface="Arial" panose="020B0604020202090204"/>
                <a:cs typeface="Arial" panose="020B0604020202090204"/>
              </a:rPr>
              <a:t>MSE in log-mel space provides a stable and perceptually meaningful regression target.</a:t>
            </a:r>
            <a:endParaRPr lang="en-US" altLang="zh-CN" sz="1600" b="0" i="0">
              <a:solidFill>
                <a:srgbClr val="334155"/>
              </a:solidFill>
              <a:latin typeface="Arial" panose="020B0604020202090204"/>
              <a:ea typeface="Arial" panose="020B0604020202090204"/>
              <a:cs typeface="Arial" panose="020B0604020202090204"/>
            </a:endParaRPr>
          </a:p>
        </p:txBody>
      </p:sp>
      <p:pic>
        <p:nvPicPr>
          <p:cNvPr id="20" name="图片 19"/>
          <p:cNvPicPr>
            <a:picLocks noChangeAspect="1"/>
          </p:cNvPicPr>
          <p:nvPr/>
        </p:nvPicPr>
        <p:blipFill>
          <a:blip r:embed="rId2"/>
          <a:stretch>
            <a:fillRect/>
          </a:stretch>
        </p:blipFill>
        <p:spPr>
          <a:xfrm>
            <a:off x="7680325" y="3789045"/>
            <a:ext cx="3488055" cy="23628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TEXT FRONTEND</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3200" b="1" i="0">
                <a:solidFill>
                  <a:srgbClr val="0F172A"/>
                </a:solidFill>
                <a:latin typeface="Arial" panose="020B0604020202090204"/>
                <a:ea typeface="Arial" panose="020B0604020202090204"/>
                <a:cs typeface="Arial" panose="020B0604020202090204"/>
              </a:rPr>
              <a:t>Text frontend: </a:t>
            </a:r>
            <a:r>
              <a:rPr lang="en-US" sz="3200" b="1" i="0">
                <a:solidFill>
                  <a:srgbClr val="0F172A"/>
                </a:solidFill>
                <a:latin typeface="Arial" panose="020B0604020202090204"/>
                <a:ea typeface="Arial" panose="020B0604020202090204"/>
                <a:cs typeface="Arial" panose="020B0604020202090204"/>
              </a:rPr>
              <a:t>Text Norm</a:t>
            </a:r>
            <a:r>
              <a:rPr lang="en-US" sz="3200" b="1" i="0">
                <a:solidFill>
                  <a:srgbClr val="0F172A"/>
                </a:solidFill>
                <a:latin typeface="Arial" panose="020B0604020202090204"/>
                <a:ea typeface="Arial" panose="020B0604020202090204"/>
                <a:cs typeface="Arial" panose="020B0604020202090204"/>
              </a:rPr>
              <a:t>alization + G2P</a:t>
            </a:r>
            <a:endParaRPr lang="en-US"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右箭头 4"/>
          <p:cNvSpPr>
            <a:spLocks noGrp="1"/>
          </p:cNvSpPr>
          <p:nvPr/>
        </p:nvSpPr>
        <p:spPr>
          <a:xfrm>
            <a:off x="3223578" y="1695450"/>
            <a:ext cx="438150" cy="342900"/>
          </a:xfrm>
          <a:prstGeom prst="rightArrow">
            <a:avLst/>
          </a:prstGeom>
          <a:solidFill>
            <a:srgbClr val="CBD5E1"/>
          </a:solidFill>
          <a:ln w="0">
            <a:noFill/>
            <a:prstDash val="solid"/>
          </a:ln>
        </p:spPr>
      </p:sp>
      <p:sp>
        <p:nvSpPr>
          <p:cNvPr id="6" name="圆角矩形 5"/>
          <p:cNvSpPr>
            <a:spLocks noGrp="1"/>
          </p:cNvSpPr>
          <p:nvPr/>
        </p:nvSpPr>
        <p:spPr>
          <a:xfrm>
            <a:off x="923290" y="1600200"/>
            <a:ext cx="2414588" cy="533400"/>
          </a:xfrm>
          <a:prstGeom prst="roundRect">
            <a:avLst>
              <a:gd name="adj" fmla="val 14286"/>
            </a:avLst>
          </a:prstGeom>
          <a:solidFill>
            <a:srgbClr val="DBEAFE"/>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400" b="1">
                <a:solidFill>
                  <a:srgbClr val="0F172A"/>
                </a:solidFill>
                <a:latin typeface="Arial" panose="020B0604020202090204"/>
                <a:ea typeface="Arial" panose="020B0604020202090204"/>
                <a:cs typeface="Arial" panose="020B0604020202090204"/>
              </a:rPr>
              <a:t>Raw text</a:t>
            </a:r>
            <a:endParaRPr sz="1400" b="1">
              <a:solidFill>
                <a:srgbClr val="0F172A"/>
              </a:solidFill>
              <a:latin typeface="Arial" panose="020B0604020202090204"/>
              <a:ea typeface="Arial" panose="020B0604020202090204"/>
              <a:cs typeface="Arial" panose="020B0604020202090204"/>
            </a:endParaRPr>
          </a:p>
        </p:txBody>
      </p:sp>
      <p:sp>
        <p:nvSpPr>
          <p:cNvPr id="7" name="右箭头 6"/>
          <p:cNvSpPr>
            <a:spLocks noGrp="1"/>
          </p:cNvSpPr>
          <p:nvPr/>
        </p:nvSpPr>
        <p:spPr>
          <a:xfrm>
            <a:off x="5847715" y="1695450"/>
            <a:ext cx="438150" cy="342900"/>
          </a:xfrm>
          <a:prstGeom prst="rightArrow">
            <a:avLst/>
          </a:prstGeom>
          <a:solidFill>
            <a:srgbClr val="CBD5E1"/>
          </a:solidFill>
          <a:ln w="0">
            <a:noFill/>
            <a:prstDash val="solid"/>
          </a:ln>
        </p:spPr>
      </p:sp>
      <p:sp>
        <p:nvSpPr>
          <p:cNvPr id="8" name="圆角矩形 7"/>
          <p:cNvSpPr>
            <a:spLocks noGrp="1"/>
          </p:cNvSpPr>
          <p:nvPr/>
        </p:nvSpPr>
        <p:spPr>
          <a:xfrm>
            <a:off x="3547428" y="1600200"/>
            <a:ext cx="2414588" cy="533400"/>
          </a:xfrm>
          <a:prstGeom prst="roundRect">
            <a:avLst>
              <a:gd name="adj" fmla="val 14286"/>
            </a:avLst>
          </a:prstGeom>
          <a:solidFill>
            <a:srgbClr val="FEF3C7"/>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400" b="1">
                <a:solidFill>
                  <a:srgbClr val="0F172A"/>
                </a:solidFill>
                <a:latin typeface="Arial" panose="020B0604020202090204"/>
                <a:ea typeface="Arial" panose="020B0604020202090204"/>
                <a:cs typeface="Arial" panose="020B0604020202090204"/>
              </a:rPr>
              <a:t>Text normalization</a:t>
            </a:r>
            <a:endParaRPr sz="1400" b="1">
              <a:solidFill>
                <a:srgbClr val="0F172A"/>
              </a:solidFill>
              <a:latin typeface="Arial" panose="020B0604020202090204"/>
              <a:ea typeface="Arial" panose="020B0604020202090204"/>
              <a:cs typeface="Arial" panose="020B0604020202090204"/>
            </a:endParaRPr>
          </a:p>
        </p:txBody>
      </p:sp>
      <p:sp>
        <p:nvSpPr>
          <p:cNvPr id="9" name="右箭头 8"/>
          <p:cNvSpPr>
            <a:spLocks noGrp="1"/>
          </p:cNvSpPr>
          <p:nvPr/>
        </p:nvSpPr>
        <p:spPr>
          <a:xfrm>
            <a:off x="8471853" y="1695450"/>
            <a:ext cx="438150" cy="342900"/>
          </a:xfrm>
          <a:prstGeom prst="rightArrow">
            <a:avLst/>
          </a:prstGeom>
          <a:solidFill>
            <a:srgbClr val="CBD5E1"/>
          </a:solidFill>
          <a:ln w="0">
            <a:noFill/>
            <a:prstDash val="solid"/>
          </a:ln>
        </p:spPr>
      </p:sp>
      <p:sp>
        <p:nvSpPr>
          <p:cNvPr id="10" name="圆角矩形 9"/>
          <p:cNvSpPr>
            <a:spLocks noGrp="1"/>
          </p:cNvSpPr>
          <p:nvPr/>
        </p:nvSpPr>
        <p:spPr>
          <a:xfrm>
            <a:off x="6171565" y="1600200"/>
            <a:ext cx="2414588" cy="533400"/>
          </a:xfrm>
          <a:prstGeom prst="roundRect">
            <a:avLst>
              <a:gd name="adj" fmla="val 14286"/>
            </a:avLst>
          </a:prstGeom>
          <a:solidFill>
            <a:srgbClr val="E0E7FF"/>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400" b="1">
                <a:solidFill>
                  <a:srgbClr val="0F172A"/>
                </a:solidFill>
                <a:latin typeface="Arial" panose="020B0604020202090204"/>
                <a:ea typeface="Arial" panose="020B0604020202090204"/>
                <a:cs typeface="Arial" panose="020B0604020202090204"/>
              </a:rPr>
              <a:t>G2P</a:t>
            </a:r>
            <a:endParaRPr sz="1400" b="1">
              <a:solidFill>
                <a:srgbClr val="0F172A"/>
              </a:solidFill>
              <a:latin typeface="Arial" panose="020B0604020202090204"/>
              <a:ea typeface="Arial" panose="020B0604020202090204"/>
              <a:cs typeface="Arial" panose="020B0604020202090204"/>
            </a:endParaRPr>
          </a:p>
        </p:txBody>
      </p:sp>
      <p:sp>
        <p:nvSpPr>
          <p:cNvPr id="11" name="圆角矩形 10"/>
          <p:cNvSpPr>
            <a:spLocks noGrp="1"/>
          </p:cNvSpPr>
          <p:nvPr/>
        </p:nvSpPr>
        <p:spPr>
          <a:xfrm>
            <a:off x="8795703" y="1600200"/>
            <a:ext cx="2414588" cy="533400"/>
          </a:xfrm>
          <a:prstGeom prst="roundRect">
            <a:avLst>
              <a:gd name="adj" fmla="val 14286"/>
            </a:avLst>
          </a:prstGeom>
          <a:solidFill>
            <a:srgbClr val="DCFCE7"/>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400" b="1">
                <a:solidFill>
                  <a:srgbClr val="0F172A"/>
                </a:solidFill>
                <a:latin typeface="Arial" panose="020B0604020202090204"/>
                <a:ea typeface="Arial" panose="020B0604020202090204"/>
                <a:cs typeface="Arial" panose="020B0604020202090204"/>
              </a:rPr>
              <a:t>Phonemes + metadata</a:t>
            </a:r>
            <a:endParaRPr sz="1400" b="1">
              <a:solidFill>
                <a:srgbClr val="0F172A"/>
              </a:solidFill>
              <a:latin typeface="Arial" panose="020B0604020202090204"/>
              <a:ea typeface="Arial" panose="020B0604020202090204"/>
              <a:cs typeface="Arial" panose="020B0604020202090204"/>
            </a:endParaRPr>
          </a:p>
        </p:txBody>
      </p:sp>
      <p:sp>
        <p:nvSpPr>
          <p:cNvPr id="18" name="文本框 17"/>
          <p:cNvSpPr txBox="1"/>
          <p:nvPr/>
        </p:nvSpPr>
        <p:spPr>
          <a:xfrm>
            <a:off x="546735" y="2637790"/>
            <a:ext cx="2852420" cy="398780"/>
          </a:xfrm>
          <a:prstGeom prst="rect">
            <a:avLst/>
          </a:prstGeom>
          <a:noFill/>
        </p:spPr>
        <p:txBody>
          <a:bodyPr wrap="square" rtlCol="0" anchor="t">
            <a:spAutoFit/>
          </a:bodyPr>
          <a:p>
            <a:pPr indent="0">
              <a:buFont typeface="Arial" panose="020B0604020202090204" pitchFamily="34" charset="0"/>
              <a:buNone/>
            </a:pPr>
            <a:r>
              <a:rPr lang="en-US" sz="2000" b="1">
                <a:solidFill>
                  <a:schemeClr val="accent1"/>
                </a:solidFill>
                <a:latin typeface="Arial" panose="020B0604020202090204" pitchFamily="34" charset="0"/>
                <a:ea typeface="Arial" panose="020B0604020202090204"/>
                <a:cs typeface="Arial" panose="020B0604020202090204" pitchFamily="34" charset="0"/>
                <a:sym typeface="+mn-ea"/>
              </a:rPr>
              <a:t>1. </a:t>
            </a:r>
            <a:r>
              <a:rPr sz="2000" b="1">
                <a:solidFill>
                  <a:schemeClr val="accent1"/>
                </a:solidFill>
                <a:latin typeface="Arial" panose="020B0604020202090204" pitchFamily="34" charset="0"/>
                <a:ea typeface="Arial" panose="020B0604020202090204"/>
                <a:cs typeface="Arial" panose="020B0604020202090204" pitchFamily="34" charset="0"/>
                <a:sym typeface="+mn-ea"/>
              </a:rPr>
              <a:t>Text normalization</a:t>
            </a:r>
            <a:endParaRPr lang="zh-CN" altLang="en-US" sz="2000" b="1">
              <a:solidFill>
                <a:schemeClr val="accent1"/>
              </a:solidFill>
              <a:latin typeface="Arial" panose="020B0604020202090204" pitchFamily="34" charset="0"/>
              <a:ea typeface="Arial" panose="020B0604020202090204"/>
              <a:cs typeface="Arial" panose="020B0604020202090204" pitchFamily="34" charset="0"/>
              <a:sym typeface="+mn-ea"/>
            </a:endParaRPr>
          </a:p>
        </p:txBody>
      </p:sp>
      <p:sp>
        <p:nvSpPr>
          <p:cNvPr id="19" name="文本框 18"/>
          <p:cNvSpPr txBox="1"/>
          <p:nvPr/>
        </p:nvSpPr>
        <p:spPr>
          <a:xfrm>
            <a:off x="5880100" y="2637790"/>
            <a:ext cx="4239260" cy="398780"/>
          </a:xfrm>
          <a:prstGeom prst="rect">
            <a:avLst/>
          </a:prstGeom>
          <a:noFill/>
        </p:spPr>
        <p:txBody>
          <a:bodyPr wrap="square" rtlCol="0" anchor="t">
            <a:spAutoFit/>
          </a:bodyPr>
          <a:p>
            <a:pPr indent="0">
              <a:buFont typeface="Arial" panose="020B0604020202090204" pitchFamily="34" charset="0"/>
              <a:buNone/>
            </a:pPr>
            <a:r>
              <a:rPr lang="en-US" sz="2000" b="1">
                <a:solidFill>
                  <a:schemeClr val="accent2"/>
                </a:solidFill>
                <a:latin typeface="Arial" panose="020B0604020202090204" pitchFamily="34" charset="0"/>
                <a:ea typeface="Arial" panose="020B0604020202090204"/>
                <a:cs typeface="Arial" panose="020B0604020202090204" pitchFamily="34" charset="0"/>
                <a:sym typeface="+mn-ea"/>
              </a:rPr>
              <a:t>2. Grapheme-to-Phoneme (G2P)</a:t>
            </a:r>
            <a:endParaRPr lang="en-US" altLang="en-US" sz="2000" b="1">
              <a:solidFill>
                <a:schemeClr val="accent2"/>
              </a:solidFill>
              <a:latin typeface="Arial" panose="020B0604020202090204" pitchFamily="34" charset="0"/>
              <a:ea typeface="Arial" panose="020B0604020202090204"/>
              <a:cs typeface="Arial" panose="020B0604020202090204" pitchFamily="34" charset="0"/>
              <a:sym typeface="+mn-ea"/>
            </a:endParaRPr>
          </a:p>
        </p:txBody>
      </p:sp>
      <p:sp>
        <p:nvSpPr>
          <p:cNvPr id="20" name="文本框 19"/>
          <p:cNvSpPr txBox="1"/>
          <p:nvPr/>
        </p:nvSpPr>
        <p:spPr>
          <a:xfrm>
            <a:off x="839470" y="3036570"/>
            <a:ext cx="4291330" cy="583565"/>
          </a:xfrm>
          <a:prstGeom prst="rect">
            <a:avLst/>
          </a:prstGeom>
          <a:noFill/>
        </p:spPr>
        <p:txBody>
          <a:bodyPr wrap="square" rtlCol="0">
            <a:spAutoFit/>
          </a:bodyPr>
          <a:p>
            <a:r>
              <a:rPr lang="en-US" sz="1600">
                <a:latin typeface="Arial" panose="020B0604020202090204" pitchFamily="34" charset="0"/>
                <a:ea typeface="Lora"/>
                <a:cs typeface="Arial" panose="020B0604020202090204" pitchFamily="34" charset="0"/>
                <a:sym typeface="Lora"/>
              </a:rPr>
              <a:t>Converting non-standard text into canonical spoken words.</a:t>
            </a:r>
            <a:endParaRPr lang="en-US" altLang="en-US" sz="1600">
              <a:latin typeface="Arial" panose="020B0604020202090204" pitchFamily="34" charset="0"/>
              <a:ea typeface="Lora"/>
              <a:cs typeface="Arial" panose="020B0604020202090204" pitchFamily="34" charset="0"/>
              <a:sym typeface="Lora"/>
            </a:endParaRPr>
          </a:p>
        </p:txBody>
      </p:sp>
      <p:sp>
        <p:nvSpPr>
          <p:cNvPr id="21" name="文本框 20"/>
          <p:cNvSpPr txBox="1"/>
          <p:nvPr/>
        </p:nvSpPr>
        <p:spPr>
          <a:xfrm>
            <a:off x="6171565" y="2998470"/>
            <a:ext cx="4824095" cy="583565"/>
          </a:xfrm>
          <a:prstGeom prst="rect">
            <a:avLst/>
          </a:prstGeom>
          <a:noFill/>
        </p:spPr>
        <p:txBody>
          <a:bodyPr wrap="square" rtlCol="0">
            <a:spAutoFit/>
          </a:bodyPr>
          <a:p>
            <a:r>
              <a:rPr lang="en-US" sz="1600">
                <a:latin typeface="Arial" panose="020B0604020202090204" pitchFamily="34" charset="0"/>
                <a:ea typeface="Lora"/>
                <a:cs typeface="Arial" panose="020B0604020202090204" pitchFamily="34" charset="0"/>
              </a:rPr>
              <a:t>Mapping written letters (grapheme) to acoustic sound units (phonemes).</a:t>
            </a:r>
            <a:endParaRPr lang="en-US" sz="1600">
              <a:latin typeface="Arial" panose="020B0604020202090204" pitchFamily="34" charset="0"/>
              <a:ea typeface="Lora"/>
              <a:cs typeface="Arial" panose="020B0604020202090204" pitchFamily="34" charset="0"/>
            </a:endParaRPr>
          </a:p>
        </p:txBody>
      </p:sp>
      <p:sp>
        <p:nvSpPr>
          <p:cNvPr id="22" name="TextBox 6"/>
          <p:cNvSpPr txBox="1"/>
          <p:nvPr/>
        </p:nvSpPr>
        <p:spPr>
          <a:xfrm>
            <a:off x="1414399" y="4209098"/>
            <a:ext cx="633095" cy="245745"/>
          </a:xfrm>
          <a:prstGeom prst="rect">
            <a:avLst/>
          </a:prstGeom>
          <a:noFill/>
          <a:ln>
            <a:noFill/>
          </a:ln>
        </p:spPr>
        <p:txBody>
          <a:bodyPr wrap="none" lIns="0" tIns="0" rIns="0" bIns="0" anchor="t" anchorCtr="0">
            <a:spAutoFit/>
          </a:bodyPr>
          <a:lstStyle/>
          <a:p>
            <a:pPr algn="l"/>
            <a:r>
              <a:rPr lang="en-US" sz="1600" dirty="0">
                <a:solidFill>
                  <a:schemeClr val="dk1"/>
                </a:solidFill>
                <a:latin typeface="Arial" panose="020B0604020202090204" pitchFamily="34" charset="0"/>
                <a:ea typeface="+mn-ea"/>
                <a:cs typeface="Arial" panose="020B0604020202090204" pitchFamily="34" charset="0"/>
              </a:rPr>
              <a:t>“10 kg”</a:t>
            </a:r>
            <a:endParaRPr lang="en-US" sz="1600" dirty="0">
              <a:solidFill>
                <a:schemeClr val="dk1"/>
              </a:solidFill>
              <a:latin typeface="Arial" panose="020B0604020202090204" pitchFamily="34" charset="0"/>
              <a:ea typeface="+mn-ea"/>
              <a:cs typeface="Arial" panose="020B0604020202090204" pitchFamily="34" charset="0"/>
            </a:endParaRPr>
          </a:p>
        </p:txBody>
      </p:sp>
      <p:sp>
        <p:nvSpPr>
          <p:cNvPr id="23" name="TextBox 7"/>
          <p:cNvSpPr txBox="1"/>
          <p:nvPr/>
        </p:nvSpPr>
        <p:spPr>
          <a:xfrm>
            <a:off x="3142615" y="4218305"/>
            <a:ext cx="1176020" cy="215265"/>
          </a:xfrm>
          <a:prstGeom prst="rect">
            <a:avLst/>
          </a:prstGeom>
          <a:noFill/>
          <a:ln>
            <a:noFill/>
          </a:ln>
        </p:spPr>
        <p:txBody>
          <a:bodyPr wrap="none" lIns="0" tIns="0" rIns="0" bIns="0" anchor="t" anchorCtr="0">
            <a:spAutoFit/>
          </a:bodyPr>
          <a:lstStyle/>
          <a:p>
            <a:pPr algn="l"/>
            <a:r>
              <a:rPr lang="en-US" sz="1400" dirty="0">
                <a:solidFill>
                  <a:schemeClr val="dk1"/>
                </a:solidFill>
                <a:latin typeface="Arial" panose="020B0604020202090204" pitchFamily="34" charset="0"/>
                <a:ea typeface="+mn-ea"/>
                <a:cs typeface="Arial" panose="020B0604020202090204" pitchFamily="34" charset="0"/>
              </a:rPr>
              <a:t>“ten kilograms”</a:t>
            </a:r>
            <a:endParaRPr lang="en-US" sz="1400" dirty="0">
              <a:solidFill>
                <a:schemeClr val="dk1"/>
              </a:solidFill>
              <a:latin typeface="Arial" panose="020B0604020202090204" pitchFamily="34" charset="0"/>
              <a:ea typeface="+mn-ea"/>
              <a:cs typeface="Arial" panose="020B0604020202090204" pitchFamily="34" charset="0"/>
            </a:endParaRPr>
          </a:p>
        </p:txBody>
      </p:sp>
      <p:sp>
        <p:nvSpPr>
          <p:cNvPr id="24" name="TextBox 8"/>
          <p:cNvSpPr txBox="1"/>
          <p:nvPr/>
        </p:nvSpPr>
        <p:spPr>
          <a:xfrm>
            <a:off x="1467104" y="4932998"/>
            <a:ext cx="474980" cy="245745"/>
          </a:xfrm>
          <a:prstGeom prst="rect">
            <a:avLst/>
          </a:prstGeom>
          <a:noFill/>
          <a:ln>
            <a:noFill/>
          </a:ln>
        </p:spPr>
        <p:txBody>
          <a:bodyPr wrap="none" lIns="0" tIns="0" rIns="0" bIns="0" anchor="t" anchorCtr="0">
            <a:spAutoFit/>
          </a:bodyPr>
          <a:lstStyle/>
          <a:p>
            <a:pPr algn="l"/>
            <a:r>
              <a:rPr lang="en-US" sz="1600" dirty="0">
                <a:solidFill>
                  <a:schemeClr val="dk1"/>
                </a:solidFill>
                <a:latin typeface="Arial" panose="020B0604020202090204" pitchFamily="34" charset="0"/>
                <a:ea typeface="+mn-ea"/>
                <a:cs typeface="Arial" panose="020B0604020202090204" pitchFamily="34" charset="0"/>
              </a:rPr>
              <a:t>“$12”</a:t>
            </a:r>
            <a:endParaRPr lang="en-US" sz="1600" dirty="0">
              <a:solidFill>
                <a:schemeClr val="dk1"/>
              </a:solidFill>
              <a:latin typeface="Arial" panose="020B0604020202090204" pitchFamily="34" charset="0"/>
              <a:ea typeface="+mn-ea"/>
              <a:cs typeface="Arial" panose="020B0604020202090204" pitchFamily="34" charset="0"/>
            </a:endParaRPr>
          </a:p>
        </p:txBody>
      </p:sp>
      <p:sp>
        <p:nvSpPr>
          <p:cNvPr id="25" name="TextBox 9"/>
          <p:cNvSpPr txBox="1"/>
          <p:nvPr/>
        </p:nvSpPr>
        <p:spPr>
          <a:xfrm>
            <a:off x="3142615" y="4942205"/>
            <a:ext cx="1195705" cy="215265"/>
          </a:xfrm>
          <a:prstGeom prst="rect">
            <a:avLst/>
          </a:prstGeom>
          <a:noFill/>
          <a:ln>
            <a:noFill/>
          </a:ln>
        </p:spPr>
        <p:txBody>
          <a:bodyPr wrap="none" lIns="0" tIns="0" rIns="0" bIns="0" anchor="t" anchorCtr="0">
            <a:spAutoFit/>
          </a:bodyPr>
          <a:lstStyle/>
          <a:p>
            <a:pPr algn="l"/>
            <a:r>
              <a:rPr lang="en-US" sz="1400" dirty="0">
                <a:solidFill>
                  <a:schemeClr val="dk1"/>
                </a:solidFill>
                <a:latin typeface="Arial" panose="020B0604020202090204" pitchFamily="34" charset="0"/>
                <a:ea typeface="+mn-ea"/>
                <a:cs typeface="Arial" panose="020B0604020202090204" pitchFamily="34" charset="0"/>
              </a:rPr>
              <a:t>“twelve dollars”</a:t>
            </a:r>
            <a:endParaRPr lang="en-US" sz="1400" dirty="0">
              <a:solidFill>
                <a:schemeClr val="dk1"/>
              </a:solidFill>
              <a:latin typeface="Arial" panose="020B0604020202090204" pitchFamily="34" charset="0"/>
              <a:ea typeface="+mn-ea"/>
              <a:cs typeface="Arial" panose="020B0604020202090204" pitchFamily="34" charset="0"/>
            </a:endParaRPr>
          </a:p>
        </p:txBody>
      </p:sp>
      <p:sp>
        <p:nvSpPr>
          <p:cNvPr id="26" name="TextBox 10"/>
          <p:cNvSpPr txBox="1"/>
          <p:nvPr/>
        </p:nvSpPr>
        <p:spPr>
          <a:xfrm>
            <a:off x="1467104" y="5656898"/>
            <a:ext cx="644525" cy="245745"/>
          </a:xfrm>
          <a:prstGeom prst="rect">
            <a:avLst/>
          </a:prstGeom>
          <a:noFill/>
          <a:ln>
            <a:noFill/>
          </a:ln>
        </p:spPr>
        <p:txBody>
          <a:bodyPr wrap="none" lIns="0" tIns="0" rIns="0" bIns="0" anchor="t" anchorCtr="0">
            <a:spAutoFit/>
          </a:bodyPr>
          <a:lstStyle/>
          <a:p>
            <a:pPr algn="l"/>
            <a:r>
              <a:rPr lang="en-US" sz="1600" dirty="0">
                <a:solidFill>
                  <a:schemeClr val="dk1"/>
                </a:solidFill>
                <a:latin typeface="Arial" panose="020B0604020202090204" pitchFamily="34" charset="0"/>
                <a:ea typeface="+mn-ea"/>
                <a:cs typeface="Arial" panose="020B0604020202090204" pitchFamily="34" charset="0"/>
              </a:rPr>
              <a:t>“21/09”</a:t>
            </a:r>
            <a:endParaRPr lang="en-US" sz="1600" dirty="0">
              <a:solidFill>
                <a:schemeClr val="dk1"/>
              </a:solidFill>
              <a:latin typeface="Arial" panose="020B0604020202090204" pitchFamily="34" charset="0"/>
              <a:ea typeface="+mn-ea"/>
              <a:cs typeface="Arial" panose="020B0604020202090204" pitchFamily="34" charset="0"/>
            </a:endParaRPr>
          </a:p>
        </p:txBody>
      </p:sp>
      <p:sp>
        <p:nvSpPr>
          <p:cNvPr id="27" name="TextBox 11"/>
          <p:cNvSpPr txBox="1"/>
          <p:nvPr/>
        </p:nvSpPr>
        <p:spPr>
          <a:xfrm>
            <a:off x="3142615" y="5666105"/>
            <a:ext cx="3364865" cy="398145"/>
          </a:xfrm>
          <a:prstGeom prst="rect">
            <a:avLst/>
          </a:prstGeom>
          <a:noFill/>
          <a:ln>
            <a:noFill/>
          </a:ln>
        </p:spPr>
        <p:txBody>
          <a:bodyPr wrap="square" lIns="0" tIns="0" rIns="0" bIns="0" anchor="t" anchorCtr="0">
            <a:noAutofit/>
          </a:bodyPr>
          <a:lstStyle/>
          <a:p>
            <a:pPr algn="l"/>
            <a:r>
              <a:rPr lang="en-US" sz="1400">
                <a:latin typeface="Arial" panose="020B0604020202090204" pitchFamily="34" charset="0"/>
                <a:ea typeface="Lora"/>
                <a:cs typeface="Arial" panose="020B0604020202090204" pitchFamily="34" charset="0"/>
                <a:sym typeface="Lora"/>
              </a:rPr>
              <a:t>“twenty-first of September”</a:t>
            </a:r>
            <a:endParaRPr lang="en-US" sz="1400">
              <a:latin typeface="Arial" panose="020B0604020202090204" pitchFamily="34" charset="0"/>
              <a:ea typeface="Lora"/>
              <a:cs typeface="Arial" panose="020B0604020202090204" pitchFamily="34" charset="0"/>
              <a:sym typeface="Lora"/>
            </a:endParaRPr>
          </a:p>
          <a:p>
            <a:pPr algn="l"/>
            <a:r>
              <a:rPr lang="en-US" sz="1400" i="1" dirty="0">
                <a:solidFill>
                  <a:schemeClr val="dk1"/>
                </a:solidFill>
                <a:latin typeface="Arial" panose="020B0604020202090204" pitchFamily="34" charset="0"/>
                <a:ea typeface="Lora"/>
                <a:cs typeface="Arial" panose="020B0604020202090204" pitchFamily="34" charset="0"/>
                <a:sym typeface="Lora"/>
              </a:rPr>
              <a:t>(Context-depentent)</a:t>
            </a:r>
            <a:endParaRPr lang="en-US" sz="1400" i="1" dirty="0">
              <a:solidFill>
                <a:schemeClr val="dk1"/>
              </a:solidFill>
              <a:latin typeface="Arial" panose="020B0604020202090204" pitchFamily="34" charset="0"/>
              <a:ea typeface="Lora"/>
              <a:cs typeface="Arial" panose="020B0604020202090204" pitchFamily="34" charset="0"/>
              <a:sym typeface="Lora"/>
            </a:endParaRPr>
          </a:p>
        </p:txBody>
      </p:sp>
      <p:sp>
        <p:nvSpPr>
          <p:cNvPr id="29" name="文本框 28"/>
          <p:cNvSpPr txBox="1"/>
          <p:nvPr/>
        </p:nvSpPr>
        <p:spPr>
          <a:xfrm>
            <a:off x="766445" y="3789045"/>
            <a:ext cx="600710" cy="337185"/>
          </a:xfrm>
          <a:prstGeom prst="rect">
            <a:avLst/>
          </a:prstGeom>
          <a:noFill/>
        </p:spPr>
        <p:txBody>
          <a:bodyPr wrap="square" rtlCol="0">
            <a:spAutoFit/>
          </a:bodyPr>
          <a:p>
            <a:r>
              <a:rPr lang="en-US" sz="1600">
                <a:latin typeface="Arial" panose="020B0604020202090204" pitchFamily="34" charset="0"/>
                <a:ea typeface="Lora"/>
                <a:cs typeface="Arial" panose="020B0604020202090204" pitchFamily="34" charset="0"/>
                <a:sym typeface="Lora"/>
              </a:rPr>
              <a:t>e.g.</a:t>
            </a:r>
            <a:endParaRPr lang="en-US" altLang="en-US" sz="1600">
              <a:latin typeface="Arial" panose="020B0604020202090204" pitchFamily="34" charset="0"/>
              <a:ea typeface="Lora"/>
              <a:cs typeface="Arial" panose="020B0604020202090204" pitchFamily="34" charset="0"/>
              <a:sym typeface="Lora"/>
            </a:endParaRPr>
          </a:p>
        </p:txBody>
      </p:sp>
      <p:sp>
        <p:nvSpPr>
          <p:cNvPr id="30" name="右箭头 29"/>
          <p:cNvSpPr/>
          <p:nvPr/>
        </p:nvSpPr>
        <p:spPr>
          <a:xfrm>
            <a:off x="2422525" y="4911725"/>
            <a:ext cx="320675" cy="245745"/>
          </a:xfrm>
          <a:prstGeom prst="rightArrow">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a:p>
            <a:endParaRPr lang="zh-CN" altLang="en-US">
              <a:solidFill>
                <a:schemeClr val="tx2">
                  <a:lumMod val="50000"/>
                  <a:lumOff val="50000"/>
                </a:schemeClr>
              </a:solidFill>
            </a:endParaRPr>
          </a:p>
        </p:txBody>
      </p:sp>
      <p:sp>
        <p:nvSpPr>
          <p:cNvPr id="31" name="文本框 30"/>
          <p:cNvSpPr txBox="1"/>
          <p:nvPr/>
        </p:nvSpPr>
        <p:spPr>
          <a:xfrm>
            <a:off x="6958965" y="4682490"/>
            <a:ext cx="779780" cy="396240"/>
          </a:xfrm>
          <a:prstGeom prst="rect">
            <a:avLst/>
          </a:prstGeom>
          <a:noFill/>
        </p:spPr>
        <p:txBody>
          <a:bodyPr wrap="square" rtlCol="0">
            <a:noAutofit/>
          </a:bodyPr>
          <a:p>
            <a:r>
              <a:rPr lang="en-US" sz="1600">
                <a:solidFill>
                  <a:srgbClr val="0F172A"/>
                </a:solidFill>
                <a:latin typeface="Arial" panose="020B0604020202090204"/>
                <a:ea typeface="Arial" panose="020B0604020202090204"/>
                <a:cs typeface="Arial" panose="020B0604020202090204"/>
                <a:sym typeface="+mn-ea"/>
              </a:rPr>
              <a:t>“</a:t>
            </a:r>
            <a:r>
              <a:rPr sz="1600">
                <a:solidFill>
                  <a:srgbClr val="0F172A"/>
                </a:solidFill>
                <a:latin typeface="Arial" panose="020B0604020202090204"/>
                <a:ea typeface="Arial" panose="020B0604020202090204"/>
                <a:cs typeface="Arial" panose="020B0604020202090204"/>
                <a:sym typeface="+mn-ea"/>
              </a:rPr>
              <a:t>read</a:t>
            </a:r>
            <a:r>
              <a:rPr lang="en-US" sz="1600">
                <a:solidFill>
                  <a:srgbClr val="0F172A"/>
                </a:solidFill>
                <a:latin typeface="Arial" panose="020B0604020202090204"/>
                <a:ea typeface="Arial" panose="020B0604020202090204"/>
                <a:cs typeface="Arial" panose="020B0604020202090204"/>
                <a:sym typeface="+mn-ea"/>
              </a:rPr>
              <a:t>”</a:t>
            </a:r>
            <a:r>
              <a:rPr sz="1600">
                <a:solidFill>
                  <a:srgbClr val="0F172A"/>
                </a:solidFill>
                <a:latin typeface="Arial" panose="020B0604020202090204"/>
                <a:ea typeface="Arial" panose="020B0604020202090204"/>
                <a:cs typeface="Arial" panose="020B0604020202090204"/>
                <a:sym typeface="+mn-ea"/>
              </a:rPr>
              <a:t>   </a:t>
            </a:r>
            <a:endParaRPr lang="zh-CN" altLang="en-US" sz="1600" i="0">
              <a:solidFill>
                <a:srgbClr val="0F172A"/>
              </a:solidFill>
              <a:latin typeface="Arial" panose="020B0604020202090204"/>
              <a:ea typeface="Arial" panose="020B0604020202090204"/>
              <a:cs typeface="Arial" panose="020B0604020202090204"/>
              <a:sym typeface="+mn-ea"/>
            </a:endParaRPr>
          </a:p>
        </p:txBody>
      </p:sp>
      <p:sp>
        <p:nvSpPr>
          <p:cNvPr id="32" name="文本框 31"/>
          <p:cNvSpPr txBox="1"/>
          <p:nvPr/>
        </p:nvSpPr>
        <p:spPr>
          <a:xfrm>
            <a:off x="9263380" y="4707255"/>
            <a:ext cx="2030095" cy="306705"/>
          </a:xfrm>
          <a:prstGeom prst="rect">
            <a:avLst/>
          </a:prstGeom>
          <a:noFill/>
        </p:spPr>
        <p:txBody>
          <a:bodyPr wrap="square" rtlCol="0" anchor="t">
            <a:spAutoFit/>
          </a:bodyPr>
          <a:p>
            <a:r>
              <a:rPr lang="en-US" sz="1400">
                <a:solidFill>
                  <a:srgbClr val="0F172A"/>
                </a:solidFill>
                <a:latin typeface="Arial" panose="020B0604020202090204"/>
                <a:ea typeface="Arial" panose="020B0604020202090204"/>
                <a:cs typeface="Arial" panose="020B0604020202090204"/>
                <a:sym typeface="+mn-ea"/>
              </a:rPr>
              <a:t>“</a:t>
            </a:r>
            <a:r>
              <a:rPr sz="1400">
                <a:solidFill>
                  <a:srgbClr val="0F172A"/>
                </a:solidFill>
                <a:latin typeface="Arial" panose="020B0604020202090204"/>
                <a:ea typeface="Arial" panose="020B0604020202090204"/>
                <a:cs typeface="Arial" panose="020B0604020202090204"/>
                <a:sym typeface="+mn-ea"/>
              </a:rPr>
              <a:t>/r iː d/</a:t>
            </a:r>
            <a:r>
              <a:rPr lang="en-US" sz="1400">
                <a:solidFill>
                  <a:srgbClr val="0F172A"/>
                </a:solidFill>
                <a:latin typeface="Arial" panose="020B0604020202090204"/>
                <a:ea typeface="Arial" panose="020B0604020202090204"/>
                <a:cs typeface="Arial" panose="020B0604020202090204"/>
                <a:sym typeface="+mn-ea"/>
              </a:rPr>
              <a:t>”</a:t>
            </a:r>
            <a:r>
              <a:rPr sz="1400">
                <a:solidFill>
                  <a:srgbClr val="0F172A"/>
                </a:solidFill>
                <a:latin typeface="Arial" panose="020B0604020202090204"/>
                <a:ea typeface="Arial" panose="020B0604020202090204"/>
                <a:cs typeface="Arial" panose="020B0604020202090204"/>
                <a:sym typeface="+mn-ea"/>
              </a:rPr>
              <a:t> </a:t>
            </a:r>
            <a:r>
              <a:rPr lang="en-US" sz="1400">
                <a:solidFill>
                  <a:srgbClr val="0F172A"/>
                </a:solidFill>
                <a:latin typeface="Arial" panose="020B0604020202090204"/>
                <a:ea typeface="Arial" panose="020B0604020202090204"/>
                <a:cs typeface="Arial" panose="020B0604020202090204"/>
                <a:sym typeface="+mn-ea"/>
              </a:rPr>
              <a:t> </a:t>
            </a:r>
            <a:r>
              <a:rPr sz="1400">
                <a:solidFill>
                  <a:srgbClr val="0F172A"/>
                </a:solidFill>
                <a:latin typeface="Arial" panose="020B0604020202090204"/>
                <a:ea typeface="Arial" panose="020B0604020202090204"/>
                <a:cs typeface="Arial" panose="020B0604020202090204"/>
                <a:sym typeface="+mn-ea"/>
              </a:rPr>
              <a:t>or</a:t>
            </a:r>
            <a:r>
              <a:rPr lang="en-US" sz="1400">
                <a:solidFill>
                  <a:srgbClr val="0F172A"/>
                </a:solidFill>
                <a:latin typeface="Arial" panose="020B0604020202090204"/>
                <a:ea typeface="Arial" panose="020B0604020202090204"/>
                <a:cs typeface="Arial" panose="020B0604020202090204"/>
                <a:sym typeface="+mn-ea"/>
              </a:rPr>
              <a:t> </a:t>
            </a:r>
            <a:r>
              <a:rPr sz="1400">
                <a:solidFill>
                  <a:srgbClr val="0F172A"/>
                </a:solidFill>
                <a:latin typeface="Arial" panose="020B0604020202090204"/>
                <a:ea typeface="Arial" panose="020B0604020202090204"/>
                <a:cs typeface="Arial" panose="020B0604020202090204"/>
                <a:sym typeface="+mn-ea"/>
              </a:rPr>
              <a:t> </a:t>
            </a:r>
            <a:r>
              <a:rPr lang="en-US" sz="1400">
                <a:solidFill>
                  <a:srgbClr val="0F172A"/>
                </a:solidFill>
                <a:latin typeface="Arial" panose="020B0604020202090204"/>
                <a:ea typeface="Arial" panose="020B0604020202090204"/>
                <a:cs typeface="Arial" panose="020B0604020202090204"/>
                <a:sym typeface="+mn-ea"/>
              </a:rPr>
              <a:t>“</a:t>
            </a:r>
            <a:r>
              <a:rPr sz="1400">
                <a:solidFill>
                  <a:srgbClr val="0F172A"/>
                </a:solidFill>
                <a:latin typeface="Arial" panose="020B0604020202090204"/>
                <a:ea typeface="Arial" panose="020B0604020202090204"/>
                <a:cs typeface="Arial" panose="020B0604020202090204"/>
                <a:sym typeface="+mn-ea"/>
              </a:rPr>
              <a:t>/r ɛ d/</a:t>
            </a:r>
            <a:r>
              <a:rPr lang="en-US" sz="1400">
                <a:solidFill>
                  <a:srgbClr val="0F172A"/>
                </a:solidFill>
                <a:latin typeface="Arial" panose="020B0604020202090204"/>
                <a:ea typeface="Arial" panose="020B0604020202090204"/>
                <a:cs typeface="Arial" panose="020B0604020202090204"/>
                <a:sym typeface="+mn-ea"/>
              </a:rPr>
              <a:t>”</a:t>
            </a:r>
            <a:endParaRPr lang="en-US" sz="1400">
              <a:solidFill>
                <a:srgbClr val="0F172A"/>
              </a:solidFill>
              <a:latin typeface="Arial" panose="020B0604020202090204"/>
              <a:ea typeface="Arial" panose="020B0604020202090204"/>
              <a:cs typeface="Arial" panose="020B0604020202090204"/>
              <a:sym typeface="+mn-ea"/>
            </a:endParaRPr>
          </a:p>
        </p:txBody>
      </p:sp>
      <p:sp>
        <p:nvSpPr>
          <p:cNvPr id="33" name="右箭头 32"/>
          <p:cNvSpPr/>
          <p:nvPr/>
        </p:nvSpPr>
        <p:spPr>
          <a:xfrm>
            <a:off x="8340725" y="4759325"/>
            <a:ext cx="320675" cy="245745"/>
          </a:xfrm>
          <a:prstGeom prst="rightArrow">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a:p>
            <a:endParaRPr lang="zh-CN" altLang="en-US">
              <a:solidFill>
                <a:schemeClr val="tx2">
                  <a:lumMod val="50000"/>
                  <a:lumOff val="50000"/>
                </a:schemeClr>
              </a:solidFill>
            </a:endParaRPr>
          </a:p>
        </p:txBody>
      </p:sp>
      <p:sp>
        <p:nvSpPr>
          <p:cNvPr id="34" name="文本框 33"/>
          <p:cNvSpPr txBox="1"/>
          <p:nvPr/>
        </p:nvSpPr>
        <p:spPr>
          <a:xfrm>
            <a:off x="6278245" y="3768725"/>
            <a:ext cx="600710" cy="337185"/>
          </a:xfrm>
          <a:prstGeom prst="rect">
            <a:avLst/>
          </a:prstGeom>
          <a:noFill/>
        </p:spPr>
        <p:txBody>
          <a:bodyPr wrap="square" rtlCol="0">
            <a:spAutoFit/>
          </a:bodyPr>
          <a:p>
            <a:r>
              <a:rPr lang="en-US" sz="1600">
                <a:latin typeface="Arial" panose="020B0604020202090204" pitchFamily="34" charset="0"/>
                <a:ea typeface="Lora"/>
                <a:cs typeface="Arial" panose="020B0604020202090204" pitchFamily="34" charset="0"/>
                <a:sym typeface="Lora"/>
              </a:rPr>
              <a:t>e.g.</a:t>
            </a:r>
            <a:endParaRPr lang="en-US" altLang="en-US" sz="1600">
              <a:latin typeface="Arial" panose="020B0604020202090204" pitchFamily="34" charset="0"/>
              <a:ea typeface="Lora"/>
              <a:cs typeface="Arial" panose="020B0604020202090204" pitchFamily="34" charset="0"/>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086993"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TEXT FRONTEND          </a:t>
            </a:r>
            <a:endParaRPr lang="en-US" sz="750" dirty="0">
              <a:solidFill>
                <a:srgbClr val="64748B"/>
              </a:solidFill>
              <a:latin typeface="+mn-lt"/>
              <a:ea typeface="+mn-ea"/>
              <a:cs typeface="+mn-cs"/>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sp>
        <p:nvSpPr>
          <p:cNvPr id="12" name="TextBox 12"/>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3" name="TextBox 3"/>
          <p:cNvSpPr txBox="1"/>
          <p:nvPr/>
        </p:nvSpPr>
        <p:spPr>
          <a:xfrm>
            <a:off x="479171" y="404178"/>
            <a:ext cx="5628005" cy="430530"/>
          </a:xfrm>
          <a:prstGeom prst="rect">
            <a:avLst/>
          </a:prstGeom>
          <a:noFill/>
          <a:ln>
            <a:noFill/>
          </a:ln>
        </p:spPr>
        <p:txBody>
          <a:bodyPr wrap="none" lIns="0" tIns="0" rIns="0" bIns="0" anchor="t" anchorCtr="0">
            <a:spAutoFit/>
          </a:bodyPr>
          <a:lstStyle/>
          <a:p>
            <a:pPr algn="l"/>
            <a:r>
              <a:rPr sz="2800" b="1">
                <a:solidFill>
                  <a:srgbClr val="0F172A"/>
                </a:solidFill>
                <a:latin typeface="Arial" panose="020B0604020202090204"/>
                <a:ea typeface="Arial" panose="020B0604020202090204"/>
                <a:cs typeface="Arial" panose="020B0604020202090204"/>
                <a:sym typeface="+mn-ea"/>
              </a:rPr>
              <a:t>Text frontend: </a:t>
            </a:r>
            <a:r>
              <a:rPr sz="2800" b="1">
                <a:solidFill>
                  <a:srgbClr val="0F172A"/>
                </a:solidFill>
                <a:latin typeface="Arial" panose="020B0604020202090204"/>
                <a:ea typeface="Arial" panose="020B0604020202090204"/>
                <a:cs typeface="Arial" panose="020B0604020202090204"/>
              </a:rPr>
              <a:t>Text normalization</a:t>
            </a:r>
            <a:endParaRPr lang="en-US" sz="2800" b="1">
              <a:solidFill>
                <a:srgbClr val="0F172A"/>
              </a:solidFill>
              <a:latin typeface="Arial" panose="020B0604020202090204"/>
              <a:ea typeface="Arial" panose="020B0604020202090204"/>
              <a:cs typeface="Arial" panose="020B0604020202090204"/>
            </a:endParaRPr>
          </a:p>
        </p:txBody>
      </p:sp>
      <p:pic>
        <p:nvPicPr>
          <p:cNvPr id="139" name="Google Shape;139;p29"/>
          <p:cNvPicPr preferRelativeResize="0"/>
          <p:nvPr/>
        </p:nvPicPr>
        <p:blipFill rotWithShape="1">
          <a:blip r:embed="rId1"/>
          <a:srcRect t="27541" b="27369"/>
          <a:stretch>
            <a:fillRect/>
          </a:stretch>
        </p:blipFill>
        <p:spPr>
          <a:xfrm>
            <a:off x="1271270" y="1409700"/>
            <a:ext cx="9251315" cy="43478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086993"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TEXT FRONTEND          </a:t>
            </a:r>
            <a:endParaRPr lang="en-US" sz="750" dirty="0">
              <a:solidFill>
                <a:srgbClr val="64748B"/>
              </a:solidFill>
              <a:latin typeface="+mn-lt"/>
              <a:ea typeface="+mn-ea"/>
              <a:cs typeface="+mn-cs"/>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sp>
        <p:nvSpPr>
          <p:cNvPr id="5" name="TextBox 5"/>
          <p:cNvSpPr txBox="1"/>
          <p:nvPr/>
        </p:nvSpPr>
        <p:spPr>
          <a:xfrm>
            <a:off x="551053" y="1268413"/>
            <a:ext cx="5412740" cy="307340"/>
          </a:xfrm>
          <a:prstGeom prst="rect">
            <a:avLst/>
          </a:prstGeom>
          <a:noFill/>
          <a:ln>
            <a:noFill/>
          </a:ln>
        </p:spPr>
        <p:txBody>
          <a:bodyPr wrap="none" lIns="0" tIns="0" rIns="0" bIns="0" anchor="t" anchorCtr="0">
            <a:spAutoFit/>
          </a:bodyPr>
          <a:lstStyle/>
          <a:p>
            <a:pPr algn="l"/>
            <a:r>
              <a:rPr lang="en-US" sz="2000" b="1">
                <a:solidFill>
                  <a:srgbClr val="1E40AF"/>
                </a:solidFill>
                <a:latin typeface="Arial" panose="020B0604020202090204"/>
                <a:ea typeface="Arial" panose="020B0604020202090204"/>
                <a:cs typeface="Arial" panose="020B0604020202090204"/>
              </a:rPr>
              <a:t>1. </a:t>
            </a:r>
            <a:r>
              <a:rPr sz="2000" b="1">
                <a:solidFill>
                  <a:srgbClr val="1E40AF"/>
                </a:solidFill>
                <a:latin typeface="Arial" panose="020B0604020202090204"/>
                <a:ea typeface="Arial" panose="020B0604020202090204"/>
                <a:cs typeface="Arial" panose="020B0604020202090204"/>
              </a:rPr>
              <a:t>Rules</a:t>
            </a:r>
            <a:r>
              <a:rPr lang="en-US" sz="2000" b="1">
                <a:solidFill>
                  <a:srgbClr val="1E40AF"/>
                </a:solidFill>
                <a:latin typeface="Arial" panose="020B0604020202090204"/>
                <a:ea typeface="Arial" panose="020B0604020202090204"/>
                <a:cs typeface="Arial" panose="020B0604020202090204"/>
              </a:rPr>
              <a:t>-base</a:t>
            </a:r>
            <a:r>
              <a:rPr sz="2000" b="1">
                <a:solidFill>
                  <a:srgbClr val="1E40AF"/>
                </a:solidFill>
                <a:latin typeface="Arial" panose="020B0604020202090204"/>
                <a:ea typeface="Arial" panose="020B0604020202090204"/>
                <a:cs typeface="Arial" panose="020B0604020202090204"/>
              </a:rPr>
              <a:t> </a:t>
            </a:r>
            <a:r>
              <a:rPr lang="en-US" sz="2000" b="1">
                <a:solidFill>
                  <a:srgbClr val="1E40AF"/>
                </a:solidFill>
                <a:latin typeface="Arial" panose="020B0604020202090204"/>
                <a:ea typeface="Arial" panose="020B0604020202090204"/>
                <a:cs typeface="Arial" panose="020B0604020202090204"/>
              </a:rPr>
              <a:t>&amp;</a:t>
            </a:r>
            <a:r>
              <a:rPr sz="2000" b="1">
                <a:solidFill>
                  <a:srgbClr val="1E40AF"/>
                </a:solidFill>
                <a:latin typeface="Arial" panose="020B0604020202090204"/>
                <a:ea typeface="Arial" panose="020B0604020202090204"/>
                <a:cs typeface="Arial" panose="020B0604020202090204"/>
              </a:rPr>
              <a:t> finite-state transducers</a:t>
            </a:r>
            <a:r>
              <a:rPr lang="en-US" sz="2000" b="1">
                <a:solidFill>
                  <a:srgbClr val="1E40AF"/>
                </a:solidFill>
                <a:latin typeface="Arial" panose="020B0604020202090204"/>
                <a:ea typeface="Arial" panose="020B0604020202090204"/>
                <a:cs typeface="Arial" panose="020B0604020202090204"/>
              </a:rPr>
              <a:t>(FST)</a:t>
            </a:r>
            <a:endParaRPr lang="en-US" sz="2000" b="1" dirty="0">
              <a:solidFill>
                <a:srgbClr val="1E40AF"/>
              </a:solidFill>
              <a:latin typeface="Arial" panose="020B0604020202090204"/>
              <a:ea typeface="Arial" panose="020B0604020202090204"/>
              <a:cs typeface="Arial" panose="020B0604020202090204"/>
            </a:endParaRPr>
          </a:p>
        </p:txBody>
      </p:sp>
      <p:sp>
        <p:nvSpPr>
          <p:cNvPr id="6" name="TextBox 6"/>
          <p:cNvSpPr txBox="1"/>
          <p:nvPr/>
        </p:nvSpPr>
        <p:spPr>
          <a:xfrm>
            <a:off x="551180" y="1715770"/>
            <a:ext cx="50228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altLang="zh-CN" dirty="0">
                <a:solidFill>
                  <a:schemeClr val="dk1"/>
                </a:solidFill>
                <a:latin typeface="Arial" panose="020B0604020202090204" pitchFamily="34" charset="0"/>
                <a:ea typeface="+mn-ea"/>
                <a:cs typeface="Arial" panose="020B0604020202090204" pitchFamily="34" charset="0"/>
              </a:rPr>
              <a:t>Relying on linguistics rules written by humans. </a:t>
            </a:r>
            <a:endParaRPr lang="en-US" altLang="zh-CN"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551053" y="2955608"/>
            <a:ext cx="3596005" cy="307340"/>
          </a:xfrm>
          <a:prstGeom prst="rect">
            <a:avLst/>
          </a:prstGeom>
          <a:noFill/>
          <a:ln>
            <a:noFill/>
          </a:ln>
        </p:spPr>
        <p:txBody>
          <a:bodyPr wrap="none" lIns="0" tIns="0" rIns="0" bIns="0" anchor="t" anchorCtr="0">
            <a:spAutoFit/>
          </a:bodyPr>
          <a:lstStyle/>
          <a:p>
            <a:pPr algn="l"/>
            <a:r>
              <a:rPr lang="en-US" sz="2000" b="1" dirty="0">
                <a:solidFill>
                  <a:schemeClr val="accent2"/>
                </a:solidFill>
                <a:latin typeface="Arial" panose="020B0604020202090204" pitchFamily="34" charset="0"/>
                <a:ea typeface="+mn-ea"/>
                <a:cs typeface="Arial" panose="020B0604020202090204" pitchFamily="34" charset="0"/>
              </a:rPr>
              <a:t>2. Seq2Seq </a:t>
            </a:r>
            <a:r>
              <a:rPr lang="en-US" altLang="zh-CN" sz="2000" b="1" dirty="0">
                <a:solidFill>
                  <a:schemeClr val="accent2"/>
                </a:solidFill>
                <a:latin typeface="Arial" panose="020B0604020202090204" pitchFamily="34" charset="0"/>
                <a:ea typeface="+mn-ea"/>
                <a:cs typeface="Arial" panose="020B0604020202090204" pitchFamily="34" charset="0"/>
              </a:rPr>
              <a:t>(Neural Networks)</a:t>
            </a:r>
            <a:endParaRPr lang="en-US" altLang="zh-CN" sz="2000" b="1" dirty="0">
              <a:solidFill>
                <a:schemeClr val="accent2"/>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51180" y="3409950"/>
            <a:ext cx="72453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altLang="zh-CN" sz="1800" dirty="0">
                <a:solidFill>
                  <a:schemeClr val="dk1"/>
                </a:solidFill>
                <a:latin typeface="Arial" panose="020B0604020202090204" pitchFamily="34" charset="0"/>
                <a:ea typeface="+mn-ea"/>
                <a:cs typeface="Arial" panose="020B0604020202090204" pitchFamily="34" charset="0"/>
              </a:rPr>
              <a:t>Based on learning the transformation rules of the text from the model</a:t>
            </a:r>
            <a:endParaRPr lang="en-US" altLang="zh-CN" sz="1800" dirty="0">
              <a:solidFill>
                <a:schemeClr val="dk1"/>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509778" y="4681538"/>
            <a:ext cx="2171700" cy="307340"/>
          </a:xfrm>
          <a:prstGeom prst="rect">
            <a:avLst/>
          </a:prstGeom>
          <a:noFill/>
          <a:ln>
            <a:noFill/>
          </a:ln>
        </p:spPr>
        <p:txBody>
          <a:bodyPr wrap="none" lIns="0" tIns="0" rIns="0" bIns="0" anchor="t" anchorCtr="0">
            <a:spAutoFit/>
          </a:bodyPr>
          <a:lstStyle/>
          <a:p>
            <a:pPr algn="l"/>
            <a:r>
              <a:rPr lang="en-US" sz="2000" b="1" dirty="0">
                <a:solidFill>
                  <a:schemeClr val="accent3"/>
                </a:solidFill>
                <a:latin typeface="Arial" panose="020B0604020202090204" pitchFamily="34" charset="0"/>
                <a:ea typeface="+mn-ea"/>
                <a:cs typeface="Arial" panose="020B0604020202090204" pitchFamily="34" charset="0"/>
              </a:rPr>
              <a:t>3. Hybrid systems</a:t>
            </a:r>
            <a:endParaRPr lang="en-US" sz="2000" b="1" dirty="0">
              <a:solidFill>
                <a:schemeClr val="accent3"/>
              </a:solidFill>
              <a:latin typeface="Arial" panose="020B0604020202090204" pitchFamily="34" charset="0"/>
              <a:ea typeface="+mn-ea"/>
              <a:cs typeface="Arial" panose="020B0604020202090204" pitchFamily="34" charset="0"/>
            </a:endParaRPr>
          </a:p>
        </p:txBody>
      </p:sp>
      <p:sp>
        <p:nvSpPr>
          <p:cNvPr id="12" name="TextBox 12"/>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09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3" name="TextBox 3"/>
          <p:cNvSpPr txBox="1"/>
          <p:nvPr/>
        </p:nvSpPr>
        <p:spPr>
          <a:xfrm>
            <a:off x="479171" y="404178"/>
            <a:ext cx="7445375" cy="430530"/>
          </a:xfrm>
          <a:prstGeom prst="rect">
            <a:avLst/>
          </a:prstGeom>
          <a:noFill/>
          <a:ln>
            <a:noFill/>
          </a:ln>
        </p:spPr>
        <p:txBody>
          <a:bodyPr wrap="none" lIns="0" tIns="0" rIns="0" bIns="0" anchor="t" anchorCtr="0">
            <a:spAutoFit/>
          </a:bodyPr>
          <a:lstStyle/>
          <a:p>
            <a:pPr algn="l"/>
            <a:r>
              <a:rPr sz="2800" b="1">
                <a:solidFill>
                  <a:srgbClr val="0F172A"/>
                </a:solidFill>
                <a:latin typeface="Arial" panose="020B0604020202090204"/>
                <a:ea typeface="Arial" panose="020B0604020202090204"/>
                <a:cs typeface="Arial" panose="020B0604020202090204"/>
                <a:sym typeface="+mn-ea"/>
              </a:rPr>
              <a:t>Text frontend: </a:t>
            </a:r>
            <a:r>
              <a:rPr sz="2800" b="1">
                <a:solidFill>
                  <a:srgbClr val="0F172A"/>
                </a:solidFill>
                <a:latin typeface="Arial" panose="020B0604020202090204"/>
                <a:ea typeface="Arial" panose="020B0604020202090204"/>
                <a:cs typeface="Arial" panose="020B0604020202090204"/>
              </a:rPr>
              <a:t>Text normalization</a:t>
            </a:r>
            <a:r>
              <a:rPr lang="en-US" sz="2800" b="1">
                <a:solidFill>
                  <a:srgbClr val="0F172A"/>
                </a:solidFill>
                <a:latin typeface="Arial" panose="020B0604020202090204"/>
                <a:ea typeface="Arial" panose="020B0604020202090204"/>
                <a:cs typeface="Arial" panose="020B0604020202090204"/>
              </a:rPr>
              <a:t> </a:t>
            </a:r>
            <a:r>
              <a:rPr lang="en-US" sz="2800" b="1">
                <a:solidFill>
                  <a:srgbClr val="0F172A"/>
                </a:solidFill>
                <a:latin typeface="Arial" panose="020B0604020202090204"/>
                <a:ea typeface="Arial" panose="020B0604020202090204"/>
                <a:cs typeface="Arial" panose="020B0604020202090204"/>
              </a:rPr>
              <a:t>Strategies</a:t>
            </a:r>
            <a:endParaRPr lang="en-US" sz="2800" b="1">
              <a:solidFill>
                <a:srgbClr val="0F172A"/>
              </a:solidFill>
              <a:latin typeface="Arial" panose="020B0604020202090204"/>
              <a:ea typeface="Arial" panose="020B0604020202090204"/>
              <a:cs typeface="Arial" panose="020B0604020202090204"/>
            </a:endParaRPr>
          </a:p>
        </p:txBody>
      </p:sp>
      <p:sp>
        <p:nvSpPr>
          <p:cNvPr id="3" name="文本框 2"/>
          <p:cNvSpPr txBox="1"/>
          <p:nvPr/>
        </p:nvSpPr>
        <p:spPr>
          <a:xfrm>
            <a:off x="767080" y="2149475"/>
            <a:ext cx="9040495" cy="337185"/>
          </a:xfrm>
          <a:prstGeom prst="rect">
            <a:avLst/>
          </a:prstGeom>
          <a:noFill/>
        </p:spPr>
        <p:txBody>
          <a:bodyPr wrap="square" rtlCol="0">
            <a:spAutoFit/>
          </a:bodyPr>
          <a:p>
            <a:r>
              <a:rPr lang="en-US" altLang="zh-CN" sz="1600" i="1" dirty="0">
                <a:solidFill>
                  <a:schemeClr val="dk1"/>
                </a:solidFill>
                <a:latin typeface="Arial" panose="020B0604020202090204" pitchFamily="34" charset="0"/>
                <a:cs typeface="Arial" panose="020B0604020202090204" pitchFamily="34" charset="0"/>
                <a:sym typeface="+mn-ea"/>
              </a:rPr>
              <a:t>For instance, it knows that the number following the "$" is usually pronounced as "dollars".</a:t>
            </a:r>
            <a:endParaRPr lang="en-US" altLang="zh-CN" sz="1600" i="1" dirty="0">
              <a:solidFill>
                <a:schemeClr val="dk1"/>
              </a:solidFill>
              <a:latin typeface="Arial" panose="020B0604020202090204" pitchFamily="34" charset="0"/>
              <a:cs typeface="Arial" panose="020B0604020202090204" pitchFamily="34" charset="0"/>
              <a:sym typeface="+mn-ea"/>
            </a:endParaRPr>
          </a:p>
        </p:txBody>
      </p:sp>
      <p:sp>
        <p:nvSpPr>
          <p:cNvPr id="14" name="文本框 13"/>
          <p:cNvSpPr txBox="1"/>
          <p:nvPr/>
        </p:nvSpPr>
        <p:spPr>
          <a:xfrm>
            <a:off x="767080" y="3761105"/>
            <a:ext cx="8355965" cy="337185"/>
          </a:xfrm>
          <a:prstGeom prst="rect">
            <a:avLst/>
          </a:prstGeom>
          <a:noFill/>
        </p:spPr>
        <p:txBody>
          <a:bodyPr wrap="square" rtlCol="0">
            <a:spAutoFit/>
          </a:bodyPr>
          <a:p>
            <a:r>
              <a:rPr lang="en-US" altLang="zh-CN" sz="1600" i="1" dirty="0">
                <a:solidFill>
                  <a:schemeClr val="dk1"/>
                </a:solidFill>
                <a:latin typeface="Arial" panose="020B0604020202090204" pitchFamily="34" charset="0"/>
                <a:cs typeface="Arial" panose="020B0604020202090204" pitchFamily="34" charset="0"/>
                <a:sym typeface="+mn-ea"/>
              </a:rPr>
              <a:t>Input is an unstandardized text sequence, while output is the standardized text sequence.</a:t>
            </a:r>
            <a:endParaRPr lang="en-US" altLang="zh-CN" sz="1600" i="1" dirty="0">
              <a:solidFill>
                <a:schemeClr val="dk1"/>
              </a:solidFill>
              <a:latin typeface="Arial" panose="020B0604020202090204" pitchFamily="34" charset="0"/>
              <a:cs typeface="Arial" panose="020B0604020202090204" pitchFamily="34" charset="0"/>
              <a:sym typeface="+mn-ea"/>
            </a:endParaRPr>
          </a:p>
        </p:txBody>
      </p:sp>
      <p:sp>
        <p:nvSpPr>
          <p:cNvPr id="15" name="TextBox 8"/>
          <p:cNvSpPr txBox="1"/>
          <p:nvPr/>
        </p:nvSpPr>
        <p:spPr>
          <a:xfrm>
            <a:off x="514350" y="5129530"/>
            <a:ext cx="10803255" cy="276860"/>
          </a:xfrm>
          <a:prstGeom prst="rect">
            <a:avLst/>
          </a:prstGeom>
          <a:noFill/>
          <a:ln>
            <a:noFill/>
          </a:ln>
        </p:spPr>
        <p:txBody>
          <a:bodyPr wrap="square" lIns="0" tIns="0" rIns="0" bIns="0" anchor="t" anchorCtr="0">
            <a:spAutoFit/>
          </a:bodyPr>
          <a:lstStyle/>
          <a:p>
            <a:pPr marL="285750" indent="-285750" algn="l">
              <a:buFont typeface="Arial" panose="020B0604020202090204" pitchFamily="34" charset="0"/>
              <a:buChar char="•"/>
            </a:pPr>
            <a:r>
              <a:rPr lang="en-US" altLang="zh-CN" sz="1800" dirty="0">
                <a:solidFill>
                  <a:schemeClr val="dk1"/>
                </a:solidFill>
                <a:latin typeface="Arial" panose="020B0604020202090204" pitchFamily="34" charset="0"/>
                <a:ea typeface="+mn-ea"/>
                <a:cs typeface="Arial" panose="020B0604020202090204" pitchFamily="34" charset="0"/>
              </a:rPr>
              <a:t>Use </a:t>
            </a:r>
            <a:r>
              <a:rPr lang="en-US" altLang="zh-CN" sz="1800" b="1" dirty="0">
                <a:solidFill>
                  <a:schemeClr val="dk1"/>
                </a:solidFill>
                <a:latin typeface="Arial" panose="020B0604020202090204" pitchFamily="34" charset="0"/>
                <a:ea typeface="+mn-ea"/>
                <a:cs typeface="Arial" panose="020B0604020202090204" pitchFamily="34" charset="0"/>
              </a:rPr>
              <a:t>Rule-based</a:t>
            </a:r>
            <a:r>
              <a:rPr lang="en-US" altLang="zh-CN" sz="1800" dirty="0">
                <a:solidFill>
                  <a:schemeClr val="dk1"/>
                </a:solidFill>
                <a:latin typeface="Arial" panose="020B0604020202090204" pitchFamily="34" charset="0"/>
                <a:ea typeface="+mn-ea"/>
                <a:cs typeface="Arial" panose="020B0604020202090204" pitchFamily="34" charset="0"/>
              </a:rPr>
              <a:t> approach to handle common situations, and leave the unmatched parts to </a:t>
            </a:r>
            <a:r>
              <a:rPr lang="en-US" altLang="zh-CN" sz="1800" b="1" dirty="0">
                <a:solidFill>
                  <a:schemeClr val="dk1"/>
                </a:solidFill>
                <a:latin typeface="Arial" panose="020B0604020202090204" pitchFamily="34" charset="0"/>
                <a:ea typeface="+mn-ea"/>
                <a:cs typeface="Arial" panose="020B0604020202090204" pitchFamily="34" charset="0"/>
              </a:rPr>
              <a:t>seq2seq</a:t>
            </a:r>
            <a:r>
              <a:rPr lang="en-US" altLang="zh-CN" sz="1800" dirty="0">
                <a:solidFill>
                  <a:schemeClr val="dk1"/>
                </a:solidFill>
                <a:latin typeface="Arial" panose="020B0604020202090204" pitchFamily="34" charset="0"/>
                <a:ea typeface="+mn-ea"/>
                <a:cs typeface="Arial" panose="020B0604020202090204" pitchFamily="34" charset="0"/>
              </a:rPr>
              <a:t>.</a:t>
            </a:r>
            <a:endParaRPr lang="en-US" altLang="zh-CN" sz="1800" dirty="0">
              <a:solidFill>
                <a:schemeClr val="dk1"/>
              </a:solidFill>
              <a:latin typeface="Arial" panose="020B0604020202090204" pitchFamily="34" charset="0"/>
              <a:ea typeface="+mn-ea"/>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086993"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TEXT FRONTEND          </a:t>
            </a:r>
            <a:endParaRPr lang="en-US" sz="750" dirty="0">
              <a:solidFill>
                <a:srgbClr val="64748B"/>
              </a:solidFill>
              <a:latin typeface="+mn-lt"/>
              <a:ea typeface="+mn-ea"/>
              <a:cs typeface="+mn-cs"/>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sp>
        <p:nvSpPr>
          <p:cNvPr id="5" name="TextBox 5"/>
          <p:cNvSpPr txBox="1"/>
          <p:nvPr/>
        </p:nvSpPr>
        <p:spPr>
          <a:xfrm>
            <a:off x="551053" y="3134043"/>
            <a:ext cx="5412740" cy="307340"/>
          </a:xfrm>
          <a:prstGeom prst="rect">
            <a:avLst/>
          </a:prstGeom>
          <a:noFill/>
          <a:ln>
            <a:noFill/>
          </a:ln>
        </p:spPr>
        <p:txBody>
          <a:bodyPr wrap="none" lIns="0" tIns="0" rIns="0" bIns="0" anchor="t" anchorCtr="0">
            <a:spAutoFit/>
          </a:bodyPr>
          <a:lstStyle/>
          <a:p>
            <a:pPr algn="l"/>
            <a:r>
              <a:rPr lang="en-US" sz="2000" b="1">
                <a:solidFill>
                  <a:srgbClr val="1E40AF"/>
                </a:solidFill>
                <a:latin typeface="Arial" panose="020B0604020202090204"/>
                <a:ea typeface="Arial" panose="020B0604020202090204"/>
                <a:cs typeface="Arial" panose="020B0604020202090204"/>
              </a:rPr>
              <a:t>2. </a:t>
            </a:r>
            <a:r>
              <a:rPr sz="2000" b="1">
                <a:solidFill>
                  <a:srgbClr val="1E40AF"/>
                </a:solidFill>
                <a:latin typeface="Arial" panose="020B0604020202090204"/>
                <a:ea typeface="Arial" panose="020B0604020202090204"/>
                <a:cs typeface="Arial" panose="020B0604020202090204"/>
              </a:rPr>
              <a:t>Rules</a:t>
            </a:r>
            <a:r>
              <a:rPr lang="en-US" sz="2000" b="1">
                <a:solidFill>
                  <a:srgbClr val="1E40AF"/>
                </a:solidFill>
                <a:latin typeface="Arial" panose="020B0604020202090204"/>
                <a:ea typeface="Arial" panose="020B0604020202090204"/>
                <a:cs typeface="Arial" panose="020B0604020202090204"/>
              </a:rPr>
              <a:t>-base</a:t>
            </a:r>
            <a:r>
              <a:rPr sz="2000" b="1">
                <a:solidFill>
                  <a:srgbClr val="1E40AF"/>
                </a:solidFill>
                <a:latin typeface="Arial" panose="020B0604020202090204"/>
                <a:ea typeface="Arial" panose="020B0604020202090204"/>
                <a:cs typeface="Arial" panose="020B0604020202090204"/>
              </a:rPr>
              <a:t> </a:t>
            </a:r>
            <a:r>
              <a:rPr lang="en-US" sz="2000" b="1">
                <a:solidFill>
                  <a:srgbClr val="1E40AF"/>
                </a:solidFill>
                <a:latin typeface="Arial" panose="020B0604020202090204"/>
                <a:ea typeface="Arial" panose="020B0604020202090204"/>
                <a:cs typeface="Arial" panose="020B0604020202090204"/>
              </a:rPr>
              <a:t>&amp;</a:t>
            </a:r>
            <a:r>
              <a:rPr sz="2000" b="1">
                <a:solidFill>
                  <a:srgbClr val="1E40AF"/>
                </a:solidFill>
                <a:latin typeface="Arial" panose="020B0604020202090204"/>
                <a:ea typeface="Arial" panose="020B0604020202090204"/>
                <a:cs typeface="Arial" panose="020B0604020202090204"/>
              </a:rPr>
              <a:t> finite-state transducers</a:t>
            </a:r>
            <a:r>
              <a:rPr lang="en-US" sz="2000" b="1">
                <a:solidFill>
                  <a:srgbClr val="1E40AF"/>
                </a:solidFill>
                <a:latin typeface="Arial" panose="020B0604020202090204"/>
                <a:ea typeface="Arial" panose="020B0604020202090204"/>
                <a:cs typeface="Arial" panose="020B0604020202090204"/>
              </a:rPr>
              <a:t>(FST)</a:t>
            </a:r>
            <a:endParaRPr lang="en-US" sz="2000" b="1" dirty="0">
              <a:solidFill>
                <a:srgbClr val="1E40AF"/>
              </a:solidFill>
              <a:latin typeface="Arial" panose="020B0604020202090204"/>
              <a:ea typeface="Arial" panose="020B0604020202090204"/>
              <a:cs typeface="Arial" panose="020B0604020202090204"/>
            </a:endParaRPr>
          </a:p>
        </p:txBody>
      </p:sp>
      <p:sp>
        <p:nvSpPr>
          <p:cNvPr id="6" name="TextBox 6"/>
          <p:cNvSpPr txBox="1"/>
          <p:nvPr/>
        </p:nvSpPr>
        <p:spPr>
          <a:xfrm>
            <a:off x="551180" y="3581400"/>
            <a:ext cx="60261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altLang="zh-CN" dirty="0">
                <a:solidFill>
                  <a:schemeClr val="dk1"/>
                </a:solidFill>
                <a:latin typeface="Arial" panose="020B0604020202090204" pitchFamily="34" charset="0"/>
                <a:ea typeface="+mn-ea"/>
                <a:cs typeface="Arial" panose="020B0604020202090204" pitchFamily="34" charset="0"/>
              </a:rPr>
              <a:t>Utilizing the pronunciation rules summarized by linguists </a:t>
            </a:r>
            <a:endParaRPr lang="en-US" altLang="zh-CN"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551053" y="1520508"/>
            <a:ext cx="2226310" cy="307340"/>
          </a:xfrm>
          <a:prstGeom prst="rect">
            <a:avLst/>
          </a:prstGeom>
          <a:noFill/>
          <a:ln>
            <a:noFill/>
          </a:ln>
        </p:spPr>
        <p:txBody>
          <a:bodyPr wrap="none" lIns="0" tIns="0" rIns="0" bIns="0" anchor="t" anchorCtr="0">
            <a:spAutoFit/>
          </a:bodyPr>
          <a:lstStyle/>
          <a:p>
            <a:pPr algn="l"/>
            <a:r>
              <a:rPr lang="en-US" sz="2000" b="1" dirty="0">
                <a:solidFill>
                  <a:schemeClr val="accent2"/>
                </a:solidFill>
                <a:latin typeface="Arial" panose="020B0604020202090204" pitchFamily="34" charset="0"/>
                <a:ea typeface="+mn-ea"/>
                <a:cs typeface="Arial" panose="020B0604020202090204" pitchFamily="34" charset="0"/>
              </a:rPr>
              <a:t>1. </a:t>
            </a:r>
            <a:r>
              <a:rPr lang="en-US" altLang="zh-CN" sz="2000" b="1" dirty="0">
                <a:solidFill>
                  <a:schemeClr val="accent2"/>
                </a:solidFill>
                <a:latin typeface="Arial" panose="020B0604020202090204" pitchFamily="34" charset="0"/>
                <a:ea typeface="+mn-ea"/>
                <a:cs typeface="Arial" panose="020B0604020202090204" pitchFamily="34" charset="0"/>
              </a:rPr>
              <a:t>Lexicon Lookup</a:t>
            </a:r>
            <a:endParaRPr lang="en-US" altLang="zh-CN" sz="2000" b="1" dirty="0">
              <a:solidFill>
                <a:schemeClr val="accent2"/>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51180" y="1903095"/>
            <a:ext cx="3765550" cy="276860"/>
          </a:xfrm>
          <a:prstGeom prst="rect">
            <a:avLst/>
          </a:prstGeom>
          <a:noFill/>
          <a:ln>
            <a:noFill/>
          </a:ln>
        </p:spPr>
        <p:txBody>
          <a:bodyPr wrap="none" lIns="0" tIns="0" rIns="0" bIns="0" anchor="t" anchorCtr="0">
            <a:spAutoFit/>
          </a:bodyPr>
          <a:lstStyle/>
          <a:p>
            <a:pPr marL="285750" indent="-285750" algn="l">
              <a:buFont typeface="Arial" panose="020B0604020202090204" pitchFamily="34" charset="0"/>
              <a:buChar char="•"/>
            </a:pPr>
            <a:r>
              <a:rPr lang="en-US" altLang="zh-CN" sz="1800" dirty="0">
                <a:solidFill>
                  <a:schemeClr val="dk1"/>
                </a:solidFill>
                <a:latin typeface="Arial" panose="020B0604020202090204" pitchFamily="34" charset="0"/>
                <a:ea typeface="+mn-ea"/>
                <a:cs typeface="Arial" panose="020B0604020202090204" pitchFamily="34" charset="0"/>
              </a:rPr>
              <a:t>Look up the word in the dictionary.</a:t>
            </a:r>
            <a:endParaRPr lang="en-US" altLang="zh-CN" sz="1800" dirty="0">
              <a:solidFill>
                <a:schemeClr val="dk1"/>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509778" y="4825048"/>
            <a:ext cx="1353820" cy="307340"/>
          </a:xfrm>
          <a:prstGeom prst="rect">
            <a:avLst/>
          </a:prstGeom>
          <a:noFill/>
          <a:ln>
            <a:noFill/>
          </a:ln>
        </p:spPr>
        <p:txBody>
          <a:bodyPr wrap="none" lIns="0" tIns="0" rIns="0" bIns="0" anchor="t" anchorCtr="0">
            <a:spAutoFit/>
          </a:bodyPr>
          <a:lstStyle/>
          <a:p>
            <a:pPr algn="l"/>
            <a:r>
              <a:rPr lang="en-US" sz="2000" b="1" dirty="0">
                <a:solidFill>
                  <a:schemeClr val="accent3"/>
                </a:solidFill>
                <a:latin typeface="Arial" panose="020B0604020202090204" pitchFamily="34" charset="0"/>
                <a:ea typeface="+mn-ea"/>
                <a:cs typeface="Arial" panose="020B0604020202090204" pitchFamily="34" charset="0"/>
              </a:rPr>
              <a:t>3. </a:t>
            </a:r>
            <a:r>
              <a:rPr lang="en-US" altLang="zh-CN" sz="2000" b="1" dirty="0">
                <a:solidFill>
                  <a:schemeClr val="accent3"/>
                </a:solidFill>
                <a:latin typeface="Arial" panose="020B0604020202090204" pitchFamily="34" charset="0"/>
                <a:ea typeface="+mn-ea"/>
                <a:cs typeface="Arial" panose="020B0604020202090204" pitchFamily="34" charset="0"/>
              </a:rPr>
              <a:t>Seq2Seq</a:t>
            </a:r>
            <a:endParaRPr lang="en-US" altLang="zh-CN" sz="2000" b="1" dirty="0">
              <a:solidFill>
                <a:schemeClr val="accent3"/>
              </a:solidFill>
              <a:latin typeface="Arial" panose="020B0604020202090204" pitchFamily="34" charset="0"/>
              <a:ea typeface="+mn-ea"/>
              <a:cs typeface="Arial" panose="020B0604020202090204" pitchFamily="34" charset="0"/>
            </a:endParaRPr>
          </a:p>
        </p:txBody>
      </p:sp>
      <p:sp>
        <p:nvSpPr>
          <p:cNvPr id="3" name="文本框 2"/>
          <p:cNvSpPr txBox="1"/>
          <p:nvPr/>
        </p:nvSpPr>
        <p:spPr>
          <a:xfrm>
            <a:off x="767080" y="4015105"/>
            <a:ext cx="9040495" cy="337185"/>
          </a:xfrm>
          <a:prstGeom prst="rect">
            <a:avLst/>
          </a:prstGeom>
          <a:noFill/>
        </p:spPr>
        <p:txBody>
          <a:bodyPr wrap="square" rtlCol="0">
            <a:spAutoFit/>
          </a:bodyPr>
          <a:p>
            <a:r>
              <a:rPr lang="en-US" altLang="zh-CN" sz="1600" i="1" dirty="0">
                <a:solidFill>
                  <a:schemeClr val="dk1"/>
                </a:solidFill>
                <a:latin typeface="Arial" panose="020B0604020202090204" pitchFamily="34" charset="0"/>
                <a:cs typeface="Arial" panose="020B0604020202090204" pitchFamily="34" charset="0"/>
                <a:sym typeface="+mn-ea"/>
              </a:rPr>
              <a:t>For instance, In English, words ending with "tion" usually have the pronunciation /</a:t>
            </a:r>
            <a:r>
              <a:rPr lang="en-US" altLang="en-US" sz="1600" i="1" dirty="0">
                <a:solidFill>
                  <a:schemeClr val="dk1"/>
                </a:solidFill>
                <a:latin typeface="Arial" panose="020B0604020202090204" pitchFamily="34" charset="0"/>
                <a:cs typeface="Arial" panose="020B0604020202090204" pitchFamily="34" charset="0"/>
                <a:sym typeface="+mn-ea"/>
              </a:rPr>
              <a:t>ʃə</a:t>
            </a:r>
            <a:r>
              <a:rPr lang="en-US" altLang="zh-CN" sz="1600" i="1" dirty="0">
                <a:solidFill>
                  <a:schemeClr val="dk1"/>
                </a:solidFill>
                <a:latin typeface="Arial" panose="020B0604020202090204" pitchFamily="34" charset="0"/>
                <a:cs typeface="Arial" panose="020B0604020202090204" pitchFamily="34" charset="0"/>
                <a:sym typeface="+mn-ea"/>
              </a:rPr>
              <a:t>n/.</a:t>
            </a:r>
            <a:endParaRPr lang="en-US" altLang="zh-CN" sz="1600" i="1" dirty="0">
              <a:solidFill>
                <a:schemeClr val="dk1"/>
              </a:solidFill>
              <a:latin typeface="Arial" panose="020B0604020202090204" pitchFamily="34" charset="0"/>
              <a:cs typeface="Arial" panose="020B0604020202090204" pitchFamily="34" charset="0"/>
              <a:sym typeface="+mn-ea"/>
            </a:endParaRPr>
          </a:p>
        </p:txBody>
      </p:sp>
      <p:sp>
        <p:nvSpPr>
          <p:cNvPr id="14" name="文本框 13"/>
          <p:cNvSpPr txBox="1"/>
          <p:nvPr/>
        </p:nvSpPr>
        <p:spPr>
          <a:xfrm>
            <a:off x="767080" y="2254250"/>
            <a:ext cx="4954905" cy="337185"/>
          </a:xfrm>
          <a:prstGeom prst="rect">
            <a:avLst/>
          </a:prstGeom>
          <a:noFill/>
        </p:spPr>
        <p:txBody>
          <a:bodyPr wrap="square" rtlCol="0">
            <a:spAutoFit/>
          </a:bodyPr>
          <a:p>
            <a:r>
              <a:rPr lang="en-US" altLang="zh-CN" sz="1600" i="1" dirty="0">
                <a:solidFill>
                  <a:schemeClr val="dk1"/>
                </a:solidFill>
                <a:latin typeface="Arial" panose="020B0604020202090204" pitchFamily="34" charset="0"/>
                <a:cs typeface="Arial" panose="020B0604020202090204" pitchFamily="34" charset="0"/>
                <a:sym typeface="+mn-ea"/>
              </a:rPr>
              <a:t>For intstance, </a:t>
            </a:r>
            <a:r>
              <a:rPr lang="en-US" altLang="zh-CN" sz="1600" i="1" dirty="0">
                <a:solidFill>
                  <a:schemeClr val="dk1"/>
                </a:solidFill>
                <a:latin typeface="Arial" panose="020B0604020202090204" pitchFamily="34" charset="0"/>
                <a:cs typeface="Arial" panose="020B0604020202090204" pitchFamily="34" charset="0"/>
                <a:sym typeface="+mn-ea"/>
                <a:hlinkClick r:id="rId1"/>
              </a:rPr>
              <a:t>CMU Pronouncing Dictionary</a:t>
            </a:r>
            <a:r>
              <a:rPr lang="en-US" altLang="zh-CN" sz="1600" i="1" dirty="0">
                <a:solidFill>
                  <a:schemeClr val="dk1"/>
                </a:solidFill>
                <a:latin typeface="Arial" panose="020B0604020202090204" pitchFamily="34" charset="0"/>
                <a:cs typeface="Arial" panose="020B0604020202090204" pitchFamily="34" charset="0"/>
                <a:sym typeface="+mn-ea"/>
              </a:rPr>
              <a:t>.</a:t>
            </a:r>
            <a:endParaRPr lang="en-US" altLang="zh-CN" sz="1600" i="1" dirty="0">
              <a:solidFill>
                <a:schemeClr val="dk1"/>
              </a:solidFill>
              <a:latin typeface="Arial" panose="020B0604020202090204" pitchFamily="34" charset="0"/>
              <a:cs typeface="Arial" panose="020B0604020202090204" pitchFamily="34" charset="0"/>
              <a:sym typeface="+mn-ea"/>
            </a:endParaRPr>
          </a:p>
        </p:txBody>
      </p:sp>
      <p:sp>
        <p:nvSpPr>
          <p:cNvPr id="15" name="TextBox 8"/>
          <p:cNvSpPr txBox="1"/>
          <p:nvPr/>
        </p:nvSpPr>
        <p:spPr>
          <a:xfrm>
            <a:off x="514350" y="5273040"/>
            <a:ext cx="10803255" cy="276860"/>
          </a:xfrm>
          <a:prstGeom prst="rect">
            <a:avLst/>
          </a:prstGeom>
          <a:noFill/>
          <a:ln>
            <a:noFill/>
          </a:ln>
        </p:spPr>
        <p:txBody>
          <a:bodyPr wrap="square" lIns="0" tIns="0" rIns="0" bIns="0" anchor="t" anchorCtr="0">
            <a:spAutoFit/>
          </a:bodyPr>
          <a:lstStyle/>
          <a:p>
            <a:pPr marL="285750" indent="-285750" algn="l">
              <a:buFont typeface="Arial" panose="020B0604020202090204" pitchFamily="34" charset="0"/>
              <a:buChar char="•"/>
            </a:pPr>
            <a:r>
              <a:rPr lang="en-US" altLang="zh-CN" sz="1800" dirty="0">
                <a:solidFill>
                  <a:schemeClr val="dk1"/>
                </a:solidFill>
                <a:latin typeface="Arial" panose="020B0604020202090204" pitchFamily="34" charset="0"/>
                <a:ea typeface="+mn-ea"/>
                <a:cs typeface="Arial" panose="020B0604020202090204" pitchFamily="34" charset="0"/>
              </a:rPr>
              <a:t>Use </a:t>
            </a:r>
            <a:r>
              <a:rPr lang="en-US" altLang="zh-CN" sz="1800" b="1" dirty="0">
                <a:solidFill>
                  <a:schemeClr val="dk1"/>
                </a:solidFill>
                <a:latin typeface="Arial" panose="020B0604020202090204" pitchFamily="34" charset="0"/>
                <a:ea typeface="+mn-ea"/>
                <a:cs typeface="Arial" panose="020B0604020202090204" pitchFamily="34" charset="0"/>
              </a:rPr>
              <a:t>Rule-based</a:t>
            </a:r>
            <a:r>
              <a:rPr lang="en-US" altLang="zh-CN" sz="1800" dirty="0">
                <a:solidFill>
                  <a:schemeClr val="dk1"/>
                </a:solidFill>
                <a:latin typeface="Arial" panose="020B0604020202090204" pitchFamily="34" charset="0"/>
                <a:ea typeface="+mn-ea"/>
                <a:cs typeface="Arial" panose="020B0604020202090204" pitchFamily="34" charset="0"/>
              </a:rPr>
              <a:t> approach to handle common situations, and leave the unmatched parts to </a:t>
            </a:r>
            <a:r>
              <a:rPr lang="en-US" altLang="zh-CN" sz="1800" b="1" dirty="0">
                <a:solidFill>
                  <a:schemeClr val="dk1"/>
                </a:solidFill>
                <a:latin typeface="Arial" panose="020B0604020202090204" pitchFamily="34" charset="0"/>
                <a:ea typeface="+mn-ea"/>
                <a:cs typeface="Arial" panose="020B0604020202090204" pitchFamily="34" charset="0"/>
              </a:rPr>
              <a:t>seq2seq</a:t>
            </a:r>
            <a:r>
              <a:rPr lang="en-US" altLang="zh-CN" sz="1800" dirty="0">
                <a:solidFill>
                  <a:schemeClr val="dk1"/>
                </a:solidFill>
                <a:latin typeface="Arial" panose="020B0604020202090204" pitchFamily="34" charset="0"/>
                <a:ea typeface="+mn-ea"/>
                <a:cs typeface="Arial" panose="020B0604020202090204" pitchFamily="34" charset="0"/>
              </a:rPr>
              <a:t>.</a:t>
            </a:r>
            <a:endParaRPr lang="en-US" altLang="zh-CN" sz="1800" dirty="0">
              <a:solidFill>
                <a:schemeClr val="dk1"/>
              </a:solidFill>
              <a:latin typeface="Arial" panose="020B0604020202090204" pitchFamily="34" charset="0"/>
              <a:ea typeface="+mn-ea"/>
              <a:cs typeface="Arial" panose="020B0604020202090204" pitchFamily="34" charset="0"/>
            </a:endParaRPr>
          </a:p>
        </p:txBody>
      </p:sp>
      <p:sp>
        <p:nvSpPr>
          <p:cNvPr id="11" name="TextBox 3"/>
          <p:cNvSpPr txBox="1"/>
          <p:nvPr/>
        </p:nvSpPr>
        <p:spPr>
          <a:xfrm>
            <a:off x="479171" y="404178"/>
            <a:ext cx="5016500" cy="430530"/>
          </a:xfrm>
          <a:prstGeom prst="rect">
            <a:avLst/>
          </a:prstGeom>
          <a:noFill/>
          <a:ln>
            <a:noFill/>
          </a:ln>
        </p:spPr>
        <p:txBody>
          <a:bodyPr wrap="none" lIns="0" tIns="0" rIns="0" bIns="0" anchor="t" anchorCtr="0">
            <a:spAutoFit/>
          </a:bodyPr>
          <a:lstStyle/>
          <a:p>
            <a:pPr algn="l"/>
            <a:r>
              <a:rPr sz="2800" b="1">
                <a:solidFill>
                  <a:srgbClr val="0F172A"/>
                </a:solidFill>
                <a:latin typeface="Arial" panose="020B0604020202090204"/>
                <a:ea typeface="Arial" panose="020B0604020202090204"/>
                <a:cs typeface="Arial" panose="020B0604020202090204"/>
                <a:sym typeface="+mn-ea"/>
              </a:rPr>
              <a:t>Text frontend: </a:t>
            </a:r>
            <a:r>
              <a:rPr lang="en-US" sz="2800" b="1">
                <a:solidFill>
                  <a:srgbClr val="0F172A"/>
                </a:solidFill>
                <a:latin typeface="Arial" panose="020B0604020202090204"/>
                <a:ea typeface="Arial" panose="020B0604020202090204"/>
                <a:cs typeface="Arial" panose="020B0604020202090204"/>
                <a:sym typeface="+mn-ea"/>
              </a:rPr>
              <a:t>G2P Strategies</a:t>
            </a:r>
            <a:endParaRPr lang="en-US" sz="2800" b="1">
              <a:solidFill>
                <a:srgbClr val="0F172A"/>
              </a:solidFill>
              <a:latin typeface="Arial" panose="020B0604020202090204"/>
              <a:ea typeface="Arial" panose="020B0604020202090204"/>
              <a:cs typeface="Arial" panose="020B0604020202090204"/>
              <a:sym typeface="+mn-ea"/>
            </a:endParaRPr>
          </a:p>
        </p:txBody>
      </p:sp>
      <p:sp>
        <p:nvSpPr>
          <p:cNvPr id="16" name="文本框 15"/>
          <p:cNvSpPr txBox="1"/>
          <p:nvPr/>
        </p:nvSpPr>
        <p:spPr>
          <a:xfrm>
            <a:off x="551180" y="5716270"/>
            <a:ext cx="8355965" cy="337185"/>
          </a:xfrm>
          <a:prstGeom prst="rect">
            <a:avLst/>
          </a:prstGeom>
          <a:noFill/>
        </p:spPr>
        <p:txBody>
          <a:bodyPr wrap="square" rtlCol="0">
            <a:spAutoFit/>
          </a:bodyPr>
          <a:p>
            <a:r>
              <a:rPr lang="en-US" altLang="zh-CN" sz="1600" i="1" dirty="0">
                <a:solidFill>
                  <a:schemeClr val="dk1"/>
                </a:solidFill>
                <a:latin typeface="Arial" panose="020B0604020202090204" pitchFamily="34" charset="0"/>
                <a:cs typeface="Arial" panose="020B0604020202090204" pitchFamily="34" charset="0"/>
                <a:sym typeface="+mn-ea"/>
              </a:rPr>
              <a:t>The input is a sequence of letters, and the output is a sequence of phonetic symbols.</a:t>
            </a:r>
            <a:endParaRPr lang="en-US" altLang="zh-CN" sz="1600" i="1" dirty="0">
              <a:solidFill>
                <a:schemeClr val="dk1"/>
              </a:solidFill>
              <a:latin typeface="Arial" panose="020B0604020202090204" pitchFamily="34" charset="0"/>
              <a:cs typeface="Arial" panose="020B0604020202090204" pitchFamily="34" charset="0"/>
              <a:sym typeface="+mn-ea"/>
            </a:endParaRPr>
          </a:p>
        </p:txBody>
      </p:sp>
      <p:pic>
        <p:nvPicPr>
          <p:cNvPr id="17" name="图片 16"/>
          <p:cNvPicPr>
            <a:picLocks noChangeAspect="1"/>
          </p:cNvPicPr>
          <p:nvPr/>
        </p:nvPicPr>
        <p:blipFill>
          <a:blip r:embed="rId2"/>
          <a:stretch>
            <a:fillRect/>
          </a:stretch>
        </p:blipFill>
        <p:spPr>
          <a:xfrm>
            <a:off x="7247890" y="981075"/>
            <a:ext cx="4402455" cy="2879725"/>
          </a:xfrm>
          <a:prstGeom prst="rect">
            <a:avLst/>
          </a:prstGeom>
        </p:spPr>
      </p:pic>
      <p:sp>
        <p:nvSpPr>
          <p:cNvPr id="10" name="Page Number"/>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086993"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TEXT FRONTEND          </a:t>
            </a:r>
            <a:endParaRPr lang="en-US" sz="750" dirty="0">
              <a:solidFill>
                <a:srgbClr val="64748B"/>
              </a:solidFill>
              <a:latin typeface="+mn-lt"/>
              <a:ea typeface="+mn-ea"/>
              <a:cs typeface="+mn-cs"/>
            </a:endParaRPr>
          </a:p>
        </p:txBody>
      </p:sp>
      <p:sp>
        <p:nvSpPr>
          <p:cNvPr id="3" name="TextBox 3"/>
          <p:cNvSpPr txBox="1"/>
          <p:nvPr/>
        </p:nvSpPr>
        <p:spPr>
          <a:xfrm>
            <a:off x="501396" y="395923"/>
            <a:ext cx="4759960" cy="430530"/>
          </a:xfrm>
          <a:prstGeom prst="rect">
            <a:avLst/>
          </a:prstGeom>
          <a:noFill/>
          <a:ln>
            <a:noFill/>
          </a:ln>
        </p:spPr>
        <p:txBody>
          <a:bodyPr wrap="none" lIns="0" tIns="0" rIns="0" bIns="0" anchor="t" anchorCtr="0">
            <a:spAutoFit/>
          </a:bodyPr>
          <a:lstStyle/>
          <a:p>
            <a:pPr algn="l"/>
            <a:r>
              <a:rPr sz="2800" b="1">
                <a:solidFill>
                  <a:srgbClr val="0F172A"/>
                </a:solidFill>
                <a:latin typeface="Arial" panose="020B0604020202090204"/>
                <a:ea typeface="Arial" panose="020B0604020202090204"/>
                <a:cs typeface="Arial" panose="020B0604020202090204"/>
              </a:rPr>
              <a:t>Review: </a:t>
            </a:r>
            <a:r>
              <a:rPr lang="en-US" sz="2800" b="1">
                <a:solidFill>
                  <a:srgbClr val="0F172A"/>
                </a:solidFill>
                <a:latin typeface="Arial" panose="020B0604020202090204"/>
                <a:ea typeface="Arial" panose="020B0604020202090204"/>
                <a:cs typeface="Arial" panose="020B0604020202090204"/>
              </a:rPr>
              <a:t>F</a:t>
            </a:r>
            <a:r>
              <a:rPr sz="2800" b="1">
                <a:solidFill>
                  <a:srgbClr val="0F172A"/>
                </a:solidFill>
                <a:latin typeface="Arial" panose="020B0604020202090204"/>
                <a:ea typeface="Arial" panose="020B0604020202090204"/>
                <a:cs typeface="Arial" panose="020B0604020202090204"/>
              </a:rPr>
              <a:t>rontend </a:t>
            </a:r>
            <a:r>
              <a:rPr lang="en-US" sz="2800" b="1">
                <a:solidFill>
                  <a:srgbClr val="0F172A"/>
                </a:solidFill>
                <a:latin typeface="Arial" panose="020B0604020202090204"/>
                <a:ea typeface="Arial" panose="020B0604020202090204"/>
                <a:cs typeface="Arial" panose="020B0604020202090204"/>
              </a:rPr>
              <a:t>D</a:t>
            </a:r>
            <a:r>
              <a:rPr sz="2800" b="1">
                <a:solidFill>
                  <a:srgbClr val="0F172A"/>
                </a:solidFill>
                <a:latin typeface="Arial" panose="020B0604020202090204"/>
                <a:ea typeface="Arial" panose="020B0604020202090204"/>
                <a:cs typeface="Arial" panose="020B0604020202090204"/>
              </a:rPr>
              <a:t>ecisions</a:t>
            </a:r>
            <a:endParaRPr sz="2800" b="1">
              <a:solidFill>
                <a:srgbClr val="0F172A"/>
              </a:solidFill>
              <a:latin typeface="Arial" panose="020B0604020202090204"/>
              <a:ea typeface="Arial" panose="020B0604020202090204"/>
              <a:cs typeface="Arial" panose="020B0604020202090204"/>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sp>
        <p:nvSpPr>
          <p:cNvPr id="5" name="TextBox 5"/>
          <p:cNvSpPr txBox="1"/>
          <p:nvPr/>
        </p:nvSpPr>
        <p:spPr>
          <a:xfrm>
            <a:off x="514223" y="1340168"/>
            <a:ext cx="3926205" cy="368935"/>
          </a:xfrm>
          <a:prstGeom prst="rect">
            <a:avLst/>
          </a:prstGeom>
          <a:noFill/>
          <a:ln>
            <a:noFill/>
          </a:ln>
        </p:spPr>
        <p:txBody>
          <a:bodyPr wrap="none" lIns="0" tIns="0" rIns="0" bIns="0" anchor="t" anchorCtr="0">
            <a:spAutoFit/>
          </a:bodyPr>
          <a:lstStyle/>
          <a:p>
            <a:pPr algn="l"/>
            <a:r>
              <a:rPr sz="2400" b="1">
                <a:solidFill>
                  <a:srgbClr val="1E40AF"/>
                </a:solidFill>
                <a:latin typeface="Arial" panose="020B0604020202090204"/>
                <a:ea typeface="Arial" panose="020B0604020202090204"/>
                <a:cs typeface="Arial" panose="020B0604020202090204"/>
              </a:rPr>
              <a:t>Meaning or pronunciation?</a:t>
            </a:r>
            <a:endParaRPr sz="2400" b="1">
              <a:solidFill>
                <a:srgbClr val="1E40AF"/>
              </a:solidFill>
              <a:latin typeface="Arial" panose="020B0604020202090204"/>
              <a:ea typeface="Arial" panose="020B0604020202090204"/>
              <a:cs typeface="Arial" panose="020B0604020202090204"/>
            </a:endParaRPr>
          </a:p>
        </p:txBody>
      </p:sp>
      <p:sp>
        <p:nvSpPr>
          <p:cNvPr id="6" name="TextBox 6"/>
          <p:cNvSpPr txBox="1"/>
          <p:nvPr/>
        </p:nvSpPr>
        <p:spPr>
          <a:xfrm>
            <a:off x="1127125" y="2239645"/>
            <a:ext cx="4828540" cy="276860"/>
          </a:xfrm>
          <a:prstGeom prst="rect">
            <a:avLst/>
          </a:prstGeom>
          <a:noFill/>
          <a:ln>
            <a:noFill/>
          </a:ln>
        </p:spPr>
        <p:txBody>
          <a:bodyPr wrap="none" lIns="0" tIns="0" rIns="0" bIns="0" anchor="t" anchorCtr="0">
            <a:spAutoFit/>
          </a:bodyPr>
          <a:lstStyle/>
          <a:p>
            <a:pPr algn="l"/>
            <a:r>
              <a:rPr lang="en-US" dirty="0">
                <a:solidFill>
                  <a:schemeClr val="dk1"/>
                </a:solidFill>
                <a:latin typeface="+mn-lt"/>
                <a:ea typeface="+mn-ea"/>
                <a:cs typeface="+mn-cs"/>
              </a:rPr>
              <a:t>1. Why can 21.09 have more than one reading?</a:t>
            </a:r>
            <a:endParaRPr lang="en-US" dirty="0">
              <a:solidFill>
                <a:schemeClr val="dk1"/>
              </a:solidFill>
              <a:latin typeface="+mn-lt"/>
              <a:ea typeface="+mn-ea"/>
              <a:cs typeface="+mn-cs"/>
            </a:endParaRPr>
          </a:p>
        </p:txBody>
      </p:sp>
      <p:sp>
        <p:nvSpPr>
          <p:cNvPr id="7" name="TextBox 7"/>
          <p:cNvSpPr txBox="1"/>
          <p:nvPr/>
        </p:nvSpPr>
        <p:spPr>
          <a:xfrm>
            <a:off x="1127125" y="3230245"/>
            <a:ext cx="6144895" cy="276860"/>
          </a:xfrm>
          <a:prstGeom prst="rect">
            <a:avLst/>
          </a:prstGeom>
          <a:noFill/>
          <a:ln>
            <a:noFill/>
          </a:ln>
        </p:spPr>
        <p:txBody>
          <a:bodyPr wrap="none" lIns="0" tIns="0" rIns="0" bIns="0" anchor="t" anchorCtr="0">
            <a:spAutoFit/>
          </a:bodyPr>
          <a:lstStyle/>
          <a:p>
            <a:pPr algn="l"/>
            <a:r>
              <a:rPr lang="en-US" dirty="0">
                <a:solidFill>
                  <a:schemeClr val="dk1"/>
                </a:solidFill>
                <a:latin typeface="+mn-lt"/>
                <a:ea typeface="+mn-ea"/>
                <a:cs typeface="+mn-cs"/>
              </a:rPr>
              <a:t>2. Which module resolves an unseen name's pronunciation?</a:t>
            </a:r>
            <a:endParaRPr lang="en-US" dirty="0">
              <a:solidFill>
                <a:schemeClr val="dk1"/>
              </a:solidFill>
              <a:latin typeface="+mn-lt"/>
              <a:ea typeface="+mn-ea"/>
              <a:cs typeface="+mn-cs"/>
            </a:endParaRPr>
          </a:p>
        </p:txBody>
      </p:sp>
      <p:sp>
        <p:nvSpPr>
          <p:cNvPr id="8" name="TextBox 8"/>
          <p:cNvSpPr txBox="1"/>
          <p:nvPr/>
        </p:nvSpPr>
        <p:spPr>
          <a:xfrm>
            <a:off x="1127125" y="4220845"/>
            <a:ext cx="7615555" cy="276860"/>
          </a:xfrm>
          <a:prstGeom prst="rect">
            <a:avLst/>
          </a:prstGeom>
          <a:noFill/>
          <a:ln>
            <a:noFill/>
          </a:ln>
        </p:spPr>
        <p:txBody>
          <a:bodyPr wrap="none" lIns="0" tIns="0" rIns="0" bIns="0" anchor="t" anchorCtr="0">
            <a:spAutoFit/>
          </a:bodyPr>
          <a:lstStyle/>
          <a:p>
            <a:pPr algn="l"/>
            <a:r>
              <a:rPr lang="en-US" dirty="0">
                <a:solidFill>
                  <a:schemeClr val="dk1"/>
                </a:solidFill>
                <a:latin typeface="+mn-lt"/>
                <a:ea typeface="+mn-ea"/>
                <a:cs typeface="+mn-cs"/>
              </a:rPr>
              <a:t>3. Why cannot a high-quality vocoder fix an incorrectly expanded number?</a:t>
            </a:r>
            <a:endParaRPr lang="en-US" dirty="0">
              <a:solidFill>
                <a:schemeClr val="dk1"/>
              </a:solidFill>
              <a:latin typeface="+mn-lt"/>
              <a:ea typeface="+mn-ea"/>
              <a:cs typeface="+mn-cs"/>
            </a:endParaRPr>
          </a:p>
        </p:txBody>
      </p:sp>
      <p:sp>
        <p:nvSpPr>
          <p:cNvPr id="9" name="TextBox 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086993"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TEXT FRONTEND          </a:t>
            </a:r>
            <a:endParaRPr lang="en-US" sz="750" dirty="0">
              <a:solidFill>
                <a:srgbClr val="64748B"/>
              </a:solidFill>
              <a:latin typeface="+mn-lt"/>
              <a:ea typeface="+mn-ea"/>
              <a:cs typeface="+mn-cs"/>
            </a:endParaRPr>
          </a:p>
        </p:txBody>
      </p:sp>
      <p:sp>
        <p:nvSpPr>
          <p:cNvPr id="3" name="TextBox 3"/>
          <p:cNvSpPr txBox="1"/>
          <p:nvPr/>
        </p:nvSpPr>
        <p:spPr>
          <a:xfrm>
            <a:off x="501396" y="395923"/>
            <a:ext cx="6774180" cy="430530"/>
          </a:xfrm>
          <a:prstGeom prst="rect">
            <a:avLst/>
          </a:prstGeom>
          <a:noFill/>
          <a:ln>
            <a:noFill/>
          </a:ln>
        </p:spPr>
        <p:txBody>
          <a:bodyPr wrap="none" lIns="0" tIns="0" rIns="0" bIns="0" anchor="t" anchorCtr="0">
            <a:spAutoFit/>
          </a:bodyPr>
          <a:lstStyle/>
          <a:p>
            <a:pPr algn="l">
              <a:buClrTx/>
              <a:buSzTx/>
              <a:buFontTx/>
            </a:pPr>
            <a:r>
              <a:rPr sz="2800" b="1">
                <a:solidFill>
                  <a:srgbClr val="0F172A"/>
                </a:solidFill>
                <a:latin typeface="Arial" panose="020B0604020202090204"/>
                <a:ea typeface="Arial" panose="020B0604020202090204"/>
                <a:cs typeface="Arial" panose="020B0604020202090204"/>
              </a:rPr>
              <a:t>Reference answers: </a:t>
            </a:r>
            <a:r>
              <a:rPr lang="en-US" sz="2800" b="1">
                <a:solidFill>
                  <a:srgbClr val="0F172A"/>
                </a:solidFill>
                <a:latin typeface="Arial" panose="020B0604020202090204"/>
                <a:ea typeface="Arial" panose="020B0604020202090204"/>
                <a:cs typeface="Arial" panose="020B0604020202090204"/>
              </a:rPr>
              <a:t>F</a:t>
            </a:r>
            <a:r>
              <a:rPr sz="2800" b="1">
                <a:solidFill>
                  <a:srgbClr val="0F172A"/>
                </a:solidFill>
                <a:latin typeface="Arial" panose="020B0604020202090204"/>
                <a:ea typeface="Arial" panose="020B0604020202090204"/>
                <a:cs typeface="Arial" panose="020B0604020202090204"/>
              </a:rPr>
              <a:t>rontend</a:t>
            </a:r>
            <a:r>
              <a:rPr lang="en-US" sz="2800" b="1">
                <a:solidFill>
                  <a:srgbClr val="0F172A"/>
                </a:solidFill>
                <a:latin typeface="Arial" panose="020B0604020202090204"/>
                <a:ea typeface="Arial" panose="020B0604020202090204"/>
                <a:cs typeface="Arial" panose="020B0604020202090204"/>
              </a:rPr>
              <a:t> </a:t>
            </a:r>
            <a:r>
              <a:rPr lang="en-US" sz="2800" b="1">
                <a:solidFill>
                  <a:srgbClr val="0F172A"/>
                </a:solidFill>
                <a:latin typeface="Arial" panose="020B0604020202090204"/>
                <a:ea typeface="Arial" panose="020B0604020202090204"/>
                <a:cs typeface="Arial" panose="020B0604020202090204"/>
              </a:rPr>
              <a:t>Decisions</a:t>
            </a:r>
            <a:endParaRPr lang="en-US" sz="2800" b="1">
              <a:solidFill>
                <a:srgbClr val="0F172A"/>
              </a:solidFill>
              <a:latin typeface="Arial" panose="020B0604020202090204"/>
              <a:ea typeface="Arial" panose="020B0604020202090204"/>
              <a:cs typeface="Arial" panose="020B0604020202090204"/>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sp>
        <p:nvSpPr>
          <p:cNvPr id="5" name="TextBox 5"/>
          <p:cNvSpPr txBox="1"/>
          <p:nvPr/>
        </p:nvSpPr>
        <p:spPr>
          <a:xfrm>
            <a:off x="505968" y="1340168"/>
            <a:ext cx="7350125" cy="368935"/>
          </a:xfrm>
          <a:prstGeom prst="rect">
            <a:avLst/>
          </a:prstGeom>
          <a:noFill/>
          <a:ln>
            <a:noFill/>
          </a:ln>
        </p:spPr>
        <p:txBody>
          <a:bodyPr wrap="none" lIns="0" tIns="0" rIns="0" bIns="0" anchor="t" anchorCtr="0">
            <a:spAutoFit/>
          </a:bodyPr>
          <a:lstStyle/>
          <a:p>
            <a:pPr algn="l"/>
            <a:r>
              <a:rPr lang="en-US" altLang="zh-CN" sz="2400" b="1">
                <a:solidFill>
                  <a:srgbClr val="1E40AF"/>
                </a:solidFill>
                <a:latin typeface="Arial" panose="020B0604020202090204"/>
                <a:ea typeface="Arial" panose="020B0604020202090204"/>
                <a:cs typeface="Arial" panose="020B0604020202090204"/>
              </a:rPr>
              <a:t>Correct synthesis starts with correct interpretation</a:t>
            </a:r>
            <a:endParaRPr lang="en-US" altLang="zh-CN" sz="2400" b="1">
              <a:solidFill>
                <a:srgbClr val="1E40AF"/>
              </a:solidFill>
              <a:latin typeface="Arial" panose="020B0604020202090204"/>
              <a:ea typeface="Arial" panose="020B0604020202090204"/>
              <a:cs typeface="Arial" panose="020B0604020202090204"/>
            </a:endParaRPr>
          </a:p>
        </p:txBody>
      </p:sp>
      <p:sp>
        <p:nvSpPr>
          <p:cNvPr id="6" name="TextBox 6"/>
          <p:cNvSpPr txBox="1"/>
          <p:nvPr/>
        </p:nvSpPr>
        <p:spPr>
          <a:xfrm>
            <a:off x="1271270" y="1936115"/>
            <a:ext cx="7586345" cy="830580"/>
          </a:xfrm>
          <a:prstGeom prst="rect">
            <a:avLst/>
          </a:prstGeom>
          <a:noFill/>
          <a:ln>
            <a:noFill/>
          </a:ln>
        </p:spPr>
        <p:txBody>
          <a:bodyPr wrap="none" lIns="0" tIns="0" rIns="0" bIns="0" anchor="t" anchorCtr="0">
            <a:spAutoFit/>
          </a:bodyPr>
          <a:lstStyle/>
          <a:p>
            <a:pPr algn="l"/>
            <a:r>
              <a:rPr lang="en-US" dirty="0">
                <a:solidFill>
                  <a:schemeClr val="dk1"/>
                </a:solidFill>
                <a:latin typeface="+mn-lt"/>
                <a:ea typeface="+mn-ea"/>
                <a:cs typeface="+mn-cs"/>
              </a:rPr>
              <a:t>1. Locale, domain and sentence context distinguish a date from a number.</a:t>
            </a:r>
            <a:endParaRPr lang="en-US" dirty="0">
              <a:solidFill>
                <a:schemeClr val="dk1"/>
              </a:solidFill>
              <a:latin typeface="+mn-lt"/>
              <a:ea typeface="+mn-ea"/>
              <a:cs typeface="+mn-cs"/>
            </a:endParaRPr>
          </a:p>
          <a:p>
            <a:pPr indent="457200" algn="l"/>
            <a:r>
              <a:rPr lang="en-US" dirty="0">
                <a:solidFill>
                  <a:schemeClr val="dk1"/>
                </a:solidFill>
                <a:latin typeface="Arial Regular" panose="020B0604020202090204" charset="0"/>
                <a:ea typeface="+mn-ea"/>
                <a:cs typeface="Arial Regular" panose="020B0604020202090204" charset="0"/>
              </a:rPr>
              <a:t>Date: </a:t>
            </a:r>
            <a:r>
              <a:rPr lang="en-US" altLang="zh-CN" dirty="0">
                <a:solidFill>
                  <a:schemeClr val="dk1"/>
                </a:solidFill>
                <a:latin typeface="Arial Regular" panose="020B0604020202090204" charset="0"/>
                <a:ea typeface="+mn-ea"/>
                <a:cs typeface="Arial Regular" panose="020B0604020202090204" charset="0"/>
              </a:rPr>
              <a:t>"twenty-first of September" or</a:t>
            </a:r>
            <a:r>
              <a:rPr lang="zh-CN" altLang="en-US" dirty="0">
                <a:solidFill>
                  <a:schemeClr val="dk1"/>
                </a:solidFill>
                <a:latin typeface="Arial Regular" panose="020B0604020202090204" charset="0"/>
                <a:ea typeface="+mn-ea"/>
                <a:cs typeface="Arial Regular" panose="020B0604020202090204" charset="0"/>
              </a:rPr>
              <a:t> "</a:t>
            </a:r>
            <a:r>
              <a:rPr lang="en-US" altLang="zh-CN" dirty="0">
                <a:solidFill>
                  <a:schemeClr val="dk1"/>
                </a:solidFill>
                <a:latin typeface="Arial Regular" panose="020B0604020202090204" charset="0"/>
                <a:ea typeface="+mn-ea"/>
                <a:cs typeface="Arial Regular" panose="020B0604020202090204" charset="0"/>
              </a:rPr>
              <a:t>September twenty-first"</a:t>
            </a:r>
            <a:endParaRPr lang="en-US" altLang="zh-CN" dirty="0">
              <a:solidFill>
                <a:schemeClr val="dk1"/>
              </a:solidFill>
              <a:latin typeface="Arial Regular" panose="020B0604020202090204" charset="0"/>
              <a:ea typeface="+mn-ea"/>
              <a:cs typeface="Arial Regular" panose="020B0604020202090204" charset="0"/>
            </a:endParaRPr>
          </a:p>
          <a:p>
            <a:pPr indent="457200" algn="l"/>
            <a:r>
              <a:rPr lang="en-US" altLang="zh-CN" dirty="0">
                <a:solidFill>
                  <a:schemeClr val="dk1"/>
                </a:solidFill>
                <a:latin typeface="Arial Regular" panose="020B0604020202090204" charset="0"/>
                <a:ea typeface="+mn-ea"/>
                <a:cs typeface="Arial Regular" panose="020B0604020202090204" charset="0"/>
              </a:rPr>
              <a:t>Number: "twenty-one point zero nine"</a:t>
            </a:r>
            <a:endParaRPr lang="en-US" altLang="zh-CN" dirty="0">
              <a:solidFill>
                <a:schemeClr val="dk1"/>
              </a:solidFill>
              <a:latin typeface="Arial Regular" panose="020B0604020202090204" charset="0"/>
              <a:ea typeface="+mn-ea"/>
              <a:cs typeface="Arial Regular" panose="020B0604020202090204" charset="0"/>
            </a:endParaRPr>
          </a:p>
        </p:txBody>
      </p:sp>
      <p:sp>
        <p:nvSpPr>
          <p:cNvPr id="7" name="TextBox 7"/>
          <p:cNvSpPr txBox="1"/>
          <p:nvPr/>
        </p:nvSpPr>
        <p:spPr>
          <a:xfrm>
            <a:off x="1271270" y="3228340"/>
            <a:ext cx="9744075" cy="830580"/>
          </a:xfrm>
          <a:prstGeom prst="rect">
            <a:avLst/>
          </a:prstGeom>
          <a:noFill/>
          <a:ln>
            <a:noFill/>
          </a:ln>
        </p:spPr>
        <p:txBody>
          <a:bodyPr wrap="square" lIns="0" tIns="0" rIns="0" bIns="0" anchor="t" anchorCtr="0">
            <a:spAutoFit/>
          </a:bodyPr>
          <a:lstStyle/>
          <a:p>
            <a:pPr algn="l"/>
            <a:r>
              <a:rPr lang="en-US" dirty="0">
                <a:solidFill>
                  <a:schemeClr val="dk1"/>
                </a:solidFill>
                <a:latin typeface="+mn-lt"/>
                <a:ea typeface="+mn-ea"/>
                <a:cs typeface="+mn-cs"/>
              </a:rPr>
              <a:t>2. </a:t>
            </a:r>
            <a:r>
              <a:rPr lang="en-US" altLang="zh-CN" b="1" dirty="0">
                <a:solidFill>
                  <a:schemeClr val="dk1"/>
                </a:solidFill>
                <a:latin typeface="+mn-lt"/>
                <a:ea typeface="+mn-ea"/>
                <a:cs typeface="+mn-cs"/>
              </a:rPr>
              <a:t>G2P (Grapheme-to-Phoneme)</a:t>
            </a:r>
            <a:r>
              <a:rPr lang="en-US" altLang="zh-CN" dirty="0">
                <a:solidFill>
                  <a:schemeClr val="dk1"/>
                </a:solidFill>
                <a:latin typeface="+mn-lt"/>
                <a:ea typeface="+mn-ea"/>
                <a:cs typeface="+mn-cs"/>
              </a:rPr>
              <a:t>. </a:t>
            </a:r>
            <a:endParaRPr lang="en-US" altLang="zh-CN" dirty="0">
              <a:solidFill>
                <a:schemeClr val="dk1"/>
              </a:solidFill>
              <a:latin typeface="+mn-lt"/>
              <a:ea typeface="+mn-ea"/>
              <a:cs typeface="+mn-cs"/>
            </a:endParaRPr>
          </a:p>
          <a:p>
            <a:pPr algn="l"/>
            <a:r>
              <a:rPr lang="en-US" altLang="zh-CN" dirty="0">
                <a:solidFill>
                  <a:schemeClr val="dk1"/>
                </a:solidFill>
                <a:latin typeface="+mn-lt"/>
                <a:ea typeface="+mn-ea"/>
                <a:cs typeface="+mn-cs"/>
              </a:rPr>
              <a:t>It uses a custom lexicon override for hardcoded entries or a neural/learned G2P model as a fallback for OOV (out-of-vocabulary) words.</a:t>
            </a:r>
            <a:endParaRPr lang="en-US" altLang="zh-CN" dirty="0">
              <a:solidFill>
                <a:schemeClr val="dk1"/>
              </a:solidFill>
              <a:latin typeface="+mn-lt"/>
              <a:ea typeface="+mn-ea"/>
              <a:cs typeface="+mn-cs"/>
            </a:endParaRPr>
          </a:p>
        </p:txBody>
      </p:sp>
      <p:sp>
        <p:nvSpPr>
          <p:cNvPr id="8" name="TextBox 8"/>
          <p:cNvSpPr txBox="1"/>
          <p:nvPr/>
        </p:nvSpPr>
        <p:spPr>
          <a:xfrm>
            <a:off x="1271270" y="4592320"/>
            <a:ext cx="8414385" cy="692150"/>
          </a:xfrm>
          <a:prstGeom prst="rect">
            <a:avLst/>
          </a:prstGeom>
          <a:noFill/>
          <a:ln>
            <a:noFill/>
          </a:ln>
        </p:spPr>
        <p:txBody>
          <a:bodyPr wrap="none" lIns="0" tIns="0" rIns="0" bIns="0" anchor="t" anchorCtr="0">
            <a:spAutoFit/>
          </a:bodyPr>
          <a:lstStyle/>
          <a:p>
            <a:pPr algn="l">
              <a:lnSpc>
                <a:spcPts val="2700"/>
              </a:lnSpc>
            </a:pPr>
            <a:r>
              <a:rPr lang="en-US" dirty="0">
                <a:solidFill>
                  <a:schemeClr val="dk1"/>
                </a:solidFill>
                <a:latin typeface="+mn-lt"/>
                <a:ea typeface="+mn-ea"/>
                <a:cs typeface="+mn-cs"/>
              </a:rPr>
              <a:t>3. The vocoder follows acoustic conditioning.</a:t>
            </a:r>
            <a:br>
              <a:rPr lang="en-US" dirty="0">
                <a:solidFill>
                  <a:schemeClr val="dk1"/>
                </a:solidFill>
                <a:latin typeface="+mn-lt"/>
                <a:ea typeface="+mn-ea"/>
                <a:cs typeface="+mn-cs"/>
              </a:rPr>
            </a:br>
            <a:r>
              <a:rPr lang="en-US" dirty="0">
                <a:solidFill>
                  <a:schemeClr val="dk1"/>
                </a:solidFill>
                <a:latin typeface="+mn-lt"/>
                <a:ea typeface="+mn-ea"/>
                <a:cs typeface="+mn-cs"/>
              </a:rPr>
              <a:t>It cannot recover the intended written meaning from incorrectly predicted features.</a:t>
            </a:r>
            <a:endParaRPr lang="en-US" dirty="0">
              <a:solidFill>
                <a:schemeClr val="dk1"/>
              </a:solidFill>
              <a:latin typeface="+mn-lt"/>
              <a:ea typeface="+mn-ea"/>
              <a:cs typeface="+mn-cs"/>
            </a:endParaRPr>
          </a:p>
        </p:txBody>
      </p:sp>
      <p:sp>
        <p:nvSpPr>
          <p:cNvPr id="9" name="TextBox 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3200" b="1" i="0">
                <a:solidFill>
                  <a:srgbClr val="0F172A"/>
                </a:solidFill>
                <a:latin typeface="Arial" panose="020B0604020202090204"/>
                <a:ea typeface="Arial" panose="020B0604020202090204"/>
                <a:cs typeface="Arial" panose="020B0604020202090204"/>
              </a:rPr>
              <a:t>Acoustic Model: </a:t>
            </a:r>
            <a:r>
              <a:rPr sz="3200" b="1" i="0">
                <a:solidFill>
                  <a:srgbClr val="0F172A"/>
                </a:solidFill>
                <a:latin typeface="Arial" panose="020B0604020202090204"/>
                <a:ea typeface="Arial" panose="020B0604020202090204"/>
                <a:cs typeface="Arial" panose="020B0604020202090204"/>
              </a:rPr>
              <a:t>Tacotron 2</a:t>
            </a:r>
            <a:endParaRPr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3" name="图片 12"/>
          <p:cNvPicPr>
            <a:picLocks noChangeAspect="1"/>
          </p:cNvPicPr>
          <p:nvPr/>
        </p:nvPicPr>
        <p:blipFill>
          <a:blip r:embed="rId1"/>
          <a:stretch>
            <a:fillRect/>
          </a:stretch>
        </p:blipFill>
        <p:spPr>
          <a:xfrm>
            <a:off x="6311265" y="1638300"/>
            <a:ext cx="5417185" cy="4174490"/>
          </a:xfrm>
          <a:prstGeom prst="rect">
            <a:avLst/>
          </a:prstGeom>
        </p:spPr>
      </p:pic>
      <p:sp>
        <p:nvSpPr>
          <p:cNvPr id="7" name="矩形 6"/>
          <p:cNvSpPr>
            <a:spLocks noGrp="1"/>
          </p:cNvSpPr>
          <p:nvPr/>
        </p:nvSpPr>
        <p:spPr>
          <a:xfrm>
            <a:off x="533400" y="911860"/>
            <a:ext cx="5562600" cy="540258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1. </a:t>
            </a:r>
            <a:r>
              <a:rPr sz="1600" b="1" i="0">
                <a:solidFill>
                  <a:srgbClr val="334155"/>
                </a:solidFill>
                <a:latin typeface="Arial" panose="020B0604020202090204" pitchFamily="34" charset="0"/>
                <a:ea typeface="Arial" panose="020B0604020202090204"/>
                <a:cs typeface="Arial" panose="020B0604020202090204" pitchFamily="34" charset="0"/>
              </a:rPr>
              <a:t>Text </a:t>
            </a:r>
            <a:r>
              <a:rPr lang="en-US" sz="1600" b="1" i="0">
                <a:solidFill>
                  <a:srgbClr val="334155"/>
                </a:solidFill>
                <a:latin typeface="Arial" panose="020B0604020202090204" pitchFamily="34" charset="0"/>
                <a:ea typeface="Arial" panose="020B0604020202090204"/>
                <a:cs typeface="Arial" panose="020B0604020202090204" pitchFamily="34" charset="0"/>
              </a:rPr>
              <a:t>E</a:t>
            </a:r>
            <a:r>
              <a:rPr sz="1600" b="1" i="0">
                <a:solidFill>
                  <a:srgbClr val="334155"/>
                </a:solidFill>
                <a:latin typeface="Arial" panose="020B0604020202090204" pitchFamily="34" charset="0"/>
                <a:ea typeface="Arial" panose="020B0604020202090204"/>
                <a:cs typeface="Arial" panose="020B0604020202090204" pitchFamily="34" charset="0"/>
              </a:rPr>
              <a:t>ncoder</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400" b="0" i="0">
                <a:solidFill>
                  <a:srgbClr val="334155"/>
                </a:solidFill>
                <a:latin typeface="Arial" panose="020B0604020202090204"/>
                <a:ea typeface="Arial" panose="020B0604020202090204"/>
                <a:cs typeface="Arial" panose="020B0604020202090204"/>
              </a:rPr>
              <a:t>Encoder character/phoneme sequence into rich c</a:t>
            </a:r>
            <a:r>
              <a:rPr sz="1400" b="0" i="0">
                <a:solidFill>
                  <a:srgbClr val="334155"/>
                </a:solidFill>
                <a:latin typeface="Arial" panose="020B0604020202090204"/>
                <a:ea typeface="Arial" panose="020B0604020202090204"/>
                <a:cs typeface="Arial" panose="020B0604020202090204"/>
              </a:rPr>
              <a:t>ontextual representation</a:t>
            </a:r>
            <a:r>
              <a:rPr lang="en-US" sz="1400" b="0" i="0">
                <a:solidFill>
                  <a:srgbClr val="334155"/>
                </a:solidFill>
                <a:latin typeface="Arial" panose="020B0604020202090204"/>
                <a:ea typeface="Arial" panose="020B0604020202090204"/>
                <a:cs typeface="Arial" panose="020B0604020202090204"/>
              </a:rPr>
              <a:t> </a:t>
            </a:r>
            <a:r>
              <a:rPr lang="en-US" sz="1400" b="1" i="0">
                <a:solidFill>
                  <a:srgbClr val="334155"/>
                </a:solidFill>
                <a:latin typeface="Arial" panose="020B0604020202090204" pitchFamily="34" charset="0"/>
                <a:ea typeface="Arial" panose="020B0604020202090204"/>
                <a:cs typeface="Arial" panose="020B0604020202090204" pitchFamily="34" charset="0"/>
              </a:rPr>
              <a:t>via 3 Conv layer + LSTM</a:t>
            </a:r>
            <a:r>
              <a:rPr sz="1400" b="0" i="0">
                <a:solidFill>
                  <a:srgbClr val="334155"/>
                </a:solidFill>
                <a:latin typeface="Arial" panose="020B0604020202090204"/>
                <a:ea typeface="Arial" panose="020B0604020202090204"/>
                <a:cs typeface="Arial" panose="020B0604020202090204"/>
              </a:rPr>
              <a:t>.</a:t>
            </a: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2. </a:t>
            </a:r>
            <a:r>
              <a:rPr sz="1600" b="1" i="0">
                <a:solidFill>
                  <a:srgbClr val="334155"/>
                </a:solidFill>
                <a:latin typeface="Arial" panose="020B0604020202090204" pitchFamily="34" charset="0"/>
                <a:ea typeface="Arial" panose="020B0604020202090204"/>
                <a:cs typeface="Arial" panose="020B0604020202090204" pitchFamily="34" charset="0"/>
              </a:rPr>
              <a:t>Location-sensitive attention</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Aligns text positions with decoder steps,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using cumulative attention weights</a:t>
            </a:r>
            <a:r>
              <a:rPr lang="en-US" altLang="zh-CN" sz="1400" b="0" i="0">
                <a:solidFill>
                  <a:srgbClr val="334155"/>
                </a:solidFill>
                <a:latin typeface="Arial" panose="020B0604020202090204"/>
                <a:ea typeface="Arial" panose="020B0604020202090204"/>
                <a:cs typeface="Arial" panose="020B0604020202090204"/>
              </a:rPr>
              <a:t> to prevent repeating or skipping words.</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sz="1600" b="1">
                <a:latin typeface="Arial" panose="020B0604020202090204" pitchFamily="34" charset="0"/>
                <a:cs typeface="Arial" panose="020B0604020202090204" pitchFamily="34" charset="0"/>
                <a:sym typeface="Lora"/>
              </a:rPr>
              <a:t>3. </a:t>
            </a:r>
            <a:r>
              <a:rPr sz="1600" b="1">
                <a:latin typeface="Arial" panose="020B0604020202090204" pitchFamily="34" charset="0"/>
                <a:cs typeface="Arial" panose="020B0604020202090204" pitchFamily="34" charset="0"/>
                <a:sym typeface="Lora"/>
              </a:rPr>
              <a:t>MelSpectrogram Decoder</a:t>
            </a:r>
            <a:endParaRPr sz="1600" b="1">
              <a:latin typeface="Arial" panose="020B0604020202090204" pitchFamily="34" charset="0"/>
              <a:cs typeface="Arial" panose="020B0604020202090204" pitchFamily="34" charset="0"/>
              <a:sym typeface="Lora"/>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400">
                <a:sym typeface="Lora"/>
              </a:rPr>
              <a:t>Autoregressively predicts Mel-spectrogram frames sequentially using a </a:t>
            </a:r>
            <a:r>
              <a:rPr lang="en-US" altLang="zh-CN" sz="1400" b="1">
                <a:latin typeface="Arial" panose="020B0604020202090204" pitchFamily="34" charset="0"/>
                <a:cs typeface="Arial" panose="020B0604020202090204" pitchFamily="34" charset="0"/>
                <a:sym typeface="Lora"/>
              </a:rPr>
              <a:t>2-layer LSTM</a:t>
            </a:r>
            <a:r>
              <a:rPr lang="en-US" altLang="zh-CN" sz="1400">
                <a:sym typeface="Lora"/>
              </a:rPr>
              <a:t> network.</a:t>
            </a:r>
            <a:endParaRPr lang="en-US" altLang="zh-CN" sz="1400">
              <a:sym typeface="Lora"/>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endParaRPr lang="en-US" altLang="zh-CN" sz="1600">
              <a:sym typeface="Lor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4. </a:t>
            </a:r>
            <a:r>
              <a:rPr sz="1600" b="1" i="0">
                <a:solidFill>
                  <a:srgbClr val="334155"/>
                </a:solidFill>
                <a:latin typeface="Arial" panose="020B0604020202090204" pitchFamily="34" charset="0"/>
                <a:ea typeface="Arial" panose="020B0604020202090204"/>
                <a:cs typeface="Arial" panose="020B0604020202090204" pitchFamily="34" charset="0"/>
              </a:rPr>
              <a:t>Pre-Net</a:t>
            </a:r>
            <a:r>
              <a:rPr lang="en-US" sz="1600" b="1" i="0">
                <a:solidFill>
                  <a:srgbClr val="334155"/>
                </a:solidFill>
                <a:latin typeface="Arial" panose="020B0604020202090204" pitchFamily="34" charset="0"/>
                <a:ea typeface="Arial" panose="020B0604020202090204"/>
                <a:cs typeface="Arial" panose="020B0604020202090204" pitchFamily="34" charset="0"/>
              </a:rPr>
              <a:t> &amp; </a:t>
            </a:r>
            <a:r>
              <a:rPr sz="1600" b="1" i="0">
                <a:solidFill>
                  <a:srgbClr val="334155"/>
                </a:solidFill>
                <a:latin typeface="Arial" panose="020B0604020202090204" pitchFamily="34" charset="0"/>
                <a:ea typeface="Arial" panose="020B0604020202090204"/>
                <a:cs typeface="Arial" panose="020B0604020202090204" pitchFamily="34" charset="0"/>
              </a:rPr>
              <a:t>Post-Net</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Pre-Net:</a:t>
            </a:r>
            <a:r>
              <a:rPr lang="en-US" altLang="zh-CN" sz="1400" i="0">
                <a:solidFill>
                  <a:srgbClr val="334155"/>
                </a:solidFill>
                <a:latin typeface="Arial" panose="020B0604020202090204" pitchFamily="34" charset="0"/>
                <a:ea typeface="Arial" panose="020B0604020202090204"/>
                <a:cs typeface="Arial" panose="020B0604020202090204" pitchFamily="34" charset="0"/>
              </a:rPr>
              <a:t> Acts as an information bottleneck to prevent auto-regressive memory overfitting.   </a:t>
            </a: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Post-Net:</a:t>
            </a:r>
            <a:r>
              <a:rPr lang="en-US" altLang="zh-CN" sz="1400" i="0">
                <a:solidFill>
                  <a:srgbClr val="334155"/>
                </a:solidFill>
                <a:latin typeface="Arial" panose="020B0604020202090204" pitchFamily="34" charset="0"/>
                <a:ea typeface="Arial" panose="020B0604020202090204"/>
                <a:cs typeface="Arial" panose="020B0604020202090204" pitchFamily="34" charset="0"/>
              </a:rPr>
              <a:t> 5-layer CNN that predicts residual features to refine smooth spectograms.</a:t>
            </a: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600" b="1" i="0">
                <a:solidFill>
                  <a:srgbClr val="334155"/>
                </a:solidFill>
                <a:latin typeface="Arial" panose="020B0604020202090204" pitchFamily="34" charset="0"/>
                <a:ea typeface="Arial" panose="020B0604020202090204"/>
                <a:cs typeface="Arial" panose="020B0604020202090204" pitchFamily="34" charset="0"/>
              </a:rPr>
              <a:t>5. Loss Functions (</a:t>
            </a:r>
            <a:r>
              <a:rPr sz="1600" b="1" i="0">
                <a:solidFill>
                  <a:srgbClr val="334155"/>
                </a:solidFill>
                <a:latin typeface="Arial" panose="020B0604020202090204" pitchFamily="34" charset="0"/>
                <a:ea typeface="Arial" panose="020B0604020202090204"/>
                <a:cs typeface="Arial" panose="020B0604020202090204" pitchFamily="34" charset="0"/>
              </a:rPr>
              <a:t>MSE &amp; CE</a:t>
            </a:r>
            <a:r>
              <a:rPr lang="en-US" sz="1600" b="1" i="0">
                <a:solidFill>
                  <a:srgbClr val="334155"/>
                </a:solidFill>
                <a:latin typeface="Arial" panose="020B0604020202090204" pitchFamily="34" charset="0"/>
                <a:ea typeface="Arial" panose="020B0604020202090204"/>
                <a:cs typeface="Arial" panose="020B0604020202090204" pitchFamily="34" charset="0"/>
              </a:rPr>
              <a:t>)</a:t>
            </a:r>
            <a:endParaRPr sz="16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MSE:</a:t>
            </a:r>
            <a:r>
              <a:rPr lang="en-US" altLang="zh-CN" sz="1400" i="0">
                <a:solidFill>
                  <a:srgbClr val="334155"/>
                </a:solidFill>
                <a:latin typeface="Arial" panose="020B0604020202090204" pitchFamily="34" charset="0"/>
                <a:ea typeface="Arial" panose="020B0604020202090204"/>
                <a:cs typeface="Arial" panose="020B0604020202090204" pitchFamily="34" charset="0"/>
              </a:rPr>
              <a:t> Applied before and after Post-Net for Mel-spectrogram reconstruction loss. </a:t>
            </a: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CE:</a:t>
            </a:r>
            <a:r>
              <a:rPr lang="en-US" altLang="zh-CN" sz="1400" i="0">
                <a:solidFill>
                  <a:srgbClr val="334155"/>
                </a:solidFill>
                <a:latin typeface="Arial" panose="020B0604020202090204" pitchFamily="34" charset="0"/>
                <a:ea typeface="Arial" panose="020B0604020202090204"/>
                <a:cs typeface="Arial" panose="020B0604020202090204" pitchFamily="34" charset="0"/>
              </a:rPr>
              <a:t> Predicts the probability of the Stop Token for dynamic sequence termination.  </a:t>
            </a: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3200" b="1" i="0">
                <a:solidFill>
                  <a:srgbClr val="0F172A"/>
                </a:solidFill>
                <a:latin typeface="Arial" panose="020B0604020202090204"/>
                <a:ea typeface="Arial" panose="020B0604020202090204"/>
                <a:cs typeface="Arial" panose="020B0604020202090204"/>
              </a:rPr>
              <a:t>Tacotron 2: </a:t>
            </a:r>
            <a:r>
              <a:rPr sz="3200" b="1" i="0">
                <a:solidFill>
                  <a:srgbClr val="0F172A"/>
                </a:solidFill>
                <a:latin typeface="Arial" panose="020B0604020202090204"/>
                <a:ea typeface="Arial" panose="020B0604020202090204"/>
                <a:cs typeface="Arial" panose="020B0604020202090204"/>
              </a:rPr>
              <a:t>Location-sensitive attention</a:t>
            </a:r>
            <a:r>
              <a:rPr lang="en-US" sz="3200" b="1" i="0">
                <a:solidFill>
                  <a:srgbClr val="0F172A"/>
                </a:solidFill>
                <a:latin typeface="Arial" panose="020B0604020202090204"/>
                <a:ea typeface="Arial" panose="020B0604020202090204"/>
                <a:cs typeface="Arial" panose="020B0604020202090204"/>
              </a:rPr>
              <a:t> (LSA)</a:t>
            </a:r>
            <a:endParaRPr lang="en-US"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5" name="图片 14"/>
          <p:cNvPicPr>
            <a:picLocks noChangeAspect="1"/>
          </p:cNvPicPr>
          <p:nvPr/>
        </p:nvPicPr>
        <p:blipFill>
          <a:blip r:embed="rId1"/>
          <a:stretch>
            <a:fillRect/>
          </a:stretch>
        </p:blipFill>
        <p:spPr>
          <a:xfrm>
            <a:off x="1055370" y="3066415"/>
            <a:ext cx="3895725" cy="852805"/>
          </a:xfrm>
          <a:prstGeom prst="rect">
            <a:avLst/>
          </a:prstGeom>
        </p:spPr>
      </p:pic>
      <p:pic>
        <p:nvPicPr>
          <p:cNvPr id="16" name="图片 15"/>
          <p:cNvPicPr>
            <a:picLocks noChangeAspect="1"/>
          </p:cNvPicPr>
          <p:nvPr/>
        </p:nvPicPr>
        <p:blipFill>
          <a:blip r:embed="rId2"/>
          <a:srcRect t="40461" b="-40461"/>
          <a:stretch>
            <a:fillRect/>
          </a:stretch>
        </p:blipFill>
        <p:spPr>
          <a:xfrm>
            <a:off x="623570" y="2061210"/>
            <a:ext cx="4806315" cy="688975"/>
          </a:xfrm>
          <a:prstGeom prst="rect">
            <a:avLst/>
          </a:prstGeom>
        </p:spPr>
      </p:pic>
      <p:sp>
        <p:nvSpPr>
          <p:cNvPr id="7" name="矩形 6"/>
          <p:cNvSpPr>
            <a:spLocks noGrp="1"/>
          </p:cNvSpPr>
          <p:nvPr/>
        </p:nvSpPr>
        <p:spPr>
          <a:xfrm>
            <a:off x="5467985" y="1892935"/>
            <a:ext cx="4203700" cy="323850"/>
          </a:xfrm>
          <a:prstGeom prst="rect">
            <a:avLst/>
          </a:prstGeom>
          <a:noFill/>
          <a:ln w="0">
            <a:noFill/>
            <a:prstDash val="solid"/>
          </a:ln>
        </p:spPr>
        <p:txBody>
          <a:bodyPr wrap="square" lIns="0" tIns="0" rIns="0" bIns="0" anchor="t">
            <a:noAutofit/>
          </a:bodyPr>
          <a:lstStyle/>
          <a:p>
            <a:pPr algn="ctr">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Dual-Driven Attention Mechanism</a:t>
            </a:r>
            <a:endParaRPr lang="en-US" altLang="zh-CN" sz="1800" b="1" i="0">
              <a:solidFill>
                <a:srgbClr val="1E40AF"/>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899150" y="2613025"/>
            <a:ext cx="5922010" cy="1524000"/>
          </a:xfrm>
          <a:prstGeom prst="rect">
            <a:avLst/>
          </a:prstGeom>
          <a:noFill/>
          <a:ln w="0">
            <a:noFill/>
            <a:prstDash val="solid"/>
          </a:ln>
        </p:spPr>
        <p:txBody>
          <a:bodyPr wrap="square" lIns="0" tIns="0" rIns="0" bIns="0" anchor="t">
            <a:normAutofit lnSpcReduction="20000"/>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25" b="1" i="0">
                <a:solidFill>
                  <a:srgbClr val="334155"/>
                </a:solidFill>
                <a:latin typeface="Arial" panose="020B0604020202090204" pitchFamily="34" charset="0"/>
                <a:ea typeface="Arial" panose="020B0604020202090204"/>
                <a:cs typeface="Arial" panose="020B0604020202090204" pitchFamily="34" charset="0"/>
              </a:rPr>
              <a:t>• Content </a:t>
            </a:r>
            <a:r>
              <a:rPr lang="en-US" sz="1425" b="1" i="0">
                <a:solidFill>
                  <a:srgbClr val="334155"/>
                </a:solidFill>
                <a:latin typeface="Arial" panose="020B0604020202090204" pitchFamily="34" charset="0"/>
                <a:ea typeface="Arial" panose="020B0604020202090204"/>
                <a:cs typeface="Arial" panose="020B0604020202090204" pitchFamily="34" charset="0"/>
              </a:rPr>
              <a:t>Match</a:t>
            </a:r>
            <a:r>
              <a:rPr sz="1425" b="1" i="0">
                <a:solidFill>
                  <a:srgbClr val="334155"/>
                </a:solidFill>
                <a:latin typeface="Arial" panose="020B0604020202090204" pitchFamily="34" charset="0"/>
                <a:ea typeface="Arial" panose="020B0604020202090204"/>
                <a:cs typeface="Arial" panose="020B0604020202090204" pitchFamily="34" charset="0"/>
              </a:rPr>
              <a:t>:</a:t>
            </a:r>
            <a:r>
              <a:rPr sz="1425" b="0" i="0">
                <a:solidFill>
                  <a:srgbClr val="334155"/>
                </a:solidFill>
                <a:latin typeface="Arial" panose="020B0604020202090204"/>
                <a:ea typeface="Arial" panose="020B0604020202090204"/>
                <a:cs typeface="Arial" panose="020B0604020202090204"/>
              </a:rPr>
              <a:t> which phoneme matches this frame?</a:t>
            </a: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25" b="1" i="0">
                <a:solidFill>
                  <a:srgbClr val="334155"/>
                </a:solidFill>
                <a:latin typeface="Arial" panose="020B0604020202090204" pitchFamily="34" charset="0"/>
                <a:ea typeface="Arial" panose="020B0604020202090204"/>
                <a:cs typeface="Arial" panose="020B0604020202090204" pitchFamily="34" charset="0"/>
              </a:rPr>
              <a:t>• Location </a:t>
            </a:r>
            <a:r>
              <a:rPr lang="en-US" sz="1425" b="1" i="0">
                <a:solidFill>
                  <a:srgbClr val="334155"/>
                </a:solidFill>
                <a:latin typeface="Arial" panose="020B0604020202090204" pitchFamily="34" charset="0"/>
                <a:ea typeface="Arial" panose="020B0604020202090204"/>
                <a:cs typeface="Arial" panose="020B0604020202090204" pitchFamily="34" charset="0"/>
              </a:rPr>
              <a:t>Aware</a:t>
            </a:r>
            <a:r>
              <a:rPr sz="1425" b="1" i="0">
                <a:solidFill>
                  <a:srgbClr val="334155"/>
                </a:solidFill>
                <a:latin typeface="Arial" panose="020B0604020202090204" pitchFamily="34" charset="0"/>
                <a:ea typeface="Arial" panose="020B0604020202090204"/>
                <a:cs typeface="Arial" panose="020B0604020202090204" pitchFamily="34" charset="0"/>
              </a:rPr>
              <a:t>: </a:t>
            </a:r>
            <a:r>
              <a:rPr sz="1425" b="0" i="0">
                <a:solidFill>
                  <a:srgbClr val="334155"/>
                </a:solidFill>
                <a:latin typeface="Arial" panose="020B0604020202090204"/>
                <a:ea typeface="Arial" panose="020B0604020202090204"/>
                <a:cs typeface="Arial" panose="020B0604020202090204"/>
              </a:rPr>
              <a:t>which positions have already received attention?</a:t>
            </a: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25" b="1" i="0">
                <a:solidFill>
                  <a:srgbClr val="334155"/>
                </a:solidFill>
                <a:latin typeface="Arial" panose="020B0604020202090204" pitchFamily="34" charset="0"/>
                <a:ea typeface="Arial" panose="020B0604020202090204"/>
                <a:cs typeface="Arial" panose="020B0604020202090204" pitchFamily="34" charset="0"/>
              </a:rPr>
              <a:t>• </a:t>
            </a:r>
            <a:r>
              <a:rPr lang="en-US" sz="1425" b="1" i="0">
                <a:solidFill>
                  <a:srgbClr val="334155"/>
                </a:solidFill>
                <a:latin typeface="Arial" panose="020B0604020202090204" pitchFamily="34" charset="0"/>
                <a:ea typeface="Arial" panose="020B0604020202090204"/>
                <a:cs typeface="Arial" panose="020B0604020202090204" pitchFamily="34" charset="0"/>
              </a:rPr>
              <a:t>Synergy: </a:t>
            </a:r>
            <a:r>
              <a:rPr lang="en-US" altLang="zh-CN" sz="1425" i="0">
                <a:solidFill>
                  <a:srgbClr val="334155"/>
                </a:solidFill>
                <a:latin typeface="Arial" panose="020B0604020202090204" pitchFamily="34" charset="0"/>
                <a:ea typeface="Arial" panose="020B0604020202090204"/>
                <a:cs typeface="Arial" panose="020B0604020202090204" pitchFamily="34" charset="0"/>
              </a:rPr>
              <a:t>Enforces monotonic progression and prevents random attention jumping.</a:t>
            </a:r>
            <a:endParaRPr lang="en-US" altLang="zh-CN" sz="1425" i="0">
              <a:solidFill>
                <a:srgbClr val="334155"/>
              </a:solidFill>
              <a:latin typeface="Arial" panose="020B0604020202090204" pitchFamily="34" charset="0"/>
              <a:ea typeface="Arial" panose="020B0604020202090204"/>
              <a:cs typeface="Arial" panose="020B0604020202090204" pitchFamily="34" charset="0"/>
            </a:endParaRPr>
          </a:p>
        </p:txBody>
      </p:sp>
      <p:sp>
        <p:nvSpPr>
          <p:cNvPr id="9" name="矩形 8"/>
          <p:cNvSpPr>
            <a:spLocks noGrp="1"/>
          </p:cNvSpPr>
          <p:nvPr/>
        </p:nvSpPr>
        <p:spPr>
          <a:xfrm>
            <a:off x="5755005" y="4197350"/>
            <a:ext cx="4286250" cy="323850"/>
          </a:xfrm>
          <a:prstGeom prst="rect">
            <a:avLst/>
          </a:prstGeom>
          <a:noFill/>
          <a:ln w="0">
            <a:noFill/>
            <a:prstDash val="solid"/>
          </a:ln>
        </p:spPr>
        <p:txBody>
          <a:bodyPr wrap="square" lIns="0" tIns="0" rIns="0" bIns="0" anchor="t">
            <a:normAutofit/>
          </a:bodyPr>
          <a:lstStyle/>
          <a:p>
            <a:pPr algn="l">
              <a:lnSpc>
                <a:spcPct val="110000"/>
              </a:lnSpc>
              <a:buNone/>
              <a:defRPr sz="1575" b="1" i="0">
                <a:solidFill>
                  <a:srgbClr val="D97706"/>
                </a:solidFill>
                <a:latin typeface="Arial" panose="020B0604020202090204"/>
                <a:ea typeface="Arial" panose="020B0604020202090204"/>
                <a:cs typeface="Arial" panose="020B0604020202090204"/>
              </a:defRPr>
            </a:pPr>
            <a:r>
              <a:rPr sz="1800" b="1" i="0">
                <a:solidFill>
                  <a:srgbClr val="D97706"/>
                </a:solidFill>
                <a:latin typeface="Arial" panose="020B0604020202090204"/>
                <a:ea typeface="Arial" panose="020B0604020202090204"/>
                <a:cs typeface="Arial" panose="020B0604020202090204"/>
              </a:rPr>
              <a:t>Failure signature</a:t>
            </a:r>
            <a:endParaRPr sz="1800" b="1" i="0">
              <a:solidFill>
                <a:srgbClr val="D97706"/>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5970905" y="4796790"/>
            <a:ext cx="5805805" cy="1459230"/>
          </a:xfrm>
          <a:prstGeom prst="rect">
            <a:avLst/>
          </a:prstGeom>
          <a:noFill/>
          <a:ln w="0">
            <a:noFill/>
            <a:prstDash val="solid"/>
          </a:ln>
        </p:spPr>
        <p:txBody>
          <a:bodyPr wrap="square" lIns="0" tIns="0" rIns="0" bIns="0" anchor="t">
            <a:normAutofit/>
          </a:bodyPr>
          <a:lstStyle/>
          <a:p>
            <a:pPr algn="l">
              <a:lnSpc>
                <a:spcPct val="112000"/>
              </a:lnSpc>
              <a:buClrTx/>
              <a:buSzTx/>
              <a:buFontTx/>
              <a:buNone/>
              <a:defRPr sz="1425" b="0" i="0">
                <a:solidFill>
                  <a:srgbClr val="334155"/>
                </a:solidFill>
                <a:latin typeface="Arial" panose="020B0604020202090204"/>
                <a:ea typeface="Arial" panose="020B0604020202090204"/>
                <a:cs typeface="Arial" panose="020B0604020202090204"/>
              </a:defRPr>
            </a:pPr>
            <a:r>
              <a:rPr b="1">
                <a:latin typeface="Arial" panose="020B0604020202090204" pitchFamily="34" charset="0"/>
                <a:cs typeface="Arial" panose="020B0604020202090204" pitchFamily="34" charset="0"/>
                <a:sym typeface="+mn-ea"/>
              </a:rPr>
              <a:t>• </a:t>
            </a:r>
            <a:r>
              <a:rPr lang="en-US" altLang="zh-CN" sz="1425" b="1" i="0">
                <a:solidFill>
                  <a:srgbClr val="334155"/>
                </a:solidFill>
                <a:latin typeface="Arial" panose="020B0604020202090204" pitchFamily="34" charset="0"/>
                <a:ea typeface="Arial" panose="020B0604020202090204"/>
                <a:cs typeface="Arial" panose="020B0604020202090204" pitchFamily="34" charset="0"/>
              </a:rPr>
              <a:t>Word Repetitions:</a:t>
            </a:r>
            <a:r>
              <a:rPr lang="en-US" altLang="zh-CN" sz="1425" b="0" i="0">
                <a:solidFill>
                  <a:srgbClr val="334155"/>
                </a:solidFill>
                <a:latin typeface="Arial" panose="020B0604020202090204" pitchFamily="34" charset="0"/>
                <a:ea typeface="Arial" panose="020B0604020202090204"/>
                <a:cs typeface="Arial" panose="020B0604020202090204" pitchFamily="34" charset="0"/>
              </a:rPr>
              <a:t> Model gets stuck in a loop at position j. </a:t>
            </a:r>
            <a:endParaRPr lang="en-US" altLang="zh-CN" sz="1425" b="0"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ClrTx/>
              <a:buSzTx/>
              <a:buFontTx/>
              <a:buNone/>
              <a:defRPr sz="1425" b="0" i="0">
                <a:solidFill>
                  <a:srgbClr val="334155"/>
                </a:solidFill>
                <a:latin typeface="Arial" panose="020B0604020202090204"/>
                <a:ea typeface="Arial" panose="020B0604020202090204"/>
                <a:cs typeface="Arial" panose="020B0604020202090204"/>
              </a:defRPr>
            </a:pPr>
            <a:endParaRPr lang="en-US" altLang="zh-CN" sz="1425" b="0"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ClrTx/>
              <a:buSzTx/>
              <a:buFontTx/>
              <a:buNone/>
              <a:defRPr sz="1425" b="0" i="0">
                <a:solidFill>
                  <a:srgbClr val="334155"/>
                </a:solidFill>
                <a:latin typeface="Arial" panose="020B0604020202090204"/>
                <a:ea typeface="Arial" panose="020B0604020202090204"/>
                <a:cs typeface="Arial" panose="020B0604020202090204"/>
              </a:defRPr>
            </a:pPr>
            <a:r>
              <a:rPr b="1">
                <a:latin typeface="Arial" panose="020B0604020202090204" pitchFamily="34" charset="0"/>
                <a:cs typeface="Arial" panose="020B0604020202090204" pitchFamily="34" charset="0"/>
                <a:sym typeface="+mn-ea"/>
              </a:rPr>
              <a:t>• </a:t>
            </a:r>
            <a:r>
              <a:rPr lang="en-US" b="1">
                <a:latin typeface="Arial" panose="020B0604020202090204" pitchFamily="34" charset="0"/>
                <a:cs typeface="Arial" panose="020B0604020202090204" pitchFamily="34" charset="0"/>
                <a:sym typeface="+mn-ea"/>
              </a:rPr>
              <a:t>Word </a:t>
            </a:r>
            <a:r>
              <a:rPr lang="en-US" altLang="zh-CN" sz="1425" b="1" i="0">
                <a:solidFill>
                  <a:srgbClr val="334155"/>
                </a:solidFill>
                <a:latin typeface="Arial" panose="020B0604020202090204" pitchFamily="34" charset="0"/>
                <a:ea typeface="Arial" panose="020B0604020202090204"/>
                <a:cs typeface="Arial" panose="020B0604020202090204" pitchFamily="34" charset="0"/>
              </a:rPr>
              <a:t>Skips</a:t>
            </a:r>
            <a:r>
              <a:rPr lang="en-US" altLang="zh-CN" sz="1425" b="1" i="0">
                <a:solidFill>
                  <a:srgbClr val="334155"/>
                </a:solidFill>
                <a:latin typeface="Arial" panose="020B0604020202090204" pitchFamily="34" charset="0"/>
                <a:ea typeface="Arial" panose="020B0604020202090204"/>
                <a:cs typeface="Arial" panose="020B0604020202090204" pitchFamily="34" charset="0"/>
              </a:rPr>
              <a:t>: </a:t>
            </a:r>
            <a:r>
              <a:rPr lang="en-US" altLang="zh-CN" sz="1425" b="0" i="0">
                <a:solidFill>
                  <a:srgbClr val="334155"/>
                </a:solidFill>
                <a:latin typeface="Arial" panose="020B0604020202090204" pitchFamily="34" charset="0"/>
                <a:ea typeface="Arial" panose="020B0604020202090204"/>
                <a:cs typeface="Arial" panose="020B0604020202090204" pitchFamily="34" charset="0"/>
              </a:rPr>
              <a:t>Attention jumps forward prematurely.   </a:t>
            </a:r>
            <a:endParaRPr lang="en-US" altLang="zh-CN" sz="1425" b="0"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ClrTx/>
              <a:buSzTx/>
              <a:buFontTx/>
              <a:buNone/>
              <a:defRPr sz="1425" b="0" i="0">
                <a:solidFill>
                  <a:srgbClr val="334155"/>
                </a:solidFill>
                <a:latin typeface="Arial" panose="020B0604020202090204"/>
                <a:ea typeface="Arial" panose="020B0604020202090204"/>
                <a:cs typeface="Arial" panose="020B0604020202090204"/>
              </a:defRPr>
            </a:pP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ClrTx/>
              <a:buSzTx/>
              <a:buFontTx/>
              <a:buNone/>
              <a:defRPr sz="1425" b="0" i="0">
                <a:solidFill>
                  <a:srgbClr val="334155"/>
                </a:solidFill>
                <a:latin typeface="Arial" panose="020B0604020202090204"/>
                <a:ea typeface="Arial" panose="020B0604020202090204"/>
                <a:cs typeface="Arial" panose="020B0604020202090204"/>
              </a:defRPr>
            </a:pPr>
            <a:r>
              <a:rPr b="1">
                <a:latin typeface="Arial" panose="020B0604020202090204" pitchFamily="34" charset="0"/>
                <a:cs typeface="Arial" panose="020B0604020202090204" pitchFamily="34" charset="0"/>
                <a:sym typeface="+mn-ea"/>
              </a:rPr>
              <a:t>• </a:t>
            </a:r>
            <a:r>
              <a:rPr lang="en-US" altLang="zh-CN" sz="1425" b="1" i="0">
                <a:solidFill>
                  <a:srgbClr val="334155"/>
                </a:solidFill>
                <a:latin typeface="Arial" panose="020B0604020202090204" pitchFamily="34" charset="0"/>
                <a:ea typeface="Arial" panose="020B0604020202090204"/>
                <a:cs typeface="Arial" panose="020B0604020202090204" pitchFamily="34" charset="0"/>
              </a:rPr>
              <a:t>Endless Generation:</a:t>
            </a:r>
            <a:r>
              <a:rPr lang="en-US" altLang="zh-CN" sz="1425" b="0" i="0">
                <a:solidFill>
                  <a:srgbClr val="334155"/>
                </a:solidFill>
                <a:latin typeface="Arial" panose="020B0604020202090204" pitchFamily="34" charset="0"/>
                <a:ea typeface="Arial" panose="020B0604020202090204"/>
                <a:cs typeface="Arial" panose="020B0604020202090204" pitchFamily="34" charset="0"/>
              </a:rPr>
              <a:t> Model fails to trigger the Stop Token. </a:t>
            </a:r>
            <a:r>
              <a:rPr lang="en-US" altLang="zh-CN" sz="1600" b="0" i="0">
                <a:solidFill>
                  <a:srgbClr val="334155"/>
                </a:solidFill>
                <a:latin typeface="Arial" panose="020B0604020202090204"/>
                <a:ea typeface="Arial" panose="020B0604020202090204"/>
                <a:cs typeface="Arial" panose="020B0604020202090204"/>
              </a:rPr>
              <a:t>  </a:t>
            </a:r>
            <a:endParaRPr lang="en-US" altLang="zh-CN" sz="1600" b="0" i="0">
              <a:solidFill>
                <a:srgbClr val="334155"/>
              </a:solidFill>
              <a:latin typeface="Arial" panose="020B0604020202090204"/>
              <a:ea typeface="Arial" panose="020B0604020202090204"/>
              <a:cs typeface="Arial" panose="020B0604020202090204"/>
            </a:endParaRPr>
          </a:p>
        </p:txBody>
      </p:sp>
      <p:sp>
        <p:nvSpPr>
          <p:cNvPr id="5" name="文本框 4"/>
          <p:cNvSpPr txBox="1"/>
          <p:nvPr/>
        </p:nvSpPr>
        <p:spPr>
          <a:xfrm>
            <a:off x="838200" y="1168400"/>
            <a:ext cx="4064000" cy="398780"/>
          </a:xfrm>
          <a:prstGeom prst="rect">
            <a:avLst/>
          </a:prstGeom>
          <a:noFill/>
        </p:spPr>
        <p:txBody>
          <a:bodyPr wrap="square" rtlCol="0">
            <a:spAutoFit/>
          </a:bodyPr>
          <a:p>
            <a:pPr algn="ctr"/>
            <a:r>
              <a:rPr lang="en-US" altLang="en-US" sz="2000" b="1" u="sng">
                <a:solidFill>
                  <a:schemeClr val="accent1"/>
                </a:solidFill>
                <a:latin typeface="Arial" panose="020B0604020202090204" pitchFamily="34" charset="0"/>
                <a:ea typeface="Lora"/>
                <a:cs typeface="Arial" panose="020B0604020202090204" pitchFamily="34" charset="0"/>
                <a:sym typeface="Lora"/>
              </a:rPr>
              <a:t>Mathematical Formulation</a:t>
            </a:r>
            <a:endParaRPr lang="en-US" altLang="en-US" sz="2000" b="1" u="sng">
              <a:solidFill>
                <a:schemeClr val="accent1"/>
              </a:solidFill>
              <a:latin typeface="Arial" panose="020B0604020202090204" pitchFamily="34" charset="0"/>
              <a:ea typeface="Lora"/>
              <a:cs typeface="Arial" panose="020B0604020202090204" pitchFamily="34" charset="0"/>
              <a:sym typeface="Lora"/>
            </a:endParaRPr>
          </a:p>
        </p:txBody>
      </p:sp>
      <p:pic>
        <p:nvPicPr>
          <p:cNvPr id="6" name="图片 5"/>
          <p:cNvPicPr>
            <a:picLocks noChangeAspect="1"/>
          </p:cNvPicPr>
          <p:nvPr/>
        </p:nvPicPr>
        <p:blipFill>
          <a:blip r:embed="rId2"/>
          <a:srcRect r="62545" b="54358"/>
          <a:stretch>
            <a:fillRect/>
          </a:stretch>
        </p:blipFill>
        <p:spPr>
          <a:xfrm>
            <a:off x="2130425" y="4647565"/>
            <a:ext cx="1800225" cy="295910"/>
          </a:xfrm>
          <a:prstGeom prst="rect">
            <a:avLst/>
          </a:prstGeom>
        </p:spPr>
      </p:pic>
      <p:sp>
        <p:nvSpPr>
          <p:cNvPr id="12" name="文本框 11"/>
          <p:cNvSpPr txBox="1"/>
          <p:nvPr/>
        </p:nvSpPr>
        <p:spPr>
          <a:xfrm>
            <a:off x="711200" y="5347335"/>
            <a:ext cx="4192270" cy="737235"/>
          </a:xfrm>
          <a:prstGeom prst="rect">
            <a:avLst/>
          </a:prstGeom>
          <a:noFill/>
        </p:spPr>
        <p:txBody>
          <a:bodyPr wrap="square" rtlCol="0">
            <a:spAutoFit/>
          </a:bodyPr>
          <a:p>
            <a:r>
              <a:rPr sz="1400" b="1">
                <a:solidFill>
                  <a:srgbClr val="334155"/>
                </a:solidFill>
                <a:latin typeface="Arial Regular" panose="020B0604020202090204" charset="0"/>
                <a:ea typeface="Arial" panose="020B0604020202090204"/>
                <a:cs typeface="Arial Regular" panose="020B0604020202090204" charset="0"/>
                <a:sym typeface="+mn-ea"/>
              </a:rPr>
              <a:t>• </a:t>
            </a:r>
            <a:r>
              <a:rPr lang="en-US" altLang="zh-CN" sz="1400">
                <a:latin typeface="Arial Regular" panose="020B0604020202090204" charset="0"/>
                <a:cs typeface="Arial Regular" panose="020B0604020202090204" charset="0"/>
              </a:rPr>
              <a:t>s</a:t>
            </a:r>
            <a:r>
              <a:rPr lang="en-US" altLang="zh-CN" sz="1400" baseline="-25000">
                <a:latin typeface="Arial Regular" panose="020B0604020202090204" charset="0"/>
                <a:cs typeface="Arial Regular" panose="020B0604020202090204" charset="0"/>
              </a:rPr>
              <a:t>i-1</a:t>
            </a:r>
            <a:r>
              <a:rPr lang="en-US" altLang="zh-CN" sz="1400">
                <a:latin typeface="Arial Regular" panose="020B0604020202090204" charset="0"/>
                <a:cs typeface="Arial Regular" panose="020B0604020202090204" charset="0"/>
              </a:rPr>
              <a:t>: Previous decoder state (Acoustic context)   </a:t>
            </a:r>
            <a:endParaRPr lang="en-US" altLang="zh-CN" sz="1400">
              <a:latin typeface="Arial Regular" panose="020B0604020202090204" charset="0"/>
              <a:cs typeface="Arial Regular" panose="020B0604020202090204" charset="0"/>
            </a:endParaRPr>
          </a:p>
          <a:p>
            <a:r>
              <a:rPr sz="1400" b="1">
                <a:solidFill>
                  <a:srgbClr val="334155"/>
                </a:solidFill>
                <a:latin typeface="Arial Regular" panose="020B0604020202090204" charset="0"/>
                <a:ea typeface="Arial" panose="020B0604020202090204"/>
                <a:cs typeface="Arial Regular" panose="020B0604020202090204" charset="0"/>
                <a:sym typeface="+mn-ea"/>
              </a:rPr>
              <a:t>• </a:t>
            </a:r>
            <a:r>
              <a:rPr lang="en-US" altLang="zh-CN" sz="1400">
                <a:latin typeface="Arial Regular" panose="020B0604020202090204" charset="0"/>
                <a:cs typeface="Arial Regular" panose="020B0604020202090204" charset="0"/>
              </a:rPr>
              <a:t>h</a:t>
            </a:r>
            <a:r>
              <a:rPr lang="en-US" altLang="zh-CN" sz="1400" baseline="-25000">
                <a:latin typeface="Arial Regular" panose="020B0604020202090204" charset="0"/>
                <a:cs typeface="Arial Regular" panose="020B0604020202090204" charset="0"/>
              </a:rPr>
              <a:t>j</a:t>
            </a:r>
            <a:r>
              <a:rPr lang="en-US" altLang="zh-CN" sz="1400">
                <a:latin typeface="Arial Regular" panose="020B0604020202090204" charset="0"/>
                <a:cs typeface="Arial Regular" panose="020B0604020202090204" charset="0"/>
              </a:rPr>
              <a:t>: Encoder output at position j (Text content)   </a:t>
            </a:r>
            <a:endParaRPr lang="en-US" altLang="zh-CN" sz="1400">
              <a:latin typeface="Arial Regular" panose="020B0604020202090204" charset="0"/>
              <a:cs typeface="Arial Regular" panose="020B0604020202090204" charset="0"/>
            </a:endParaRPr>
          </a:p>
          <a:p>
            <a:r>
              <a:rPr sz="1400" b="1">
                <a:solidFill>
                  <a:srgbClr val="334155"/>
                </a:solidFill>
                <a:latin typeface="Arial Regular" panose="020B0604020202090204" charset="0"/>
                <a:ea typeface="Arial" panose="020B0604020202090204"/>
                <a:cs typeface="Arial Regular" panose="020B0604020202090204" charset="0"/>
                <a:sym typeface="+mn-ea"/>
              </a:rPr>
              <a:t>• </a:t>
            </a:r>
            <a:r>
              <a:rPr lang="en-US" altLang="zh-CN" sz="1400">
                <a:latin typeface="Arial Regular" panose="020B0604020202090204" charset="0"/>
                <a:cs typeface="Arial Regular" panose="020B0604020202090204" charset="0"/>
              </a:rPr>
              <a:t>f</a:t>
            </a:r>
            <a:r>
              <a:rPr lang="en-US" altLang="zh-CN" sz="1400" baseline="-25000">
                <a:latin typeface="Arial Regular" panose="020B0604020202090204" charset="0"/>
                <a:cs typeface="Arial Regular" panose="020B0604020202090204" charset="0"/>
              </a:rPr>
              <a:t>i,j</a:t>
            </a:r>
            <a:r>
              <a:rPr lang="en-US" altLang="zh-CN" sz="1400">
                <a:latin typeface="Arial Regular" panose="020B0604020202090204" charset="0"/>
                <a:cs typeface="Arial Regular" panose="020B0604020202090204" charset="0"/>
              </a:rPr>
              <a:t>: Accumulated location feature from 1D conv F</a:t>
            </a:r>
            <a:endParaRPr lang="en-US" altLang="zh-CN" sz="1400">
              <a:latin typeface="Arial Regular" panose="020B0604020202090204" charset="0"/>
              <a:cs typeface="Arial Regular" panose="020B0604020202090204" charset="0"/>
            </a:endParaRPr>
          </a:p>
        </p:txBody>
      </p:sp>
      <p:sp>
        <p:nvSpPr>
          <p:cNvPr id="13" name="文本框 12"/>
          <p:cNvSpPr txBox="1"/>
          <p:nvPr/>
        </p:nvSpPr>
        <p:spPr>
          <a:xfrm>
            <a:off x="6418580" y="1151890"/>
            <a:ext cx="4064000" cy="398780"/>
          </a:xfrm>
          <a:prstGeom prst="rect">
            <a:avLst/>
          </a:prstGeom>
          <a:noFill/>
        </p:spPr>
        <p:txBody>
          <a:bodyPr wrap="square" rtlCol="0">
            <a:spAutoFit/>
          </a:bodyPr>
          <a:p>
            <a:pPr algn="ctr"/>
            <a:r>
              <a:rPr lang="en-US" altLang="en-US" sz="2000" b="1" u="sng">
                <a:solidFill>
                  <a:schemeClr val="accent1"/>
                </a:solidFill>
                <a:latin typeface="Arial" panose="020B0604020202090204" pitchFamily="34" charset="0"/>
                <a:ea typeface="Lora"/>
                <a:cs typeface="Arial" panose="020B0604020202090204" pitchFamily="34" charset="0"/>
                <a:sym typeface="+mn-ea"/>
              </a:rPr>
              <a:t>Mechanism &amp; Failure Modes</a:t>
            </a:r>
            <a:endParaRPr lang="en-US" altLang="en-US" sz="2000" b="1" u="sng">
              <a:solidFill>
                <a:schemeClr val="accent1"/>
              </a:solidFill>
              <a:latin typeface="Arial" panose="020B0604020202090204" pitchFamily="34" charset="0"/>
              <a:ea typeface="Lora"/>
              <a:cs typeface="Arial" panose="020B0604020202090204" pitchFamily="3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161669"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ACOUSTIC MODEL          </a:t>
            </a:r>
            <a:endParaRPr lang="en-US" sz="750" dirty="0">
              <a:solidFill>
                <a:srgbClr val="64748B"/>
              </a:solidFill>
              <a:latin typeface="+mn-lt"/>
              <a:ea typeface="+mn-ea"/>
              <a:cs typeface="+mn-cs"/>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grpSp>
        <p:nvGrpSpPr>
          <p:cNvPr id="9" name="Group 9"/>
          <p:cNvGrpSpPr/>
          <p:nvPr/>
        </p:nvGrpSpPr>
        <p:grpSpPr>
          <a:xfrm>
            <a:off x="514350" y="1979930"/>
            <a:ext cx="8858250" cy="3543300"/>
            <a:chOff x="514350" y="2266950"/>
            <a:chExt cx="8858250" cy="3543300"/>
          </a:xfrm>
        </p:grpSpPr>
        <p:pic>
          <p:nvPicPr>
            <p:cNvPr id="8" name="Image 8"/>
            <p:cNvPicPr>
              <a:picLocks noChangeAspect="1"/>
            </p:cNvPicPr>
            <p:nvPr/>
          </p:nvPicPr>
          <p:blipFill>
            <a:blip r:embed="rId1"/>
            <a:stretch>
              <a:fillRect/>
            </a:stretch>
          </p:blipFill>
          <p:spPr>
            <a:xfrm>
              <a:off x="514350" y="2266950"/>
              <a:ext cx="8858250" cy="3543300"/>
            </a:xfrm>
            <a:prstGeom prst="rect">
              <a:avLst/>
            </a:prstGeom>
          </p:spPr>
        </p:pic>
      </p:grpSp>
      <p:grpSp>
        <p:nvGrpSpPr>
          <p:cNvPr id="13" name="Group 13"/>
          <p:cNvGrpSpPr/>
          <p:nvPr/>
        </p:nvGrpSpPr>
        <p:grpSpPr>
          <a:xfrm>
            <a:off x="9611868" y="2584132"/>
            <a:ext cx="1941195" cy="2594897"/>
            <a:chOff x="9611868" y="2584132"/>
            <a:chExt cx="1941195" cy="2594897"/>
          </a:xfrm>
        </p:grpSpPr>
        <p:sp>
          <p:nvSpPr>
            <p:cNvPr id="10" name="TextBox 10"/>
            <p:cNvSpPr txBox="1"/>
            <p:nvPr/>
          </p:nvSpPr>
          <p:spPr>
            <a:xfrm>
              <a:off x="9611868" y="2584132"/>
              <a:ext cx="1483995" cy="557530"/>
            </a:xfrm>
            <a:prstGeom prst="rect">
              <a:avLst/>
            </a:prstGeom>
            <a:noFill/>
            <a:ln>
              <a:noFill/>
            </a:ln>
          </p:spPr>
          <p:txBody>
            <a:bodyPr wrap="square" lIns="0" tIns="0" rIns="0" bIns="0" anchor="t" anchorCtr="0">
              <a:spAutoFit/>
            </a:bodyPr>
            <a:lstStyle/>
            <a:p>
              <a:pPr algn="l">
                <a:lnSpc>
                  <a:spcPts val="2175"/>
                </a:lnSpc>
              </a:pPr>
              <a:r>
                <a:rPr lang="en-US" sz="1650" dirty="0">
                  <a:solidFill>
                    <a:schemeClr val="accent1"/>
                  </a:solidFill>
                  <a:latin typeface="+mn-lt"/>
                  <a:ea typeface="+mn-ea"/>
                  <a:cs typeface="+mn-cs"/>
                </a:rPr>
                <a:t>One score per</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text position</a:t>
              </a:r>
              <a:endParaRPr lang="en-US" sz="1650" dirty="0">
                <a:solidFill>
                  <a:schemeClr val="accent1"/>
                </a:solidFill>
                <a:latin typeface="+mn-lt"/>
                <a:ea typeface="+mn-ea"/>
                <a:cs typeface="+mn-cs"/>
              </a:endParaRPr>
            </a:p>
          </p:txBody>
        </p:sp>
        <p:sp>
          <p:nvSpPr>
            <p:cNvPr id="11" name="TextBox 11"/>
            <p:cNvSpPr txBox="1"/>
            <p:nvPr/>
          </p:nvSpPr>
          <p:spPr>
            <a:xfrm>
              <a:off x="9613773" y="3319939"/>
              <a:ext cx="1939290" cy="935165"/>
            </a:xfrm>
            <a:prstGeom prst="rect">
              <a:avLst/>
            </a:prstGeom>
            <a:noFill/>
            <a:ln>
              <a:noFill/>
            </a:ln>
          </p:spPr>
          <p:txBody>
            <a:bodyPr wrap="none" lIns="0" tIns="0" rIns="0" bIns="0" anchor="t" anchorCtr="0">
              <a:spAutoFit/>
            </a:bodyPr>
            <a:lstStyle/>
            <a:p>
              <a:pPr algn="l">
                <a:lnSpc>
                  <a:spcPts val="1800"/>
                </a:lnSpc>
              </a:pPr>
              <a:r>
                <a:rPr lang="en-US" sz="1280" dirty="0">
                  <a:solidFill>
                    <a:schemeClr val="dk1"/>
                  </a:solidFill>
                  <a:latin typeface="+mn-lt"/>
                  <a:ea typeface="+mn-ea"/>
                  <a:cs typeface="+mn-cs"/>
                </a:rPr>
                <a:t>Decoder query,</a:t>
              </a:r>
              <a:br>
                <a:rPr lang="en-US" sz="1280" dirty="0">
                  <a:solidFill>
                    <a:schemeClr val="dk1"/>
                  </a:solidFill>
                  <a:latin typeface="+mn-lt"/>
                  <a:ea typeface="+mn-ea"/>
                  <a:cs typeface="+mn-cs"/>
                </a:rPr>
              </a:br>
              <a:r>
                <a:rPr lang="en-US" sz="1280" dirty="0">
                  <a:solidFill>
                    <a:schemeClr val="dk1"/>
                  </a:solidFill>
                  <a:latin typeface="+mn-lt"/>
                  <a:ea typeface="+mn-ea"/>
                  <a:cs typeface="+mn-cs"/>
                </a:rPr>
                <a:t>location features and</a:t>
              </a:r>
              <a:br>
                <a:rPr lang="en-US" sz="1280" dirty="0">
                  <a:solidFill>
                    <a:schemeClr val="dk1"/>
                  </a:solidFill>
                  <a:latin typeface="+mn-lt"/>
                  <a:ea typeface="+mn-ea"/>
                  <a:cs typeface="+mn-cs"/>
                </a:rPr>
              </a:br>
              <a:r>
                <a:rPr lang="en-US" sz="1280" dirty="0">
                  <a:solidFill>
                    <a:schemeClr val="dk1"/>
                  </a:solidFill>
                  <a:latin typeface="+mn-lt"/>
                  <a:ea typeface="+mn-ea"/>
                  <a:cs typeface="+mn-cs"/>
                </a:rPr>
                <a:t>encoder memory</a:t>
              </a:r>
              <a:br>
                <a:rPr lang="en-US" sz="1280" dirty="0">
                  <a:solidFill>
                    <a:schemeClr val="dk1"/>
                  </a:solidFill>
                  <a:latin typeface="+mn-lt"/>
                  <a:ea typeface="+mn-ea"/>
                  <a:cs typeface="+mn-cs"/>
                </a:rPr>
              </a:br>
              <a:r>
                <a:rPr lang="en-US" sz="1280" dirty="0">
                  <a:solidFill>
                    <a:schemeClr val="dk1"/>
                  </a:solidFill>
                  <a:latin typeface="+mn-lt"/>
                  <a:ea typeface="+mn-ea"/>
                  <a:cs typeface="+mn-cs"/>
                </a:rPr>
                <a:t>combine before scoring.</a:t>
              </a:r>
              <a:endParaRPr lang="en-US" sz="1280" dirty="0">
                <a:solidFill>
                  <a:schemeClr val="dk1"/>
                </a:solidFill>
                <a:latin typeface="+mn-lt"/>
                <a:ea typeface="+mn-ea"/>
                <a:cs typeface="+mn-cs"/>
              </a:endParaRPr>
            </a:p>
          </p:txBody>
        </p:sp>
        <p:sp>
          <p:nvSpPr>
            <p:cNvPr id="12" name="TextBox 12"/>
            <p:cNvSpPr txBox="1"/>
            <p:nvPr/>
          </p:nvSpPr>
          <p:spPr>
            <a:xfrm>
              <a:off x="9613773" y="4472464"/>
              <a:ext cx="1484122" cy="706565"/>
            </a:xfrm>
            <a:prstGeom prst="rect">
              <a:avLst/>
            </a:prstGeom>
            <a:noFill/>
            <a:ln>
              <a:noFill/>
            </a:ln>
          </p:spPr>
          <p:txBody>
            <a:bodyPr wrap="none" lIns="0" tIns="0" rIns="0" bIns="0" anchor="t" anchorCtr="0">
              <a:spAutoFit/>
            </a:bodyPr>
            <a:lstStyle/>
            <a:p>
              <a:pPr algn="l">
                <a:lnSpc>
                  <a:spcPts val="1800"/>
                </a:lnSpc>
              </a:pPr>
              <a:r>
                <a:rPr lang="en-US" sz="1280" dirty="0">
                  <a:solidFill>
                    <a:schemeClr val="accent2"/>
                  </a:solidFill>
                  <a:latin typeface="+mn-lt"/>
                  <a:ea typeface="+mn-ea"/>
                  <a:cs typeface="+mn-cs"/>
                </a:rPr>
                <a:t>Energies: [B, N]</a:t>
              </a:r>
              <a:br>
                <a:rPr lang="en-US" sz="1280" dirty="0">
                  <a:solidFill>
                    <a:schemeClr val="accent2"/>
                  </a:solidFill>
                  <a:latin typeface="+mn-lt"/>
                  <a:ea typeface="+mn-ea"/>
                  <a:cs typeface="+mn-cs"/>
                </a:rPr>
              </a:br>
              <a:r>
                <a:rPr lang="en-US" sz="1280" dirty="0">
                  <a:solidFill>
                    <a:schemeClr val="accent2"/>
                  </a:solidFill>
                  <a:latin typeface="+mn-lt"/>
                  <a:ea typeface="+mn-ea"/>
                  <a:cs typeface="+mn-cs"/>
                </a:rPr>
                <a:t>Softmax follows in</a:t>
              </a:r>
              <a:br>
                <a:rPr lang="en-US" sz="1280" dirty="0">
                  <a:solidFill>
                    <a:schemeClr val="accent2"/>
                  </a:solidFill>
                  <a:latin typeface="+mn-lt"/>
                  <a:ea typeface="+mn-ea"/>
                  <a:cs typeface="+mn-cs"/>
                </a:rPr>
              </a:br>
              <a:r>
                <a:rPr lang="en-US" sz="1280" dirty="0">
                  <a:solidFill>
                    <a:schemeClr val="accent2"/>
                  </a:solidFill>
                  <a:latin typeface="+mn-lt"/>
                  <a:ea typeface="+mn-ea"/>
                  <a:cs typeface="+mn-cs"/>
                </a:rPr>
                <a:t>the calling path.</a:t>
              </a:r>
              <a:endParaRPr lang="en-US" sz="1280" dirty="0">
                <a:solidFill>
                  <a:schemeClr val="accent2"/>
                </a:solidFill>
                <a:latin typeface="+mn-lt"/>
                <a:ea typeface="+mn-ea"/>
                <a:cs typeface="+mn-cs"/>
              </a:endParaRPr>
            </a:p>
          </p:txBody>
        </p:sp>
      </p:grpSp>
      <p:sp>
        <p:nvSpPr>
          <p:cNvPr id="14" name="TextBox 14"/>
          <p:cNvSpPr txBox="1"/>
          <p:nvPr/>
        </p:nvSpPr>
        <p:spPr>
          <a:xfrm>
            <a:off x="507873" y="5891689"/>
            <a:ext cx="7143646" cy="249364"/>
          </a:xfrm>
          <a:prstGeom prst="rect">
            <a:avLst/>
          </a:prstGeom>
          <a:noFill/>
          <a:ln>
            <a:noFill/>
          </a:ln>
        </p:spPr>
        <p:txBody>
          <a:bodyPr wrap="none" lIns="0" tIns="0" rIns="0" bIns="0" anchor="t" anchorCtr="0">
            <a:spAutoFit/>
          </a:bodyPr>
          <a:lstStyle/>
          <a:p>
            <a:pPr algn="l"/>
            <a:r>
              <a:rPr lang="en-US" sz="1280" dirty="0">
                <a:solidFill>
                  <a:schemeClr val="accent3"/>
                </a:solidFill>
                <a:latin typeface="+mn-lt"/>
                <a:ea typeface="+mn-ea"/>
                <a:cs typeface="+mn-cs"/>
              </a:rPr>
              <a:t>Location sensitivity supplies position information, not a hard monotonic constraint.</a:t>
            </a:r>
            <a:endParaRPr lang="en-US" sz="1280" dirty="0">
              <a:solidFill>
                <a:schemeClr val="accent3"/>
              </a:solidFill>
              <a:latin typeface="+mn-lt"/>
              <a:ea typeface="+mn-ea"/>
              <a:cs typeface="+mn-cs"/>
            </a:endParaRPr>
          </a:p>
        </p:txBody>
      </p:sp>
      <p:sp>
        <p:nvSpPr>
          <p:cNvPr id="15" name="TextBox 15"/>
          <p:cNvSpPr txBox="1"/>
          <p:nvPr/>
        </p:nvSpPr>
        <p:spPr>
          <a:xfrm>
            <a:off x="509588" y="6141720"/>
            <a:ext cx="5602254"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NVIDIA Corporation · NVIDIA/tacotron2 · BSD-3-Clause · model.py L57-63 · commit 185cd24e04</a:t>
            </a:r>
            <a:endParaRPr lang="en-US" sz="900" dirty="0">
              <a:solidFill>
                <a:srgbClr val="64748B"/>
              </a:solidFill>
              <a:latin typeface="+mn-lt"/>
              <a:ea typeface="+mn-ea"/>
              <a:cs typeface="+mn-cs"/>
            </a:endParaRPr>
          </a:p>
        </p:txBody>
      </p:sp>
      <p:sp>
        <p:nvSpPr>
          <p:cNvPr id="16" name="TextBox 16"/>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3200" b="1" i="0">
                <a:solidFill>
                  <a:srgbClr val="0F172A"/>
                </a:solidFill>
                <a:latin typeface="Arial" panose="020B0604020202090204"/>
                <a:ea typeface="Arial" panose="020B0604020202090204"/>
                <a:cs typeface="Arial" panose="020B0604020202090204"/>
              </a:rPr>
              <a:t>Tacotron 2: LSA Code Implementation</a:t>
            </a:r>
            <a:endParaRPr lang="en-US" sz="3200" b="1" i="0">
              <a:solidFill>
                <a:srgbClr val="0F172A"/>
              </a:solidFill>
              <a:latin typeface="Arial" panose="020B0604020202090204"/>
              <a:ea typeface="Arial" panose="020B0604020202090204"/>
              <a:cs typeface="Arial" panose="020B0604020202090204"/>
            </a:endParaRPr>
          </a:p>
        </p:txBody>
      </p:sp>
      <p:pic>
        <p:nvPicPr>
          <p:cNvPr id="3" name="图片 2"/>
          <p:cNvPicPr>
            <a:picLocks noChangeAspect="1"/>
          </p:cNvPicPr>
          <p:nvPr/>
        </p:nvPicPr>
        <p:blipFill>
          <a:blip r:embed="rId2"/>
          <a:srcRect t="40461" b="-40461"/>
          <a:stretch>
            <a:fillRect/>
          </a:stretch>
        </p:blipFill>
        <p:spPr>
          <a:xfrm>
            <a:off x="2351405" y="1090295"/>
            <a:ext cx="6582410" cy="9436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3200" b="1" i="0">
                <a:solidFill>
                  <a:srgbClr val="0F172A"/>
                </a:solidFill>
                <a:latin typeface="Arial" panose="020B0604020202090204"/>
                <a:ea typeface="Arial" panose="020B0604020202090204"/>
                <a:cs typeface="Arial" panose="020B0604020202090204"/>
              </a:rPr>
              <a:t>Tacotron 2: </a:t>
            </a:r>
            <a:r>
              <a:rPr sz="3200" b="1" i="0">
                <a:solidFill>
                  <a:srgbClr val="0F172A"/>
                </a:solidFill>
                <a:latin typeface="Arial" panose="020B0604020202090204"/>
                <a:ea typeface="Arial" panose="020B0604020202090204"/>
                <a:cs typeface="Arial" panose="020B0604020202090204"/>
              </a:rPr>
              <a:t>Pre-Net </a:t>
            </a:r>
            <a:r>
              <a:rPr lang="en-US" sz="3200" b="1" i="0">
                <a:solidFill>
                  <a:srgbClr val="0F172A"/>
                </a:solidFill>
                <a:latin typeface="Arial" panose="020B0604020202090204"/>
                <a:ea typeface="Arial" panose="020B0604020202090204"/>
                <a:cs typeface="Arial" panose="020B0604020202090204"/>
              </a:rPr>
              <a:t>&amp;</a:t>
            </a:r>
            <a:r>
              <a:rPr sz="3200" b="1" i="0">
                <a:solidFill>
                  <a:srgbClr val="0F172A"/>
                </a:solidFill>
                <a:latin typeface="Arial" panose="020B0604020202090204"/>
                <a:ea typeface="Arial" panose="020B0604020202090204"/>
                <a:cs typeface="Arial" panose="020B0604020202090204"/>
              </a:rPr>
              <a:t> Post-Net</a:t>
            </a:r>
            <a:endParaRPr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389890" y="1124585"/>
            <a:ext cx="446214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Pre-Net</a:t>
            </a:r>
            <a:r>
              <a:rPr lang="en-US" sz="2000" b="1" i="0">
                <a:solidFill>
                  <a:srgbClr val="1E40AF"/>
                </a:solidFill>
                <a:latin typeface="Arial" panose="020B0604020202090204"/>
                <a:ea typeface="Arial" panose="020B0604020202090204"/>
                <a:cs typeface="Arial" panose="020B0604020202090204"/>
              </a:rPr>
              <a:t> (Information Bottleneck)</a:t>
            </a:r>
            <a:endParaRPr sz="2000">
              <a:latin typeface="Lora"/>
              <a:ea typeface="Lora"/>
              <a:cs typeface="Lora"/>
              <a:sym typeface="Lora"/>
            </a:endParaRPr>
          </a:p>
          <a:p>
            <a:pPr algn="l">
              <a:lnSpc>
                <a:spcPct val="110000"/>
              </a:lnSpc>
              <a:buNone/>
              <a:defRPr sz="1650" b="1" i="0">
                <a:solidFill>
                  <a:srgbClr val="1E40AF"/>
                </a:solidFill>
                <a:latin typeface="Arial" panose="020B0604020202090204"/>
                <a:ea typeface="Arial" panose="020B0604020202090204"/>
                <a:cs typeface="Arial" panose="020B0604020202090204"/>
              </a:defRPr>
            </a:pPr>
            <a:endParaRPr lang="en-US" sz="20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14350" y="1504950"/>
            <a:ext cx="5807075" cy="1974215"/>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a:latin typeface="Arial" panose="020B0604020202090204" pitchFamily="34" charset="0"/>
                <a:cs typeface="Arial" panose="020B0604020202090204" pitchFamily="34" charset="0"/>
                <a:sym typeface="+mn-ea"/>
              </a:rPr>
              <a:t>Structure:</a:t>
            </a:r>
            <a:r>
              <a:rPr lang="en-US" altLang="zh-CN" sz="1200">
                <a:sym typeface="+mn-ea"/>
              </a:rPr>
              <a:t> 2 FC layers (256 units) with ReLU &amp; </a:t>
            </a:r>
            <a:r>
              <a:rPr lang="en-US" altLang="zh-CN" sz="1200" b="1">
                <a:latin typeface="Arial" panose="020B0604020202090204" pitchFamily="34" charset="0"/>
                <a:cs typeface="Arial" panose="020B0604020202090204" pitchFamily="34" charset="0"/>
                <a:sym typeface="+mn-ea"/>
              </a:rPr>
              <a:t>Dropout (p=0.5).</a:t>
            </a:r>
            <a:r>
              <a:rPr lang="en-US" altLang="zh-CN" sz="1200">
                <a:sym typeface="+mn-ea"/>
              </a:rPr>
              <a:t> </a:t>
            </a:r>
            <a:endParaRPr lang="en-US" altLang="zh-CN" sz="1200">
              <a:sym typeface="+mn-e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200">
              <a:sym typeface="+mn-e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a:latin typeface="Arial" panose="020B0604020202090204" pitchFamily="34" charset="0"/>
                <a:cs typeface="Arial" panose="020B0604020202090204" pitchFamily="34" charset="0"/>
                <a:sym typeface="+mn-ea"/>
              </a:rPr>
              <a:t>Input:</a:t>
            </a:r>
            <a:r>
              <a:rPr lang="en-US" altLang="zh-CN" sz="1200">
                <a:sym typeface="+mn-ea"/>
              </a:rPr>
              <a:t> Previous Mel-spectrogram frame.</a:t>
            </a:r>
            <a:endParaRPr lang="en-US" altLang="zh-CN" sz="1200">
              <a:sym typeface="+mn-e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200">
              <a:sym typeface="+mn-e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a:latin typeface="Arial" panose="020B0604020202090204" pitchFamily="34" charset="0"/>
                <a:cs typeface="Arial" panose="020B0604020202090204" pitchFamily="34" charset="0"/>
                <a:sym typeface="+mn-ea"/>
              </a:rPr>
              <a:t>Core Role:</a:t>
            </a:r>
            <a:endParaRPr lang="en-US" altLang="zh-CN" sz="1200" b="1">
              <a:latin typeface="Arial" panose="020B0604020202090204" pitchFamily="34" charset="0"/>
              <a:cs typeface="Arial" panose="020B0604020202090204" pitchFamily="34" charset="0"/>
              <a:sym typeface="+mn-ea"/>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200">
                <a:sym typeface="+mn-ea"/>
              </a:rPr>
              <a:t>Acts as an </a:t>
            </a:r>
            <a:r>
              <a:rPr lang="en-US" altLang="zh-CN" sz="1200" b="1">
                <a:latin typeface="Arial" panose="020B0604020202090204" pitchFamily="34" charset="0"/>
                <a:cs typeface="Arial" panose="020B0604020202090204" pitchFamily="34" charset="0"/>
                <a:sym typeface="+mn-ea"/>
              </a:rPr>
              <a:t>information bottleneck</a:t>
            </a:r>
            <a:r>
              <a:rPr lang="en-US" altLang="zh-CN" sz="1200">
                <a:sym typeface="+mn-ea"/>
              </a:rPr>
              <a:t> to prevent the autoregressive decoder from merely memorizing the previous frame.   </a:t>
            </a:r>
            <a:endParaRPr lang="en-US" altLang="zh-CN" sz="1200">
              <a:sym typeface="+mn-ea"/>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200">
                <a:sym typeface="+mn-ea"/>
              </a:rPr>
              <a:t>Reduces over-reliance on historical speech frames, forcing attention to rely on text representations.</a:t>
            </a:r>
            <a:endParaRPr lang="en-US" altLang="zh-CN" sz="1200">
              <a:sym typeface="+mn-ea"/>
            </a:endParaRPr>
          </a:p>
        </p:txBody>
      </p:sp>
      <p:sp>
        <p:nvSpPr>
          <p:cNvPr id="7" name="矩形 6"/>
          <p:cNvSpPr>
            <a:spLocks noGrp="1"/>
          </p:cNvSpPr>
          <p:nvPr/>
        </p:nvSpPr>
        <p:spPr>
          <a:xfrm>
            <a:off x="335915" y="3519170"/>
            <a:ext cx="4516755" cy="354330"/>
          </a:xfrm>
          <a:prstGeom prst="rect">
            <a:avLst/>
          </a:prstGeom>
          <a:noFill/>
          <a:ln w="0">
            <a:noFill/>
            <a:prstDash val="solid"/>
          </a:ln>
        </p:spPr>
        <p:txBody>
          <a:bodyPr wrap="square" lIns="0" tIns="0" rIns="0" bIns="0" anchor="t"/>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2000" b="1" i="0">
                <a:solidFill>
                  <a:srgbClr val="059669"/>
                </a:solidFill>
                <a:latin typeface="Arial" panose="020B0604020202090204"/>
                <a:ea typeface="Arial" panose="020B0604020202090204"/>
                <a:cs typeface="Arial" panose="020B0604020202090204"/>
              </a:rPr>
              <a:t>Post-Net</a:t>
            </a:r>
            <a:r>
              <a:rPr lang="en-US" sz="2000" b="1" i="0">
                <a:solidFill>
                  <a:srgbClr val="059669"/>
                </a:solidFill>
                <a:latin typeface="Arial" panose="020B0604020202090204"/>
                <a:ea typeface="Arial" panose="020B0604020202090204"/>
                <a:cs typeface="Arial" panose="020B0604020202090204"/>
              </a:rPr>
              <a:t> </a:t>
            </a:r>
            <a:r>
              <a:rPr lang="en-US" altLang="zh-CN" sz="2000" b="1" i="0">
                <a:solidFill>
                  <a:srgbClr val="059669"/>
                </a:solidFill>
                <a:latin typeface="Arial" panose="020B0604020202090204"/>
                <a:ea typeface="Arial" panose="020B0604020202090204"/>
                <a:cs typeface="Arial" panose="020B0604020202090204"/>
              </a:rPr>
              <a:t>(Spectrogram Refinement)</a:t>
            </a:r>
            <a:endParaRPr lang="en-US" altLang="zh-CN" sz="2000" b="1" i="0">
              <a:solidFill>
                <a:srgbClr val="05966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479425" y="3917315"/>
            <a:ext cx="5854700" cy="226695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i="0">
                <a:solidFill>
                  <a:srgbClr val="334155"/>
                </a:solidFill>
                <a:latin typeface="Arial" panose="020B0604020202090204" pitchFamily="34" charset="0"/>
                <a:ea typeface="Arial" panose="020B0604020202090204"/>
                <a:cs typeface="Arial" panose="020B0604020202090204" pitchFamily="34" charset="0"/>
              </a:rPr>
              <a:t>Structure: </a:t>
            </a:r>
            <a:r>
              <a:rPr lang="en-US" altLang="zh-CN" sz="1200" b="0" i="0">
                <a:solidFill>
                  <a:srgbClr val="334155"/>
                </a:solidFill>
                <a:latin typeface="Arial" panose="020B0604020202090204"/>
                <a:ea typeface="Arial" panose="020B0604020202090204"/>
                <a:cs typeface="Arial" panose="020B0604020202090204"/>
              </a:rPr>
              <a:t>5 1D Conv layers (Batch Normalization + Tanh).   </a:t>
            </a:r>
            <a:endParaRPr lang="en-US" altLang="zh-CN" sz="12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2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i="0">
                <a:solidFill>
                  <a:srgbClr val="334155"/>
                </a:solidFill>
                <a:latin typeface="Arial" panose="020B0604020202090204" pitchFamily="34" charset="0"/>
                <a:ea typeface="Arial" panose="020B0604020202090204"/>
                <a:cs typeface="Arial" panose="020B0604020202090204" pitchFamily="34" charset="0"/>
              </a:rPr>
              <a:t>Input:</a:t>
            </a:r>
            <a:r>
              <a:rPr lang="en-US" altLang="zh-CN" sz="1200" b="0" i="0">
                <a:solidFill>
                  <a:srgbClr val="334155"/>
                </a:solidFill>
                <a:latin typeface="Arial" panose="020B0604020202090204"/>
                <a:ea typeface="Arial" panose="020B0604020202090204"/>
                <a:cs typeface="Arial" panose="020B0604020202090204"/>
              </a:rPr>
              <a:t> Coarse Mel-spectrogram from linear projection.   </a:t>
            </a:r>
            <a:endParaRPr lang="en-US" altLang="zh-CN" sz="12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200" b="1"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200" b="1" i="0">
                <a:solidFill>
                  <a:srgbClr val="334155"/>
                </a:solidFill>
                <a:latin typeface="Arial" panose="020B0604020202090204" pitchFamily="34" charset="0"/>
                <a:ea typeface="Arial" panose="020B0604020202090204"/>
                <a:cs typeface="Arial" panose="020B0604020202090204" pitchFamily="34" charset="0"/>
              </a:rPr>
              <a:t>Core Role:</a:t>
            </a:r>
            <a:endParaRPr lang="en-US" altLang="zh-CN" sz="12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200" b="0" i="0">
                <a:solidFill>
                  <a:srgbClr val="334155"/>
                </a:solidFill>
                <a:latin typeface="Arial" panose="020B0604020202090204"/>
                <a:ea typeface="Arial" panose="020B0604020202090204"/>
                <a:cs typeface="Arial" panose="020B0604020202090204"/>
              </a:rPr>
              <a:t>Predicts a </a:t>
            </a:r>
            <a:r>
              <a:rPr lang="en-US" altLang="zh-CN" sz="1200" b="1" i="0">
                <a:solidFill>
                  <a:srgbClr val="334155"/>
                </a:solidFill>
                <a:latin typeface="Arial" panose="020B0604020202090204" pitchFamily="34" charset="0"/>
                <a:ea typeface="Arial" panose="020B0604020202090204"/>
                <a:cs typeface="Arial" panose="020B0604020202090204" pitchFamily="34" charset="0"/>
              </a:rPr>
              <a:t>residual signal</a:t>
            </a:r>
            <a:r>
              <a:rPr lang="en-US" altLang="zh-CN" sz="1200" b="0" i="0">
                <a:solidFill>
                  <a:srgbClr val="334155"/>
                </a:solidFill>
                <a:latin typeface="Arial" panose="020B0604020202090204"/>
                <a:ea typeface="Arial" panose="020B0604020202090204"/>
                <a:cs typeface="Arial" panose="020B0604020202090204"/>
              </a:rPr>
              <a:t> to add to the coarse 				</a:t>
            </a:r>
            <a:r>
              <a:rPr lang="en-US" altLang="zh-CN" sz="1200" b="1" i="0">
                <a:solidFill>
                  <a:srgbClr val="334155"/>
                </a:solidFill>
                <a:latin typeface="Arial" panose="020B0604020202090204" pitchFamily="34" charset="0"/>
                <a:ea typeface="Arial" panose="020B0604020202090204"/>
                <a:cs typeface="Arial" panose="020B0604020202090204" pitchFamily="34" charset="0"/>
              </a:rPr>
              <a:t>Mel prediction:</a:t>
            </a:r>
            <a:r>
              <a:rPr lang="en-US" altLang="zh-CN" sz="1200" i="0">
                <a:solidFill>
                  <a:srgbClr val="334155"/>
                </a:solidFill>
                <a:latin typeface="Arial" panose="020B0604020202090204" pitchFamily="34" charset="0"/>
                <a:ea typeface="Arial" panose="020B0604020202090204"/>
                <a:cs typeface="Arial" panose="020B0604020202090204" pitchFamily="34" charset="0"/>
              </a:rPr>
              <a:t> </a:t>
            </a:r>
            <a:r>
              <a:rPr lang="en-US" altLang="zh-CN" sz="1200" i="1">
                <a:solidFill>
                  <a:srgbClr val="334155"/>
                </a:solidFill>
                <a:latin typeface="Arial" panose="020B0604020202090204" pitchFamily="34" charset="0"/>
                <a:ea typeface="Arial" panose="020B0604020202090204"/>
                <a:cs typeface="Arial" panose="020B0604020202090204" pitchFamily="34" charset="0"/>
              </a:rPr>
              <a:t>Mel </a:t>
            </a:r>
            <a:r>
              <a:rPr lang="en-US" altLang="zh-CN" sz="1200" i="1" baseline="-25000">
                <a:solidFill>
                  <a:srgbClr val="334155"/>
                </a:solidFill>
                <a:latin typeface="Arial" panose="020B0604020202090204" pitchFamily="34" charset="0"/>
                <a:ea typeface="Arial" panose="020B0604020202090204"/>
                <a:cs typeface="Arial" panose="020B0604020202090204" pitchFamily="34" charset="0"/>
              </a:rPr>
              <a:t>final</a:t>
            </a:r>
            <a:r>
              <a:rPr lang="en-US" altLang="zh-CN" sz="1200" i="1">
                <a:solidFill>
                  <a:srgbClr val="334155"/>
                </a:solidFill>
                <a:latin typeface="Arial" panose="020B0604020202090204" pitchFamily="34" charset="0"/>
                <a:ea typeface="Arial" panose="020B0604020202090204"/>
                <a:cs typeface="Arial" panose="020B0604020202090204" pitchFamily="34" charset="0"/>
              </a:rPr>
              <a:t> = Mel </a:t>
            </a:r>
            <a:r>
              <a:rPr lang="en-US" altLang="zh-CN" sz="1200" i="1" baseline="-25000">
                <a:solidFill>
                  <a:srgbClr val="334155"/>
                </a:solidFill>
                <a:latin typeface="Arial" panose="020B0604020202090204" pitchFamily="34" charset="0"/>
                <a:ea typeface="Arial" panose="020B0604020202090204"/>
                <a:cs typeface="Arial" panose="020B0604020202090204" pitchFamily="34" charset="0"/>
              </a:rPr>
              <a:t>coarse</a:t>
            </a:r>
            <a:r>
              <a:rPr lang="en-US" altLang="zh-CN" sz="1200" i="1">
                <a:solidFill>
                  <a:srgbClr val="334155"/>
                </a:solidFill>
                <a:latin typeface="Arial" panose="020B0604020202090204" pitchFamily="34" charset="0"/>
                <a:ea typeface="Arial" panose="020B0604020202090204"/>
                <a:cs typeface="Arial" panose="020B0604020202090204" pitchFamily="34" charset="0"/>
              </a:rPr>
              <a:t> + Post-Net(Mel</a:t>
            </a:r>
            <a:r>
              <a:rPr lang="en-US" altLang="zh-CN" sz="1200" i="1" baseline="-25000">
                <a:solidFill>
                  <a:srgbClr val="334155"/>
                </a:solidFill>
                <a:latin typeface="Arial" panose="020B0604020202090204" pitchFamily="34" charset="0"/>
                <a:ea typeface="Arial" panose="020B0604020202090204"/>
                <a:cs typeface="Arial" panose="020B0604020202090204" pitchFamily="34" charset="0"/>
              </a:rPr>
              <a:t>coarse</a:t>
            </a:r>
            <a:r>
              <a:rPr lang="en-US" altLang="zh-CN" sz="1200" i="1">
                <a:solidFill>
                  <a:srgbClr val="334155"/>
                </a:solidFill>
                <a:latin typeface="Arial" panose="020B0604020202090204" pitchFamily="34" charset="0"/>
                <a:ea typeface="Arial" panose="020B0604020202090204"/>
                <a:cs typeface="Arial" panose="020B0604020202090204" pitchFamily="34" charset="0"/>
              </a:rPr>
              <a:t>)</a:t>
            </a:r>
            <a:r>
              <a:rPr lang="en-US" altLang="zh-CN" sz="1200" i="0">
                <a:solidFill>
                  <a:srgbClr val="334155"/>
                </a:solidFill>
                <a:latin typeface="Arial" panose="020B0604020202090204" pitchFamily="34" charset="0"/>
                <a:ea typeface="Arial" panose="020B0604020202090204"/>
                <a:cs typeface="Arial" panose="020B0604020202090204" pitchFamily="34" charset="0"/>
              </a:rPr>
              <a:t>  </a:t>
            </a:r>
            <a:endParaRPr lang="en-US" altLang="zh-CN" sz="12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200" b="0" i="0">
                <a:solidFill>
                  <a:srgbClr val="334155"/>
                </a:solidFill>
                <a:latin typeface="Arial" panose="020B0604020202090204"/>
                <a:ea typeface="Arial" panose="020B0604020202090204"/>
                <a:cs typeface="Arial" panose="020B0604020202090204"/>
              </a:rPr>
              <a:t>Sharpens local time-frequency details and smooths synthesis artifacts.   </a:t>
            </a:r>
            <a:endParaRPr lang="en-US" altLang="zh-CN" sz="12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200" b="1" i="0">
                <a:solidFill>
                  <a:srgbClr val="334155"/>
                </a:solidFill>
                <a:latin typeface="Arial" panose="020B0604020202090204" pitchFamily="34" charset="0"/>
                <a:ea typeface="Arial" panose="020B0604020202090204"/>
                <a:cs typeface="Arial" panose="020B0604020202090204" pitchFamily="34" charset="0"/>
              </a:rPr>
              <a:t>Supervision:</a:t>
            </a:r>
            <a:r>
              <a:rPr lang="en-US" altLang="zh-CN" sz="1200" b="0" i="0">
                <a:solidFill>
                  <a:srgbClr val="334155"/>
                </a:solidFill>
                <a:latin typeface="Arial" panose="020B0604020202090204"/>
                <a:ea typeface="Arial" panose="020B0604020202090204"/>
                <a:cs typeface="Arial" panose="020B0604020202090204"/>
              </a:rPr>
              <a:t> Both coarse and refined Mels are optimized using </a:t>
            </a:r>
            <a:r>
              <a:rPr lang="en-US" altLang="zh-CN" sz="1200" b="1" i="0">
                <a:solidFill>
                  <a:srgbClr val="334155"/>
                </a:solidFill>
                <a:latin typeface="Arial" panose="020B0604020202090204" pitchFamily="34" charset="0"/>
                <a:ea typeface="Arial" panose="020B0604020202090204"/>
                <a:cs typeface="Arial" panose="020B0604020202090204" pitchFamily="34" charset="0"/>
              </a:rPr>
              <a:t>MSE Loss. </a:t>
            </a:r>
            <a:endParaRPr lang="en-US" altLang="zh-CN" sz="1200" b="1" i="0">
              <a:solidFill>
                <a:srgbClr val="334155"/>
              </a:solidFill>
              <a:latin typeface="Arial" panose="020B0604020202090204" pitchFamily="34" charset="0"/>
              <a:ea typeface="Arial" panose="020B0604020202090204"/>
              <a:cs typeface="Arial" panose="020B0604020202090204" pitchFamily="34" charset="0"/>
            </a:endParaRPr>
          </a:p>
        </p:txBody>
      </p:sp>
      <p:pic>
        <p:nvPicPr>
          <p:cNvPr id="18" name="图片 17"/>
          <p:cNvPicPr>
            <a:picLocks noChangeAspect="1"/>
          </p:cNvPicPr>
          <p:nvPr/>
        </p:nvPicPr>
        <p:blipFill>
          <a:blip r:embed="rId1"/>
          <a:stretch>
            <a:fillRect/>
          </a:stretch>
        </p:blipFill>
        <p:spPr>
          <a:xfrm>
            <a:off x="6527800" y="1613535"/>
            <a:ext cx="5304155" cy="40874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矩形 11"/>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0">
                <a:solidFill>
                  <a:srgbClr val="0F172A"/>
                </a:solidFill>
                <a:latin typeface="Arial" panose="020B0604020202090204"/>
                <a:ea typeface="Arial" panose="020B0604020202090204"/>
                <a:cs typeface="Arial" panose="020B0604020202090204"/>
              </a:rPr>
              <a:t>Tacotron 2 : </a:t>
            </a:r>
            <a:r>
              <a:rPr lang="en-US" sz="2800" b="1" i="0">
                <a:solidFill>
                  <a:srgbClr val="0F172A"/>
                </a:solidFill>
                <a:latin typeface="Arial" panose="020B0604020202090204"/>
                <a:ea typeface="Arial" panose="020B0604020202090204"/>
                <a:cs typeface="Arial" panose="020B0604020202090204"/>
              </a:rPr>
              <a:t>A</a:t>
            </a:r>
            <a:r>
              <a:rPr sz="2800" b="1" i="0">
                <a:solidFill>
                  <a:srgbClr val="0F172A"/>
                </a:solidFill>
                <a:latin typeface="Arial" panose="020B0604020202090204"/>
                <a:ea typeface="Arial" panose="020B0604020202090204"/>
                <a:cs typeface="Arial" panose="020B0604020202090204"/>
              </a:rPr>
              <a:t>coustic </a:t>
            </a:r>
            <a:r>
              <a:rPr lang="en-US" sz="2800" b="1" i="0">
                <a:solidFill>
                  <a:srgbClr val="0F172A"/>
                </a:solidFill>
                <a:latin typeface="Arial" panose="020B0604020202090204"/>
                <a:ea typeface="Arial" panose="020B0604020202090204"/>
                <a:cs typeface="Arial" panose="020B0604020202090204"/>
              </a:rPr>
              <a:t>F</a:t>
            </a:r>
            <a:r>
              <a:rPr sz="2800" b="1" i="0">
                <a:solidFill>
                  <a:srgbClr val="0F172A"/>
                </a:solidFill>
                <a:latin typeface="Arial" panose="020B0604020202090204"/>
                <a:ea typeface="Arial" panose="020B0604020202090204"/>
                <a:cs typeface="Arial" panose="020B0604020202090204"/>
              </a:rPr>
              <a:t>idelity </a:t>
            </a:r>
            <a:r>
              <a:rPr lang="en-US" sz="2800" b="1" i="0">
                <a:solidFill>
                  <a:srgbClr val="0F172A"/>
                </a:solidFill>
                <a:latin typeface="Arial" panose="020B0604020202090204"/>
                <a:ea typeface="Arial" panose="020B0604020202090204"/>
                <a:cs typeface="Arial" panose="020B0604020202090204"/>
              </a:rPr>
              <a:t>&amp;</a:t>
            </a:r>
            <a:r>
              <a:rPr sz="2800" b="1" i="0">
                <a:solidFill>
                  <a:srgbClr val="0F172A"/>
                </a:solidFill>
                <a:latin typeface="Arial" panose="020B0604020202090204"/>
                <a:ea typeface="Arial" panose="020B0604020202090204"/>
                <a:cs typeface="Arial" panose="020B0604020202090204"/>
              </a:rPr>
              <a:t> </a:t>
            </a:r>
            <a:r>
              <a:rPr lang="en-US" sz="2800" b="1" i="0">
                <a:solidFill>
                  <a:srgbClr val="0F172A"/>
                </a:solidFill>
                <a:latin typeface="Arial" panose="020B0604020202090204"/>
                <a:ea typeface="Arial" panose="020B0604020202090204"/>
                <a:cs typeface="Arial" panose="020B0604020202090204"/>
              </a:rPr>
              <a:t>T</a:t>
            </a:r>
            <a:r>
              <a:rPr sz="2800" b="1" i="0">
                <a:solidFill>
                  <a:srgbClr val="0F172A"/>
                </a:solidFill>
                <a:latin typeface="Arial" panose="020B0604020202090204"/>
                <a:ea typeface="Arial" panose="020B0604020202090204"/>
                <a:cs typeface="Arial" panose="020B0604020202090204"/>
              </a:rPr>
              <a:t>ermination</a:t>
            </a:r>
            <a:endParaRPr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14350" y="1269365"/>
            <a:ext cx="505587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Mel reconstruction</a:t>
            </a:r>
            <a:r>
              <a:rPr lang="en-US" sz="2000" b="1" i="0">
                <a:solidFill>
                  <a:srgbClr val="1E40AF"/>
                </a:solidFill>
                <a:latin typeface="Arial" panose="020B0604020202090204"/>
                <a:ea typeface="Arial" panose="020B0604020202090204"/>
                <a:cs typeface="Arial" panose="020B0604020202090204"/>
              </a:rPr>
              <a:t>(</a:t>
            </a:r>
            <a:r>
              <a:rPr sz="2000">
                <a:sym typeface="+mn-ea"/>
              </a:rPr>
              <a:t>Acoustic Fidelity</a:t>
            </a:r>
            <a:r>
              <a:rPr lang="en-US" sz="2000" b="1" i="0">
                <a:solidFill>
                  <a:srgbClr val="1E40AF"/>
                </a:solidFill>
                <a:latin typeface="Arial" panose="020B0604020202090204"/>
                <a:ea typeface="Arial" panose="020B0604020202090204"/>
                <a:cs typeface="Arial" panose="020B0604020202090204"/>
              </a:rPr>
              <a:t>)</a:t>
            </a:r>
            <a:endParaRPr lang="en-US" sz="20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1271270" y="2118995"/>
            <a:ext cx="2941955" cy="495300"/>
          </a:xfrm>
          <a:prstGeom prst="rect">
            <a:avLst/>
          </a:prstGeom>
          <a:noFill/>
          <a:ln w="0">
            <a:noFill/>
            <a:prstDash val="solid"/>
          </a:ln>
        </p:spPr>
        <p:txBody>
          <a:bodyPr wrap="square" lIns="0" tIns="0" rIns="0" bIns="0" anchor="t">
            <a:normAutofit/>
          </a:bodyPr>
          <a:lstStyle/>
          <a:p>
            <a:pPr algn="ctr">
              <a:lnSpc>
                <a:spcPct val="110000"/>
              </a:lnSpc>
              <a:buNone/>
              <a:defRPr sz="2100" b="1" i="0">
                <a:solidFill>
                  <a:srgbClr val="0F172A"/>
                </a:solidFill>
                <a:latin typeface="Cambria Math"/>
                <a:ea typeface="Cambria Math"/>
                <a:cs typeface="Cambria Math"/>
              </a:defRPr>
            </a:pPr>
            <a:r>
              <a:rPr sz="2100" b="0">
                <a:solidFill>
                  <a:srgbClr val="0F172A"/>
                </a:solidFill>
                <a:latin typeface="Times New Roman" panose="02020503050405090304" charset="0"/>
                <a:ea typeface="Cambria Math"/>
                <a:cs typeface="Times New Roman" panose="02020503050405090304" charset="0"/>
              </a:rPr>
              <a:t>L</a:t>
            </a:r>
            <a:r>
              <a:rPr sz="2100" b="0" i="1" baseline="-25000">
                <a:solidFill>
                  <a:srgbClr val="0F172A"/>
                </a:solidFill>
                <a:latin typeface="Times New Roman" panose="02020503050405090304" charset="0"/>
                <a:ea typeface="Cambria Math"/>
                <a:cs typeface="Times New Roman" panose="02020503050405090304" charset="0"/>
              </a:rPr>
              <a:t>mel</a:t>
            </a:r>
            <a:r>
              <a:rPr sz="2100" b="0">
                <a:solidFill>
                  <a:srgbClr val="0F172A"/>
                </a:solidFill>
                <a:latin typeface="Times New Roman" panose="02020503050405090304" charset="0"/>
                <a:ea typeface="Cambria Math"/>
                <a:cs typeface="Times New Roman" panose="02020503050405090304" charset="0"/>
              </a:rPr>
              <a:t> = || M</a:t>
            </a:r>
            <a:r>
              <a:rPr sz="2100" b="0" i="1" baseline="-25000">
                <a:solidFill>
                  <a:srgbClr val="0F172A"/>
                </a:solidFill>
                <a:latin typeface="Times New Roman" panose="02020503050405090304" charset="0"/>
                <a:ea typeface="Cambria Math"/>
                <a:cs typeface="Times New Roman" panose="02020503050405090304" charset="0"/>
              </a:rPr>
              <a:t>pred</a:t>
            </a:r>
            <a:r>
              <a:rPr sz="2100" b="0" baseline="-25000">
                <a:solidFill>
                  <a:srgbClr val="0F172A"/>
                </a:solidFill>
                <a:latin typeface="Times New Roman" panose="02020503050405090304" charset="0"/>
                <a:ea typeface="Cambria Math"/>
                <a:cs typeface="Times New Roman" panose="02020503050405090304" charset="0"/>
              </a:rPr>
              <a:t> </a:t>
            </a:r>
            <a:r>
              <a:rPr sz="2100" b="0">
                <a:solidFill>
                  <a:srgbClr val="0F172A"/>
                </a:solidFill>
                <a:latin typeface="Times New Roman" panose="02020503050405090304" charset="0"/>
                <a:ea typeface="Cambria Math"/>
                <a:cs typeface="Times New Roman" panose="02020503050405090304" charset="0"/>
              </a:rPr>
              <a:t>− M</a:t>
            </a:r>
            <a:r>
              <a:rPr sz="2100" b="0" i="1" baseline="-25000">
                <a:solidFill>
                  <a:srgbClr val="0F172A"/>
                </a:solidFill>
                <a:latin typeface="Times New Roman" panose="02020503050405090304" charset="0"/>
                <a:ea typeface="Cambria Math"/>
                <a:cs typeface="Times New Roman" panose="02020503050405090304" charset="0"/>
              </a:rPr>
              <a:t>target</a:t>
            </a:r>
            <a:r>
              <a:rPr sz="2100" b="0">
                <a:solidFill>
                  <a:srgbClr val="0F172A"/>
                </a:solidFill>
                <a:latin typeface="Times New Roman" panose="02020503050405090304" charset="0"/>
                <a:ea typeface="Cambria Math"/>
                <a:cs typeface="Times New Roman" panose="02020503050405090304" charset="0"/>
              </a:rPr>
              <a:t> ||²</a:t>
            </a:r>
            <a:endParaRPr sz="2100" b="0">
              <a:solidFill>
                <a:srgbClr val="0F172A"/>
              </a:solidFill>
              <a:latin typeface="Times New Roman" panose="02020503050405090304" charset="0"/>
              <a:ea typeface="Cambria Math"/>
              <a:cs typeface="Times New Roman" panose="02020503050405090304" charset="0"/>
            </a:endParaRPr>
          </a:p>
        </p:txBody>
      </p:sp>
      <p:sp>
        <p:nvSpPr>
          <p:cNvPr id="7" name="矩形 6"/>
          <p:cNvSpPr>
            <a:spLocks noGrp="1"/>
          </p:cNvSpPr>
          <p:nvPr/>
        </p:nvSpPr>
        <p:spPr>
          <a:xfrm>
            <a:off x="514350" y="2853690"/>
            <a:ext cx="5230495" cy="1852295"/>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1" i="0">
                <a:solidFill>
                  <a:srgbClr val="334155"/>
                </a:solidFill>
                <a:latin typeface="Arial" panose="020B0604020202090204" pitchFamily="34" charset="0"/>
                <a:ea typeface="Arial" panose="020B0604020202090204"/>
                <a:cs typeface="Arial" panose="020B0604020202090204" pitchFamily="34" charset="0"/>
              </a:rPr>
              <a:t>• Frame-level regression</a:t>
            </a:r>
            <a:r>
              <a:rPr sz="1400" b="0" i="0">
                <a:solidFill>
                  <a:srgbClr val="334155"/>
                </a:solidFill>
                <a:latin typeface="Arial" panose="020B0604020202090204"/>
                <a:ea typeface="Arial" panose="020B0604020202090204"/>
                <a:cs typeface="Arial" panose="020B0604020202090204"/>
              </a:rPr>
              <a:t> </a:t>
            </a:r>
            <a:endParaRPr sz="1400" b="0" i="0">
              <a:solidFill>
                <a:srgbClr val="334155"/>
              </a:solidFill>
              <a:latin typeface="Arial" panose="020B0604020202090204"/>
              <a:ea typeface="Arial" panose="020B0604020202090204"/>
              <a:cs typeface="Arial" panose="020B0604020202090204"/>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Directly minimizes the distance between predicted and ground-truth Mel-spectrograms.</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1" i="0">
                <a:solidFill>
                  <a:srgbClr val="334155"/>
                </a:solidFill>
                <a:latin typeface="Arial" panose="020B0604020202090204" pitchFamily="34" charset="0"/>
                <a:ea typeface="Arial" panose="020B0604020202090204"/>
                <a:cs typeface="Arial" panose="020B0604020202090204" pitchFamily="34" charset="0"/>
              </a:rPr>
              <a:t>•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Why Mel-Spectrogram?</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Smoother, lower-dimensional intermediate representation compared to raw time-domain waveforms.</a:t>
            </a:r>
            <a:endParaRPr lang="en-US" altLang="zh-CN" sz="14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482715" y="1268730"/>
            <a:ext cx="515683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D97706"/>
                </a:solidFill>
                <a:latin typeface="Arial" panose="020B0604020202090204"/>
                <a:ea typeface="Arial" panose="020B0604020202090204"/>
                <a:cs typeface="Arial" panose="020B0604020202090204"/>
              </a:defRPr>
            </a:pPr>
            <a:r>
              <a:rPr sz="2000" b="1" i="0">
                <a:solidFill>
                  <a:srgbClr val="D97706"/>
                </a:solidFill>
                <a:latin typeface="Arial" panose="020B0604020202090204"/>
                <a:ea typeface="Arial" panose="020B0604020202090204"/>
                <a:cs typeface="Arial" panose="020B0604020202090204"/>
              </a:rPr>
              <a:t>Stop prediction</a:t>
            </a:r>
            <a:r>
              <a:rPr lang="en-US" sz="2000" b="1" i="0">
                <a:solidFill>
                  <a:srgbClr val="D97706"/>
                </a:solidFill>
                <a:latin typeface="Arial" panose="020B0604020202090204"/>
                <a:ea typeface="Arial" panose="020B0604020202090204"/>
                <a:cs typeface="Arial" panose="020B0604020202090204"/>
              </a:rPr>
              <a:t>(</a:t>
            </a:r>
            <a:r>
              <a:rPr lang="en-US" altLang="zh-CN" sz="2000" b="1" i="0">
                <a:solidFill>
                  <a:srgbClr val="D97706"/>
                </a:solidFill>
                <a:latin typeface="Arial" panose="020B0604020202090204"/>
                <a:ea typeface="Arial" panose="020B0604020202090204"/>
                <a:cs typeface="Arial" panose="020B0604020202090204"/>
              </a:rPr>
              <a:t>Sequence Termination</a:t>
            </a:r>
            <a:r>
              <a:rPr lang="en-US" sz="2000" b="1" i="0">
                <a:solidFill>
                  <a:srgbClr val="D97706"/>
                </a:solidFill>
                <a:latin typeface="Arial" panose="020B0604020202090204"/>
                <a:ea typeface="Arial" panose="020B0604020202090204"/>
                <a:cs typeface="Arial" panose="020B0604020202090204"/>
              </a:rPr>
              <a:t>)</a:t>
            </a:r>
            <a:endParaRPr lang="en-US" sz="2000" b="1" i="0">
              <a:solidFill>
                <a:srgbClr val="D97706"/>
              </a:solidFill>
              <a:latin typeface="Arial" panose="020B0604020202090204"/>
              <a:ea typeface="Arial" panose="020B0604020202090204"/>
              <a:cs typeface="Arial" panose="020B0604020202090204"/>
            </a:endParaRPr>
          </a:p>
        </p:txBody>
      </p:sp>
      <p:sp>
        <p:nvSpPr>
          <p:cNvPr id="9" name="矩形 8"/>
          <p:cNvSpPr>
            <a:spLocks noGrp="1"/>
          </p:cNvSpPr>
          <p:nvPr/>
        </p:nvSpPr>
        <p:spPr>
          <a:xfrm>
            <a:off x="7103745" y="2118995"/>
            <a:ext cx="2921635" cy="429895"/>
          </a:xfrm>
          <a:prstGeom prst="rect">
            <a:avLst/>
          </a:prstGeom>
          <a:noFill/>
          <a:ln w="0">
            <a:noFill/>
            <a:prstDash val="solid"/>
          </a:ln>
        </p:spPr>
        <p:txBody>
          <a:bodyPr wrap="square" lIns="0" tIns="0" rIns="0" bIns="0" anchor="t">
            <a:normAutofit/>
          </a:bodyPr>
          <a:lstStyle/>
          <a:p>
            <a:pPr algn="ctr">
              <a:lnSpc>
                <a:spcPct val="110000"/>
              </a:lnSpc>
              <a:buNone/>
              <a:defRPr sz="1950" b="1" i="0">
                <a:solidFill>
                  <a:srgbClr val="0F172A"/>
                </a:solidFill>
                <a:latin typeface="Cambria Math"/>
                <a:ea typeface="Cambria Math"/>
                <a:cs typeface="Cambria Math"/>
              </a:defRPr>
            </a:pPr>
            <a:r>
              <a:rPr sz="1950" b="0" i="0">
                <a:solidFill>
                  <a:srgbClr val="0F172A"/>
                </a:solidFill>
                <a:latin typeface="Times New Roman" panose="02020503050405090304" charset="0"/>
                <a:ea typeface="Cambria Math"/>
                <a:cs typeface="Times New Roman" panose="02020503050405090304" charset="0"/>
              </a:rPr>
              <a:t>L</a:t>
            </a:r>
            <a:r>
              <a:rPr sz="1950" b="0" i="1" baseline="-25000">
                <a:solidFill>
                  <a:srgbClr val="0F172A"/>
                </a:solidFill>
                <a:latin typeface="Times New Roman" panose="02020503050405090304" charset="0"/>
                <a:ea typeface="Cambria Math"/>
                <a:cs typeface="Times New Roman" panose="02020503050405090304" charset="0"/>
              </a:rPr>
              <a:t>stop</a:t>
            </a:r>
            <a:r>
              <a:rPr sz="1950" b="0" i="0">
                <a:solidFill>
                  <a:srgbClr val="0F172A"/>
                </a:solidFill>
                <a:latin typeface="Times New Roman" panose="02020503050405090304" charset="0"/>
                <a:ea typeface="Cambria Math"/>
                <a:cs typeface="Times New Roman" panose="02020503050405090304" charset="0"/>
              </a:rPr>
              <a:t> = CE(stop</a:t>
            </a:r>
            <a:r>
              <a:rPr sz="1950" b="0" i="1" baseline="-25000">
                <a:solidFill>
                  <a:srgbClr val="0F172A"/>
                </a:solidFill>
                <a:latin typeface="Times New Roman" panose="02020503050405090304" charset="0"/>
                <a:ea typeface="Cambria Math"/>
                <a:cs typeface="Times New Roman" panose="02020503050405090304" charset="0"/>
              </a:rPr>
              <a:t>pred</a:t>
            </a:r>
            <a:r>
              <a:rPr sz="1950" b="0" i="0">
                <a:solidFill>
                  <a:srgbClr val="0F172A"/>
                </a:solidFill>
                <a:latin typeface="Times New Roman" panose="02020503050405090304" charset="0"/>
                <a:ea typeface="Cambria Math"/>
                <a:cs typeface="Times New Roman" panose="02020503050405090304" charset="0"/>
              </a:rPr>
              <a:t>, stop</a:t>
            </a:r>
            <a:r>
              <a:rPr sz="1950" b="0" i="1" baseline="-25000">
                <a:solidFill>
                  <a:srgbClr val="0F172A"/>
                </a:solidFill>
                <a:latin typeface="Times New Roman" panose="02020503050405090304" charset="0"/>
                <a:ea typeface="Cambria Math"/>
                <a:cs typeface="Times New Roman" panose="02020503050405090304" charset="0"/>
              </a:rPr>
              <a:t>target</a:t>
            </a:r>
            <a:r>
              <a:rPr sz="1950" b="0" i="0">
                <a:solidFill>
                  <a:srgbClr val="0F172A"/>
                </a:solidFill>
                <a:latin typeface="Times New Roman" panose="02020503050405090304" charset="0"/>
                <a:ea typeface="Cambria Math"/>
                <a:cs typeface="Times New Roman" panose="02020503050405090304" charset="0"/>
              </a:rPr>
              <a:t>)</a:t>
            </a:r>
            <a:endParaRPr sz="1950" b="0" i="0">
              <a:solidFill>
                <a:srgbClr val="0F172A"/>
              </a:solidFill>
              <a:latin typeface="Times New Roman" panose="02020503050405090304" charset="0"/>
              <a:ea typeface="Cambria Math"/>
              <a:cs typeface="Times New Roman" panose="02020503050405090304" charset="0"/>
            </a:endParaRPr>
          </a:p>
        </p:txBody>
      </p:sp>
      <p:sp>
        <p:nvSpPr>
          <p:cNvPr id="11" name="矩形 10"/>
          <p:cNvSpPr>
            <a:spLocks noGrp="1"/>
          </p:cNvSpPr>
          <p:nvPr/>
        </p:nvSpPr>
        <p:spPr>
          <a:xfrm>
            <a:off x="533400" y="6134100"/>
            <a:ext cx="10287000" cy="323850"/>
          </a:xfrm>
          <a:prstGeom prst="rect">
            <a:avLst/>
          </a:prstGeom>
          <a:noFill/>
          <a:ln w="0">
            <a:noFill/>
            <a:prstDash val="solid"/>
          </a:ln>
        </p:spPr>
        <p:txBody>
          <a:bodyPr wrap="square" lIns="0" tIns="0" rIns="0" bIns="0" anchor="t">
            <a:normAutofit/>
          </a:bodyPr>
          <a:lstStyle/>
          <a:p>
            <a:pPr algn="l">
              <a:lnSpc>
                <a:spcPct val="110000"/>
              </a:lnSpc>
              <a:buNone/>
              <a:defRPr sz="1650" b="0" i="1">
                <a:solidFill>
                  <a:srgbClr val="64748B"/>
                </a:solidFill>
                <a:latin typeface="Arial" panose="020B0604020202090204"/>
                <a:ea typeface="Arial" panose="020B0604020202090204"/>
                <a:cs typeface="Arial" panose="020B0604020202090204"/>
              </a:defRPr>
            </a:pPr>
            <a:r>
              <a:rPr sz="1400" b="0" i="1">
                <a:solidFill>
                  <a:srgbClr val="64748B"/>
                </a:solidFill>
                <a:latin typeface="Arial" panose="020B0604020202090204"/>
                <a:ea typeface="Arial" panose="020B0604020202090204"/>
                <a:cs typeface="Arial" panose="020B0604020202090204"/>
              </a:rPr>
              <a:t>The loss does not guarantee natural speech: it only defines what the model is asked to match.</a:t>
            </a:r>
            <a:endParaRPr sz="1400" b="0" i="1">
              <a:solidFill>
                <a:srgbClr val="64748B"/>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6383655" y="2811780"/>
            <a:ext cx="5230495" cy="2851785"/>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1" i="0">
                <a:solidFill>
                  <a:srgbClr val="334155"/>
                </a:solidFill>
                <a:latin typeface="Arial" panose="020B0604020202090204" pitchFamily="34" charset="0"/>
                <a:ea typeface="Arial" panose="020B0604020202090204"/>
                <a:cs typeface="Arial" panose="020B0604020202090204" pitchFamily="34" charset="0"/>
              </a:rPr>
              <a:t>•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Binary Classification Task</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Predicts the probability [0 , 1]</a:t>
            </a:r>
            <a:r>
              <a:rPr lang="en-US" altLang="zh-CN" sz="1400" b="0" i="0">
                <a:solidFill>
                  <a:srgbClr val="334155"/>
                </a:solidFill>
                <a:latin typeface="Arial" panose="020B0604020202090204"/>
                <a:ea typeface="Arial" panose="020B0604020202090204"/>
                <a:cs typeface="Arial" panose="020B0604020202090204"/>
              </a:rPr>
              <a:t>that the current frame is the end of the sequence.</a:t>
            </a:r>
            <a:endParaRPr lang="en-US" altLang="zh-CN" sz="1400" b="0" i="0">
              <a:solidFill>
                <a:srgbClr val="334155"/>
              </a:solidFill>
              <a:latin typeface="Arial" panose="020B0604020202090204"/>
              <a:ea typeface="Arial" panose="020B0604020202090204"/>
              <a:cs typeface="Arial" panose="020B0604020202090204"/>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1" i="0">
                <a:solidFill>
                  <a:srgbClr val="334155"/>
                </a:solidFill>
                <a:latin typeface="Arial" panose="020B0604020202090204" pitchFamily="34" charset="0"/>
                <a:ea typeface="Arial" panose="020B0604020202090204"/>
                <a:cs typeface="Arial" panose="020B0604020202090204" pitchFamily="34" charset="0"/>
              </a:rPr>
              <a:t>•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Inference Threshold Control</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00" i="0">
                <a:solidFill>
                  <a:srgbClr val="334155"/>
                </a:solidFill>
                <a:latin typeface="Arial" panose="020B0604020202090204" pitchFamily="34" charset="0"/>
                <a:ea typeface="Arial" panose="020B0604020202090204"/>
                <a:cs typeface="Arial" panose="020B0604020202090204" pitchFamily="34" charset="0"/>
              </a:rPr>
              <a:t>Stops generation when </a:t>
            </a:r>
            <a:r>
              <a:rPr lang="en-US" altLang="zh-CN" sz="1400" i="1">
                <a:solidFill>
                  <a:srgbClr val="334155"/>
                </a:solidFill>
                <a:latin typeface="Arial" panose="020B0604020202090204" pitchFamily="34" charset="0"/>
                <a:ea typeface="Arial" panose="020B0604020202090204"/>
                <a:cs typeface="Arial" panose="020B0604020202090204" pitchFamily="34" charset="0"/>
              </a:rPr>
              <a:t>p</a:t>
            </a:r>
            <a:r>
              <a:rPr lang="en-US" altLang="zh-CN" sz="1400" i="0">
                <a:solidFill>
                  <a:srgbClr val="334155"/>
                </a:solidFill>
                <a:latin typeface="Arial" panose="020B0604020202090204" pitchFamily="34" charset="0"/>
                <a:ea typeface="Arial" panose="020B0604020202090204"/>
                <a:cs typeface="Arial" panose="020B0604020202090204" pitchFamily="34" charset="0"/>
              </a:rPr>
              <a:t>(stop) &gt;</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 threshold</a:t>
            </a:r>
            <a:r>
              <a:rPr lang="en-US" altLang="zh-CN" sz="1400" i="0">
                <a:solidFill>
                  <a:srgbClr val="334155"/>
                </a:solidFill>
                <a:latin typeface="Arial" panose="020B0604020202090204" pitchFamily="34" charset="0"/>
                <a:ea typeface="Arial" panose="020B0604020202090204"/>
                <a:cs typeface="Arial" panose="020B0604020202090204" pitchFamily="34" charset="0"/>
              </a:rPr>
              <a:t>(typically 0.5). </a:t>
            </a: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i="0">
              <a:solidFill>
                <a:srgbClr val="334155"/>
              </a:solidFill>
              <a:latin typeface="Arial" panose="020B0604020202090204" pitchFamily="34" charset="0"/>
              <a:ea typeface="Arial" panose="020B0604020202090204"/>
              <a:cs typeface="Arial" panose="020B0604020202090204" pitchFamily="34" charset="0"/>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sz="1400" b="1">
                <a:latin typeface="Arial" panose="020B0604020202090204" pitchFamily="34" charset="0"/>
                <a:cs typeface="Arial" panose="020B0604020202090204" pitchFamily="34" charset="0"/>
                <a:sym typeface="+mn-ea"/>
              </a:rPr>
              <a:t>• </a:t>
            </a:r>
            <a:r>
              <a:rPr lang="en-US" altLang="zh-CN" sz="1400" b="1">
                <a:latin typeface="Arial" panose="020B0604020202090204" pitchFamily="34" charset="0"/>
                <a:cs typeface="Arial" panose="020B0604020202090204" pitchFamily="34" charset="0"/>
                <a:sym typeface="+mn-ea"/>
              </a:rPr>
              <a:t>Calibration Risks</a:t>
            </a:r>
            <a:endParaRPr lang="en-US" altLang="zh-CN" sz="1400" b="1">
              <a:latin typeface="Arial" panose="020B0604020202090204" pitchFamily="34" charset="0"/>
              <a:cs typeface="Arial" panose="020B0604020202090204" pitchFamily="34" charset="0"/>
              <a:sym typeface="+mn-ea"/>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200" b="1">
                <a:latin typeface="Arial" panose="020B0604020202090204" pitchFamily="34" charset="0"/>
                <a:cs typeface="Arial" panose="020B0604020202090204" pitchFamily="34" charset="0"/>
                <a:sym typeface="+mn-ea"/>
              </a:rPr>
              <a:t>Threshold too low: </a:t>
            </a:r>
            <a:r>
              <a:rPr lang="en-US" altLang="zh-CN" sz="1200">
                <a:latin typeface="Arial" panose="020B0604020202090204" pitchFamily="34" charset="0"/>
                <a:cs typeface="Arial" panose="020B0604020202090204" pitchFamily="34" charset="0"/>
                <a:sym typeface="+mn-ea"/>
              </a:rPr>
              <a:t>Premature speech truncation (words cut off at the end).   </a:t>
            </a:r>
            <a:endParaRPr lang="en-US" altLang="zh-CN" sz="1200">
              <a:latin typeface="Arial" panose="020B0604020202090204" pitchFamily="34" charset="0"/>
              <a:cs typeface="Arial" panose="020B0604020202090204" pitchFamily="34" charset="0"/>
              <a:sym typeface="+mn-ea"/>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200" b="1">
                <a:latin typeface="Arial" panose="020B0604020202090204" pitchFamily="34" charset="0"/>
                <a:cs typeface="Arial" panose="020B0604020202090204" pitchFamily="34" charset="0"/>
                <a:sym typeface="+mn-ea"/>
              </a:rPr>
              <a:t>Threshold too high: </a:t>
            </a:r>
            <a:r>
              <a:rPr lang="en-US" altLang="zh-CN" sz="1200">
                <a:latin typeface="Arial" panose="020B0604020202090204" pitchFamily="34" charset="0"/>
                <a:cs typeface="Arial" panose="020B0604020202090204" pitchFamily="34" charset="0"/>
                <a:sym typeface="+mn-ea"/>
              </a:rPr>
              <a:t>Trailing silence or infinite generation loops with static noise. </a:t>
            </a:r>
            <a:r>
              <a:rPr lang="en-US" altLang="zh-CN" sz="1400" b="1">
                <a:latin typeface="Arial" panose="020B0604020202090204" pitchFamily="34" charset="0"/>
                <a:cs typeface="Arial" panose="020B0604020202090204" pitchFamily="34" charset="0"/>
                <a:sym typeface="+mn-ea"/>
              </a:rPr>
              <a:t>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 </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161669"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ACOUSTIC MODEL          </a:t>
            </a:r>
            <a:endParaRPr lang="en-US" sz="750" dirty="0">
              <a:solidFill>
                <a:srgbClr val="64748B"/>
              </a:solidFill>
              <a:latin typeface="+mn-lt"/>
              <a:ea typeface="+mn-ea"/>
              <a:cs typeface="+mn-cs"/>
            </a:endParaRPr>
          </a:p>
        </p:txBody>
      </p:sp>
      <p:sp>
        <p:nvSpPr>
          <p:cNvPr id="3" name="TextBox 3"/>
          <p:cNvSpPr txBox="1"/>
          <p:nvPr/>
        </p:nvSpPr>
        <p:spPr>
          <a:xfrm>
            <a:off x="501396" y="467678"/>
            <a:ext cx="469963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Code: stopping at inference</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86061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Prediction feeds back; sigmoid gate or max steps ends the loop. This excerpt assumes one utterance.</a:t>
            </a:r>
            <a:endParaRPr lang="en-US" sz="1280" dirty="0">
              <a:solidFill>
                <a:schemeClr val="dk1"/>
              </a:solidFill>
              <a:latin typeface="+mn-lt"/>
              <a:ea typeface="+mn-ea"/>
              <a:cs typeface="+mn-cs"/>
            </a:endParaRPr>
          </a:p>
        </p:txBody>
      </p:sp>
      <p:sp>
        <p:nvSpPr>
          <p:cNvPr id="7" name="TextBox 7"/>
          <p:cNvSpPr txBox="1"/>
          <p:nvPr/>
        </p:nvSpPr>
        <p:spPr>
          <a:xfrm>
            <a:off x="509588" y="6141720"/>
            <a:ext cx="5737910"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NVIDIA Corporation · NVIDIA/tacotron2 · BSD-3-Clause · model.py L435-449 · commit 185cd24e04</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ALIGNMENT</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2800" b="1" i="0">
                <a:solidFill>
                  <a:srgbClr val="0F172A"/>
                </a:solidFill>
                <a:latin typeface="Arial" panose="020B0604020202090204"/>
                <a:ea typeface="Arial" panose="020B0604020202090204"/>
                <a:cs typeface="Arial" panose="020B0604020202090204"/>
              </a:rPr>
              <a:t>Tacotron 2 : </a:t>
            </a:r>
            <a:r>
              <a:rPr sz="2800" b="1" i="0">
                <a:solidFill>
                  <a:srgbClr val="0F172A"/>
                </a:solidFill>
                <a:latin typeface="Arial" panose="020B0604020202090204"/>
                <a:ea typeface="Arial" panose="020B0604020202090204"/>
                <a:cs typeface="Arial" panose="020B0604020202090204"/>
              </a:rPr>
              <a:t>Guided attention</a:t>
            </a:r>
            <a:endParaRPr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442595"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19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5" name="图片 14"/>
          <p:cNvPicPr>
            <a:picLocks noChangeAspect="1"/>
          </p:cNvPicPr>
          <p:nvPr/>
        </p:nvPicPr>
        <p:blipFill>
          <a:blip r:embed="rId1"/>
          <a:stretch>
            <a:fillRect/>
          </a:stretch>
        </p:blipFill>
        <p:spPr>
          <a:xfrm>
            <a:off x="7679690" y="2996565"/>
            <a:ext cx="4097655" cy="2603500"/>
          </a:xfrm>
          <a:prstGeom prst="rect">
            <a:avLst/>
          </a:prstGeom>
        </p:spPr>
      </p:pic>
      <p:sp>
        <p:nvSpPr>
          <p:cNvPr id="6" name="矩形 5"/>
          <p:cNvSpPr>
            <a:spLocks noGrp="1"/>
          </p:cNvSpPr>
          <p:nvPr/>
        </p:nvSpPr>
        <p:spPr>
          <a:xfrm>
            <a:off x="407670" y="1196975"/>
            <a:ext cx="1025969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D97706"/>
                </a:solidFill>
                <a:latin typeface="Arial" panose="020B0604020202090204"/>
                <a:ea typeface="Arial" panose="020B0604020202090204"/>
                <a:cs typeface="Arial" panose="020B0604020202090204"/>
              </a:defRPr>
            </a:pPr>
            <a:r>
              <a:rPr lang="en-US" altLang="zh-CN" sz="1800" b="1" i="0">
                <a:solidFill>
                  <a:srgbClr val="D97706"/>
                </a:solidFill>
                <a:latin typeface="Arial" panose="020B0604020202090204"/>
                <a:ea typeface="Arial" panose="020B0604020202090204"/>
                <a:cs typeface="Arial" panose="020B0604020202090204"/>
              </a:rPr>
              <a:t>1. Motivation: The Alignment Bottleneck</a:t>
            </a:r>
            <a:endParaRPr lang="en-US" altLang="zh-CN" sz="1800" b="1" i="0">
              <a:solidFill>
                <a:srgbClr val="D97706"/>
              </a:solidFill>
              <a:latin typeface="Arial" panose="020B0604020202090204"/>
              <a:ea typeface="Arial" panose="020B0604020202090204"/>
              <a:cs typeface="Arial" panose="020B0604020202090204"/>
            </a:endParaRPr>
          </a:p>
        </p:txBody>
      </p:sp>
      <p:sp>
        <p:nvSpPr>
          <p:cNvPr id="12" name="文本框 11"/>
          <p:cNvSpPr txBox="1"/>
          <p:nvPr/>
        </p:nvSpPr>
        <p:spPr>
          <a:xfrm>
            <a:off x="623570" y="1518920"/>
            <a:ext cx="10619105" cy="58356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Problem: </a:t>
            </a:r>
            <a:r>
              <a:rPr lang="en-US" altLang="zh-CN" sz="1600">
                <a:latin typeface="Arial" panose="020B0604020202090204" pitchFamily="34" charset="0"/>
                <a:cs typeface="Arial" panose="020B0604020202090204" pitchFamily="34" charset="0"/>
              </a:rPr>
              <a:t>Pure end-to-end attention takes tens of thousands of steps to learn monotonic alignment from scratch, often causing word skipping or repeating.</a:t>
            </a:r>
            <a:endParaRPr lang="en-US" altLang="zh-CN" sz="1600">
              <a:latin typeface="Arial" panose="020B0604020202090204" pitchFamily="34" charset="0"/>
              <a:cs typeface="Arial" panose="020B0604020202090204" pitchFamily="34" charset="0"/>
            </a:endParaRPr>
          </a:p>
        </p:txBody>
      </p:sp>
      <p:sp>
        <p:nvSpPr>
          <p:cNvPr id="13" name="矩形 12"/>
          <p:cNvSpPr>
            <a:spLocks noGrp="1"/>
          </p:cNvSpPr>
          <p:nvPr/>
        </p:nvSpPr>
        <p:spPr>
          <a:xfrm>
            <a:off x="407035" y="2851150"/>
            <a:ext cx="4656455" cy="368935"/>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D97706"/>
                </a:solidFill>
                <a:latin typeface="Arial" panose="020B0604020202090204"/>
                <a:ea typeface="Arial" panose="020B0604020202090204"/>
                <a:cs typeface="Arial" panose="020B0604020202090204"/>
              </a:defRPr>
            </a:pPr>
            <a:r>
              <a:rPr lang="en-US" altLang="zh-CN" sz="1800" b="1" i="0">
                <a:solidFill>
                  <a:schemeClr val="tx2">
                    <a:lumMod val="75000"/>
                    <a:lumOff val="25000"/>
                  </a:schemeClr>
                </a:solidFill>
                <a:latin typeface="Arial" panose="020B0604020202090204"/>
                <a:ea typeface="Arial" panose="020B0604020202090204"/>
                <a:cs typeface="Arial" panose="020B0604020202090204"/>
              </a:rPr>
              <a:t>2. Mathematical Formulation &amp; Intuition</a:t>
            </a:r>
            <a:endParaRPr lang="en-US" altLang="zh-CN" sz="1800" b="1" i="0">
              <a:solidFill>
                <a:schemeClr val="tx2">
                  <a:lumMod val="75000"/>
                  <a:lumOff val="25000"/>
                </a:schemeClr>
              </a:solidFill>
              <a:latin typeface="Arial" panose="020B0604020202090204"/>
              <a:ea typeface="Arial" panose="020B0604020202090204"/>
              <a:cs typeface="Arial" panose="020B0604020202090204"/>
            </a:endParaRPr>
          </a:p>
        </p:txBody>
      </p:sp>
      <p:sp>
        <p:nvSpPr>
          <p:cNvPr id="19" name="文本框 18"/>
          <p:cNvSpPr txBox="1"/>
          <p:nvPr/>
        </p:nvSpPr>
        <p:spPr>
          <a:xfrm>
            <a:off x="623570" y="3858895"/>
            <a:ext cx="6121400" cy="1814830"/>
          </a:xfrm>
          <a:prstGeom prst="rect">
            <a:avLst/>
          </a:prstGeom>
          <a:noFill/>
        </p:spPr>
        <p:txBody>
          <a:bodyPr wrap="square" rtlCol="0">
            <a:spAutoFit/>
          </a:bodyPr>
          <a:p>
            <a:pPr marL="285750" indent="-285750">
              <a:buFont typeface="Arial" panose="020B0604020202090204" pitchFamily="34" charset="0"/>
              <a:buChar char="•"/>
            </a:pPr>
            <a:r>
              <a:rPr lang="en-US" sz="1400" dirty="0">
                <a:solidFill>
                  <a:schemeClr val="dk1"/>
                </a:solidFill>
                <a:latin typeface="Arial" panose="020B0604020202090204" pitchFamily="34" charset="0"/>
                <a:cs typeface="Arial" panose="020B0604020202090204" pitchFamily="34" charset="0"/>
                <a:sym typeface="+mn-ea"/>
              </a:rPr>
              <a:t>Normalized text position and acoustic time progress roughly together.</a:t>
            </a:r>
            <a:endParaRPr lang="en-US" sz="1400" dirty="0">
              <a:solidFill>
                <a:schemeClr val="dk1"/>
              </a:solidFill>
              <a:latin typeface="Arial" panose="020B0604020202090204" pitchFamily="34" charset="0"/>
              <a:cs typeface="Arial" panose="020B0604020202090204" pitchFamily="34" charset="0"/>
              <a:sym typeface="+mn-ea"/>
            </a:endParaRPr>
          </a:p>
          <a:p>
            <a:pPr marL="285750" indent="-285750">
              <a:buFont typeface="Arial" panose="020B0604020202090204" pitchFamily="34" charset="0"/>
              <a:buChar char="•"/>
            </a:pPr>
            <a:endParaRPr lang="en-US" sz="1400" dirty="0">
              <a:solidFill>
                <a:schemeClr val="dk1"/>
              </a:solidFill>
              <a:latin typeface="Arial" panose="020B0604020202090204" pitchFamily="34" charset="0"/>
              <a:cs typeface="Arial" panose="020B0604020202090204" pitchFamily="34" charset="0"/>
              <a:sym typeface="+mn-ea"/>
            </a:endParaRPr>
          </a:p>
          <a:p>
            <a:pPr marL="285750" indent="-285750">
              <a:buFont typeface="Arial" panose="020B0604020202090204" pitchFamily="34" charset="0"/>
              <a:buChar char="•"/>
            </a:pPr>
            <a:r>
              <a:rPr lang="en-US" altLang="zh-CN" sz="1400" b="1" dirty="0">
                <a:solidFill>
                  <a:schemeClr val="dk1"/>
                </a:solidFill>
                <a:latin typeface="Arial" panose="020B0604020202090204" pitchFamily="34" charset="0"/>
                <a:cs typeface="Arial" panose="020B0604020202090204" pitchFamily="34" charset="0"/>
                <a:sym typeface="+mn-ea"/>
              </a:rPr>
              <a:t>Penalty Matrix </a:t>
            </a:r>
            <a:r>
              <a:rPr lang="en-US" altLang="zh-CN" sz="1400" b="1" i="1" dirty="0">
                <a:solidFill>
                  <a:schemeClr val="dk1"/>
                </a:solidFill>
                <a:latin typeface="Arial" panose="020B0604020202090204" pitchFamily="34" charset="0"/>
                <a:cs typeface="Arial" panose="020B0604020202090204" pitchFamily="34" charset="0"/>
                <a:sym typeface="+mn-ea"/>
              </a:rPr>
              <a:t>W</a:t>
            </a:r>
            <a:r>
              <a:rPr lang="en-US" altLang="zh-CN" sz="1400" b="1" i="1" baseline="-25000" dirty="0">
                <a:solidFill>
                  <a:schemeClr val="dk1"/>
                </a:solidFill>
                <a:latin typeface="Arial" panose="020B0604020202090204" pitchFamily="34" charset="0"/>
                <a:cs typeface="Arial" panose="020B0604020202090204" pitchFamily="34" charset="0"/>
                <a:sym typeface="+mn-ea"/>
              </a:rPr>
              <a:t>nt</a:t>
            </a:r>
            <a:r>
              <a:rPr lang="en-US" altLang="zh-CN" sz="1400" b="1" dirty="0">
                <a:solidFill>
                  <a:schemeClr val="dk1"/>
                </a:solidFill>
                <a:latin typeface="Arial" panose="020B0604020202090204" pitchFamily="34" charset="0"/>
                <a:cs typeface="Arial" panose="020B0604020202090204" pitchFamily="34" charset="0"/>
                <a:sym typeface="+mn-ea"/>
              </a:rPr>
              <a:t>:</a:t>
            </a:r>
            <a:endParaRPr lang="en-US" altLang="zh-CN" sz="1400" dirty="0">
              <a:solidFill>
                <a:schemeClr val="dk1"/>
              </a:solidFill>
              <a:latin typeface="Arial" panose="020B0604020202090204" pitchFamily="34" charset="0"/>
              <a:cs typeface="Arial" panose="020B0604020202090204" pitchFamily="34" charset="0"/>
              <a:sym typeface="+mn-ea"/>
            </a:endParaRPr>
          </a:p>
          <a:p>
            <a:pPr marL="742950" lvl="1" indent="-285750">
              <a:buFont typeface="Arial" panose="020B0604020202090204" pitchFamily="34" charset="0"/>
              <a:buChar char="•"/>
            </a:pPr>
            <a:r>
              <a:rPr lang="en-US" altLang="zh-CN" sz="1400" dirty="0">
                <a:solidFill>
                  <a:schemeClr val="dk1"/>
                </a:solidFill>
                <a:latin typeface="Arial" panose="020B0604020202090204" pitchFamily="34" charset="0"/>
                <a:cs typeface="Arial" panose="020B0604020202090204" pitchFamily="34" charset="0"/>
                <a:sym typeface="+mn-ea"/>
              </a:rPr>
              <a:t>On-diagonal (</a:t>
            </a:r>
            <a:r>
              <a:rPr lang="en-US" altLang="zh-CN" sz="1400" i="1" dirty="0">
                <a:solidFill>
                  <a:schemeClr val="dk1"/>
                </a:solidFill>
                <a:latin typeface="Arial" panose="020B0604020202090204" pitchFamily="34" charset="0"/>
                <a:cs typeface="Arial" panose="020B0604020202090204" pitchFamily="34" charset="0"/>
                <a:sym typeface="+mn-ea"/>
              </a:rPr>
              <a:t>n/N ≈ t/T</a:t>
            </a:r>
            <a:r>
              <a:rPr lang="en-US" altLang="zh-CN" sz="1400" dirty="0">
                <a:solidFill>
                  <a:schemeClr val="dk1"/>
                </a:solidFill>
                <a:latin typeface="Arial" panose="020B0604020202090204" pitchFamily="34" charset="0"/>
                <a:cs typeface="Arial" panose="020B0604020202090204" pitchFamily="34" charset="0"/>
                <a:sym typeface="+mn-ea"/>
              </a:rPr>
              <a:t>): </a:t>
            </a:r>
            <a:r>
              <a:rPr lang="en-US" altLang="zh-CN" sz="1400" i="1" dirty="0">
                <a:solidFill>
                  <a:schemeClr val="dk1"/>
                </a:solidFill>
                <a:latin typeface="Arial" panose="020B0604020202090204" pitchFamily="34" charset="0"/>
                <a:cs typeface="Arial" panose="020B0604020202090204" pitchFamily="34" charset="0"/>
                <a:sym typeface="+mn-ea"/>
              </a:rPr>
              <a:t>W</a:t>
            </a:r>
            <a:r>
              <a:rPr lang="en-US" altLang="zh-CN" sz="1400" i="1" baseline="-25000" dirty="0">
                <a:solidFill>
                  <a:schemeClr val="dk1"/>
                </a:solidFill>
                <a:latin typeface="Arial" panose="020B0604020202090204" pitchFamily="34" charset="0"/>
                <a:cs typeface="Arial" panose="020B0604020202090204" pitchFamily="34" charset="0"/>
                <a:sym typeface="+mn-ea"/>
              </a:rPr>
              <a:t>nt</a:t>
            </a:r>
            <a:r>
              <a:rPr lang="en-US" altLang="zh-CN" sz="1400" dirty="0">
                <a:solidFill>
                  <a:schemeClr val="dk1"/>
                </a:solidFill>
                <a:latin typeface="Arial" panose="020B0604020202090204" pitchFamily="34" charset="0"/>
                <a:cs typeface="Arial" panose="020B0604020202090204" pitchFamily="34" charset="0"/>
                <a:sym typeface="+mn-ea"/>
              </a:rPr>
              <a:t>  → 0 → No penalty.   </a:t>
            </a:r>
            <a:endParaRPr lang="en-US" altLang="zh-CN" sz="1400" dirty="0">
              <a:solidFill>
                <a:schemeClr val="dk1"/>
              </a:solidFill>
              <a:latin typeface="Arial" panose="020B0604020202090204" pitchFamily="34" charset="0"/>
              <a:cs typeface="Arial" panose="020B0604020202090204" pitchFamily="34" charset="0"/>
              <a:sym typeface="+mn-ea"/>
            </a:endParaRPr>
          </a:p>
          <a:p>
            <a:pPr marL="742950" lvl="1" indent="-285750">
              <a:buFont typeface="Arial" panose="020B0604020202090204" pitchFamily="34" charset="0"/>
              <a:buChar char="•"/>
            </a:pPr>
            <a:r>
              <a:rPr lang="en-US" altLang="zh-CN" sz="1400" dirty="0">
                <a:solidFill>
                  <a:schemeClr val="dk1"/>
                </a:solidFill>
                <a:latin typeface="Arial" panose="020B0604020202090204" pitchFamily="34" charset="0"/>
                <a:cs typeface="Arial" panose="020B0604020202090204" pitchFamily="34" charset="0"/>
                <a:sym typeface="+mn-ea"/>
              </a:rPr>
              <a:t>Off-diagonal (Far from diagonal): </a:t>
            </a:r>
            <a:r>
              <a:rPr lang="en-US" altLang="zh-CN" sz="1400" i="1" dirty="0">
                <a:solidFill>
                  <a:schemeClr val="dk1"/>
                </a:solidFill>
                <a:latin typeface="Arial" panose="020B0604020202090204" pitchFamily="34" charset="0"/>
                <a:cs typeface="Arial" panose="020B0604020202090204" pitchFamily="34" charset="0"/>
                <a:sym typeface="+mn-ea"/>
              </a:rPr>
              <a:t>W</a:t>
            </a:r>
            <a:r>
              <a:rPr lang="en-US" altLang="zh-CN" sz="1400" i="1" baseline="-25000" dirty="0">
                <a:solidFill>
                  <a:schemeClr val="dk1"/>
                </a:solidFill>
                <a:latin typeface="Arial" panose="020B0604020202090204" pitchFamily="34" charset="0"/>
                <a:cs typeface="Arial" panose="020B0604020202090204" pitchFamily="34" charset="0"/>
                <a:sym typeface="+mn-ea"/>
              </a:rPr>
              <a:t>nt</a:t>
            </a:r>
            <a:r>
              <a:rPr lang="en-US" altLang="zh-CN" sz="1400" dirty="0">
                <a:solidFill>
                  <a:schemeClr val="dk1"/>
                </a:solidFill>
                <a:latin typeface="Arial" panose="020B0604020202090204" pitchFamily="34" charset="0"/>
                <a:cs typeface="Arial" panose="020B0604020202090204" pitchFamily="34" charset="0"/>
                <a:sym typeface="+mn-ea"/>
              </a:rPr>
              <a:t>  → 1 → High penalty. </a:t>
            </a:r>
            <a:endParaRPr lang="en-US" altLang="zh-CN" sz="1400" dirty="0">
              <a:solidFill>
                <a:schemeClr val="dk1"/>
              </a:solidFill>
              <a:latin typeface="Arial" panose="020B0604020202090204" pitchFamily="34" charset="0"/>
              <a:cs typeface="Arial" panose="020B0604020202090204" pitchFamily="34" charset="0"/>
              <a:sym typeface="+mn-ea"/>
            </a:endParaRPr>
          </a:p>
          <a:p>
            <a:pPr marL="742950" lvl="1" indent="-285750">
              <a:buFont typeface="Arial" panose="020B0604020202090204" pitchFamily="34" charset="0"/>
              <a:buChar char="•"/>
            </a:pPr>
            <a:endParaRPr lang="en-US" sz="1400" dirty="0">
              <a:solidFill>
                <a:schemeClr val="dk1"/>
              </a:solidFill>
              <a:latin typeface="Arial" panose="020B0604020202090204" pitchFamily="34" charset="0"/>
              <a:cs typeface="Arial" panose="020B0604020202090204" pitchFamily="34" charset="0"/>
              <a:sym typeface="+mn-ea"/>
            </a:endParaRPr>
          </a:p>
          <a:p>
            <a:pPr marL="285750" indent="-285750">
              <a:buFont typeface="Arial" panose="020B0604020202090204" pitchFamily="34" charset="0"/>
              <a:buChar char="•"/>
            </a:pPr>
            <a:r>
              <a:rPr lang="en-US" altLang="zh-CN" sz="1400" b="1" dirty="0">
                <a:solidFill>
                  <a:schemeClr val="dk1"/>
                </a:solidFill>
                <a:latin typeface="Arial" panose="020B0604020202090204" pitchFamily="34" charset="0"/>
                <a:cs typeface="Arial" panose="020B0604020202090204" pitchFamily="34" charset="0"/>
                <a:sym typeface="+mn-ea"/>
              </a:rPr>
              <a:t>Bandwidth Hyperparameter </a:t>
            </a:r>
            <a:r>
              <a:rPr lang="en-US" altLang="zh-CN" sz="1400" i="1" dirty="0">
                <a:solidFill>
                  <a:schemeClr val="dk1"/>
                </a:solidFill>
                <a:latin typeface="Arial" panose="020B0604020202090204" pitchFamily="34" charset="0"/>
                <a:cs typeface="Arial" panose="020B0604020202090204" pitchFamily="34" charset="0"/>
                <a:sym typeface="+mn-ea"/>
              </a:rPr>
              <a:t>g</a:t>
            </a:r>
            <a:r>
              <a:rPr lang="en-US" altLang="zh-CN" sz="1400" dirty="0">
                <a:solidFill>
                  <a:schemeClr val="dk1"/>
                </a:solidFill>
                <a:latin typeface="Arial" panose="020B0604020202090204" pitchFamily="34" charset="0"/>
                <a:cs typeface="Arial" panose="020B0604020202090204" pitchFamily="34" charset="0"/>
                <a:sym typeface="+mn-ea"/>
              </a:rPr>
              <a:t>: Controls the flexibility allowance for pauses and varying speech rates. </a:t>
            </a:r>
            <a:endParaRPr lang="en-US" altLang="zh-CN" sz="1400" dirty="0">
              <a:solidFill>
                <a:schemeClr val="dk1"/>
              </a:solidFill>
              <a:latin typeface="Arial" panose="020B0604020202090204" pitchFamily="34" charset="0"/>
              <a:cs typeface="Arial" panose="020B0604020202090204" pitchFamily="34" charset="0"/>
              <a:sym typeface="+mn-ea"/>
            </a:endParaRPr>
          </a:p>
        </p:txBody>
      </p:sp>
      <p:pic>
        <p:nvPicPr>
          <p:cNvPr id="20" name="Image 11"/>
          <p:cNvPicPr>
            <a:picLocks noChangeAspect="1"/>
          </p:cNvPicPr>
          <p:nvPr/>
        </p:nvPicPr>
        <p:blipFill>
          <a:blip r:embed="rId2"/>
          <a:stretch>
            <a:fillRect/>
          </a:stretch>
        </p:blipFill>
        <p:spPr>
          <a:xfrm>
            <a:off x="767715" y="3354705"/>
            <a:ext cx="6897370" cy="302260"/>
          </a:xfrm>
          <a:prstGeom prst="rect">
            <a:avLst/>
          </a:prstGeom>
        </p:spPr>
      </p:pic>
      <p:sp>
        <p:nvSpPr>
          <p:cNvPr id="21" name="文本框 20"/>
          <p:cNvSpPr txBox="1"/>
          <p:nvPr/>
        </p:nvSpPr>
        <p:spPr>
          <a:xfrm>
            <a:off x="620395" y="2060575"/>
            <a:ext cx="10622280" cy="368300"/>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Solution:</a:t>
            </a:r>
            <a:r>
              <a:rPr lang="en-US" altLang="zh-CN" sz="1600">
                <a:latin typeface="Arial" panose="020B0604020202090204" pitchFamily="34" charset="0"/>
                <a:cs typeface="Arial" panose="020B0604020202090204" pitchFamily="34" charset="0"/>
              </a:rPr>
              <a:t> Introduce a soft diagonal prior L</a:t>
            </a:r>
            <a:r>
              <a:rPr lang="en-US" altLang="zh-CN" sz="1600" baseline="-25000">
                <a:latin typeface="Arial" panose="020B0604020202090204" pitchFamily="34" charset="0"/>
                <a:cs typeface="Arial" panose="020B0604020202090204" pitchFamily="34" charset="0"/>
              </a:rPr>
              <a:t>att</a:t>
            </a:r>
            <a:r>
              <a:rPr lang="en-US" altLang="zh-CN" sz="1600">
                <a:latin typeface="Arial" panose="020B0604020202090204" pitchFamily="34" charset="0"/>
                <a:cs typeface="Arial" panose="020B0604020202090204" pitchFamily="34" charset="0"/>
              </a:rPr>
              <a:t> to guide attention learning during early training stages.</a:t>
            </a:r>
            <a:r>
              <a:rPr lang="en-US" altLang="zh-CN"/>
              <a:t>   </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STYLE &amp; SPEAKER</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2800" b="1" i="0">
                <a:solidFill>
                  <a:srgbClr val="0F172A"/>
                </a:solidFill>
                <a:latin typeface="Arial" panose="020B0604020202090204"/>
                <a:ea typeface="Arial" panose="020B0604020202090204"/>
                <a:cs typeface="Arial" panose="020B0604020202090204"/>
              </a:rPr>
              <a:t>Tacotron 2 : </a:t>
            </a:r>
            <a:r>
              <a:rPr sz="2800" b="1" i="0">
                <a:solidFill>
                  <a:srgbClr val="0F172A"/>
                </a:solidFill>
                <a:latin typeface="Arial" panose="020B0604020202090204"/>
                <a:ea typeface="Arial" panose="020B0604020202090204"/>
                <a:cs typeface="Arial" panose="020B0604020202090204"/>
              </a:rPr>
              <a:t>Global Style Tokens</a:t>
            </a:r>
            <a:r>
              <a:rPr lang="en-US" sz="2800" b="1" i="0">
                <a:solidFill>
                  <a:srgbClr val="0F172A"/>
                </a:solidFill>
                <a:latin typeface="Arial" panose="020B0604020202090204"/>
                <a:ea typeface="Arial" panose="020B0604020202090204"/>
                <a:cs typeface="Arial" panose="020B0604020202090204"/>
              </a:rPr>
              <a:t> (GST) - </a:t>
            </a:r>
            <a:r>
              <a:rPr lang="en-US" sz="2800" b="1" i="0">
                <a:solidFill>
                  <a:srgbClr val="0F172A"/>
                </a:solidFill>
                <a:latin typeface="Arial" panose="020B0604020202090204"/>
                <a:ea typeface="Arial" panose="020B0604020202090204"/>
                <a:cs typeface="Arial" panose="020B0604020202090204"/>
              </a:rPr>
              <a:t>Training Phase</a:t>
            </a:r>
            <a:endParaRPr lang="en-US"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14350" y="981710"/>
            <a:ext cx="333375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The one-to-many problem</a:t>
            </a:r>
            <a:endParaRPr sz="20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14350" y="1412240"/>
            <a:ext cx="8550275" cy="450215"/>
          </a:xfrm>
          <a:prstGeom prst="rect">
            <a:avLst/>
          </a:prstGeom>
          <a:noFill/>
          <a:ln w="0">
            <a:noFill/>
            <a:prstDash val="solid"/>
          </a:ln>
        </p:spPr>
        <p:txBody>
          <a:bodyPr wrap="square" lIns="0" tIns="0" rIns="0" bIns="0" anchor="t"/>
          <a:lstStyle/>
          <a:p>
            <a:pPr algn="l">
              <a:lnSpc>
                <a:spcPct val="110000"/>
              </a:lnSpc>
              <a:buNone/>
              <a:defRPr sz="17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A single text input corresponds to multiple valid audio outputs with varying pitch, pace, energy, and emotion. Text alone lacks acoustic variation details.</a:t>
            </a:r>
            <a:endParaRPr lang="en-US" altLang="zh-CN" sz="1400" b="0" i="0">
              <a:solidFill>
                <a:srgbClr val="334155"/>
              </a:solidFill>
              <a:latin typeface="Arial" panose="020B0604020202090204"/>
              <a:ea typeface="Arial" panose="020B0604020202090204"/>
              <a:cs typeface="Arial" panose="020B0604020202090204"/>
            </a:endParaRPr>
          </a:p>
        </p:txBody>
      </p:sp>
      <p:pic>
        <p:nvPicPr>
          <p:cNvPr id="16" name="图片 15"/>
          <p:cNvPicPr>
            <a:picLocks noChangeAspect="1"/>
          </p:cNvPicPr>
          <p:nvPr/>
        </p:nvPicPr>
        <p:blipFill>
          <a:blip r:embed="rId1"/>
          <a:stretch>
            <a:fillRect/>
          </a:stretch>
        </p:blipFill>
        <p:spPr>
          <a:xfrm>
            <a:off x="6311900" y="2132965"/>
            <a:ext cx="5725795" cy="3271520"/>
          </a:xfrm>
          <a:prstGeom prst="rect">
            <a:avLst/>
          </a:prstGeom>
        </p:spPr>
      </p:pic>
      <p:sp>
        <p:nvSpPr>
          <p:cNvPr id="8" name="矩形 7"/>
          <p:cNvSpPr>
            <a:spLocks noGrp="1"/>
          </p:cNvSpPr>
          <p:nvPr/>
        </p:nvSpPr>
        <p:spPr>
          <a:xfrm>
            <a:off x="479425" y="1985010"/>
            <a:ext cx="415226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2000" b="1" i="0">
                <a:solidFill>
                  <a:srgbClr val="059669"/>
                </a:solidFill>
                <a:latin typeface="Arial" panose="020B0604020202090204"/>
                <a:ea typeface="Arial" panose="020B0604020202090204"/>
                <a:cs typeface="Arial" panose="020B0604020202090204"/>
              </a:rPr>
              <a:t>GST </a:t>
            </a:r>
            <a:r>
              <a:rPr lang="en-US" altLang="zh-CN" sz="2000" b="1" i="0">
                <a:solidFill>
                  <a:srgbClr val="059669"/>
                </a:solidFill>
                <a:latin typeface="Arial" panose="020B0604020202090204"/>
                <a:ea typeface="Arial" panose="020B0604020202090204"/>
                <a:cs typeface="Arial" panose="020B0604020202090204"/>
              </a:rPr>
              <a:t>Core Training Workflow</a:t>
            </a:r>
            <a:endParaRPr lang="en-US" altLang="zh-CN" sz="2000" b="1" i="0">
              <a:solidFill>
                <a:srgbClr val="05966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479425" y="2452370"/>
            <a:ext cx="5939790" cy="383984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1. Reference Encoder</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Extracts a fixed-length </a:t>
            </a:r>
            <a:r>
              <a:rPr lang="en-US" altLang="zh-CN" sz="1400" b="1" i="0">
                <a:solidFill>
                  <a:srgbClr val="334155"/>
                </a:solidFill>
                <a:latin typeface="Arial" panose="020B0604020202090204" pitchFamily="34" charset="0"/>
                <a:ea typeface="Arial" panose="020B0604020202090204"/>
                <a:cs typeface="Arial" panose="020B0604020202090204" pitchFamily="34" charset="0"/>
              </a:rPr>
              <a:t>Reference Embedding</a:t>
            </a:r>
            <a:r>
              <a:rPr lang="en-US" altLang="zh-CN" sz="1400" b="0" i="0">
                <a:solidFill>
                  <a:srgbClr val="334155"/>
                </a:solidFill>
                <a:latin typeface="Arial" panose="020B0604020202090204"/>
                <a:ea typeface="Arial" panose="020B0604020202090204"/>
                <a:cs typeface="Arial" panose="020B0604020202090204"/>
              </a:rPr>
              <a:t> from variable-length target audio.</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2. Style Token Layer</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Maintains a bank of K learnable embeddings (Tokens A, B, C...).</a:t>
            </a:r>
            <a:endParaRPr lang="en-US" altLang="zh-CN" sz="14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Uses Multi-Head Attention to calculate similarity weights between Ref Embedding and Tokens.</a:t>
            </a:r>
            <a:endParaRPr lang="en-US" altLang="zh-CN" sz="14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3. Conditioning the Decoder</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Multiplies weights with tokens to form the final Style Embedding.</a:t>
            </a:r>
            <a:endParaRPr lang="en-US" altLang="zh-CN" sz="14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Concatenated/added to text encoder outputs to guide speech generation.</a:t>
            </a:r>
            <a:endParaRPr lang="en-US" altLang="zh-CN" sz="1400" b="0" i="0">
              <a:solidFill>
                <a:srgbClr val="334155"/>
              </a:solidFill>
              <a:latin typeface="Arial" panose="020B0604020202090204"/>
              <a:ea typeface="Arial" panose="020B0604020202090204"/>
              <a:cs typeface="Arial" panose="020B060402020209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STYLE &amp; SPEAKER</a:t>
            </a:r>
            <a:endParaRPr sz="750" b="0" i="0">
              <a:solidFill>
                <a:srgbClr val="64748B"/>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0" y="1700530"/>
            <a:ext cx="6551295" cy="3743325"/>
          </a:xfrm>
          <a:prstGeom prst="rect">
            <a:avLst/>
          </a:prstGeom>
        </p:spPr>
      </p:pic>
      <p:sp>
        <p:nvSpPr>
          <p:cNvPr id="6" name="矩形 5"/>
          <p:cNvSpPr>
            <a:spLocks noGrp="1"/>
          </p:cNvSpPr>
          <p:nvPr/>
        </p:nvSpPr>
        <p:spPr>
          <a:xfrm>
            <a:off x="5951855" y="1741805"/>
            <a:ext cx="28575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1800" b="1" i="0">
                <a:solidFill>
                  <a:srgbClr val="1E40AF"/>
                </a:solidFill>
                <a:latin typeface="Arial" panose="020B0604020202090204"/>
                <a:ea typeface="Arial" panose="020B0604020202090204"/>
                <a:cs typeface="Arial" panose="020B0604020202090204"/>
              </a:rPr>
              <a:t>Two control modes</a:t>
            </a:r>
            <a:endParaRPr sz="18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259195" y="2275205"/>
            <a:ext cx="5514975" cy="171450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1" i="0">
                <a:solidFill>
                  <a:srgbClr val="334155"/>
                </a:solidFill>
                <a:latin typeface="Arial" panose="020B0604020202090204" pitchFamily="34" charset="0"/>
                <a:ea typeface="Arial" panose="020B0604020202090204"/>
                <a:cs typeface="Arial" panose="020B0604020202090204" pitchFamily="34" charset="0"/>
              </a:rPr>
              <a:t>• Reference audio:</a:t>
            </a:r>
            <a:r>
              <a:rPr sz="1600" b="0" i="0">
                <a:solidFill>
                  <a:srgbClr val="334155"/>
                </a:solidFill>
                <a:latin typeface="Arial" panose="020B0604020202090204"/>
                <a:ea typeface="Arial" panose="020B0604020202090204"/>
                <a:cs typeface="Arial" panose="020B0604020202090204"/>
              </a:rPr>
              <a:t> transfer a style without a label.</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1" i="0">
                <a:solidFill>
                  <a:srgbClr val="334155"/>
                </a:solidFill>
                <a:latin typeface="Arial" panose="020B0604020202090204" pitchFamily="34" charset="0"/>
                <a:ea typeface="Arial" panose="020B0604020202090204"/>
                <a:cs typeface="Arial" panose="020B0604020202090204" pitchFamily="34" charset="0"/>
              </a:rPr>
              <a:t>• Token weights:</a:t>
            </a:r>
            <a:r>
              <a:rPr sz="1600" b="0" i="0">
                <a:solidFill>
                  <a:srgbClr val="334155"/>
                </a:solidFill>
                <a:latin typeface="Arial" panose="020B0604020202090204"/>
                <a:ea typeface="Arial" panose="020B0604020202090204"/>
                <a:cs typeface="Arial" panose="020B0604020202090204"/>
              </a:rPr>
              <a:t> explore or reproduce a discovered style.</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1" i="0">
                <a:solidFill>
                  <a:srgbClr val="334155"/>
                </a:solidFill>
                <a:latin typeface="Arial" panose="020B0604020202090204" pitchFamily="34" charset="0"/>
                <a:ea typeface="Arial" panose="020B0604020202090204"/>
                <a:cs typeface="Arial" panose="020B0604020202090204" pitchFamily="34" charset="0"/>
              </a:rPr>
              <a:t>• </a:t>
            </a:r>
            <a:r>
              <a:rPr sz="1600" b="0" i="0">
                <a:solidFill>
                  <a:srgbClr val="334155"/>
                </a:solidFill>
                <a:latin typeface="Arial" panose="020B0604020202090204"/>
                <a:ea typeface="Arial" panose="020B0604020202090204"/>
                <a:cs typeface="Arial" panose="020B0604020202090204"/>
              </a:rPr>
              <a:t>Both paths produce a style embedding that enters the acoustic model.</a:t>
            </a:r>
            <a:endParaRPr sz="16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951855" y="4396740"/>
            <a:ext cx="936625" cy="323850"/>
          </a:xfrm>
          <a:prstGeom prst="rect">
            <a:avLst/>
          </a:prstGeom>
          <a:noFill/>
          <a:ln w="0">
            <a:noFill/>
            <a:prstDash val="solid"/>
          </a:ln>
        </p:spPr>
        <p:txBody>
          <a:bodyPr wrap="square" lIns="0" tIns="0" rIns="0" bIns="0" anchor="t">
            <a:normAutofit/>
          </a:bodyPr>
          <a:lstStyle/>
          <a:p>
            <a:pPr algn="l">
              <a:lnSpc>
                <a:spcPct val="110000"/>
              </a:lnSpc>
              <a:buNone/>
              <a:defRPr sz="1575" b="1" i="0">
                <a:solidFill>
                  <a:srgbClr val="D97706"/>
                </a:solidFill>
                <a:latin typeface="Arial" panose="020B0604020202090204"/>
                <a:ea typeface="Arial" panose="020B0604020202090204"/>
                <a:cs typeface="Arial" panose="020B0604020202090204"/>
              </a:defRPr>
            </a:pPr>
            <a:r>
              <a:rPr sz="1800" b="1" i="0">
                <a:solidFill>
                  <a:srgbClr val="D97706"/>
                </a:solidFill>
                <a:latin typeface="Arial" panose="020B0604020202090204"/>
                <a:ea typeface="Arial" panose="020B0604020202090204"/>
                <a:cs typeface="Arial" panose="020B0604020202090204"/>
              </a:rPr>
              <a:t>Caveat</a:t>
            </a:r>
            <a:endParaRPr sz="1800" b="1" i="0">
              <a:solidFill>
                <a:srgbClr val="D97706"/>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167755" y="4939030"/>
            <a:ext cx="5989955" cy="692150"/>
          </a:xfrm>
          <a:prstGeom prst="rect">
            <a:avLst/>
          </a:prstGeom>
          <a:noFill/>
          <a:ln w="0">
            <a:noFill/>
            <a:prstDash val="solid"/>
          </a:ln>
        </p:spPr>
        <p:txBody>
          <a:bodyPr wrap="square" lIns="0" tIns="0" rIns="0" bIns="0" anchor="t"/>
          <a:lstStyle/>
          <a:p>
            <a:pPr algn="l">
              <a:lnSpc>
                <a:spcPct val="110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Unsupervised tokens are not guaranteed to map cleanly to human labels such as ‘happy’ or ‘sad’. Interpretability is empirical.</a:t>
            </a:r>
            <a:endParaRPr sz="1600" b="0" i="0">
              <a:solidFill>
                <a:srgbClr val="334155"/>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2800" b="1" i="0">
                <a:solidFill>
                  <a:srgbClr val="0F172A"/>
                </a:solidFill>
                <a:latin typeface="Arial" panose="020B0604020202090204"/>
                <a:ea typeface="Arial" panose="020B0604020202090204"/>
                <a:cs typeface="Arial" panose="020B0604020202090204"/>
              </a:rPr>
              <a:t>Tacotron 2 : </a:t>
            </a:r>
            <a:r>
              <a:rPr sz="2800" b="1" i="0">
                <a:solidFill>
                  <a:srgbClr val="0F172A"/>
                </a:solidFill>
                <a:latin typeface="Arial" panose="020B0604020202090204"/>
                <a:ea typeface="Arial" panose="020B0604020202090204"/>
                <a:cs typeface="Arial" panose="020B0604020202090204"/>
              </a:rPr>
              <a:t>Global Style Tokens</a:t>
            </a:r>
            <a:r>
              <a:rPr lang="en-US" sz="2800" b="1" i="0">
                <a:solidFill>
                  <a:srgbClr val="0F172A"/>
                </a:solidFill>
                <a:latin typeface="Arial" panose="020B0604020202090204"/>
                <a:ea typeface="Arial" panose="020B0604020202090204"/>
                <a:cs typeface="Arial" panose="020B0604020202090204"/>
              </a:rPr>
              <a:t> (GST) - </a:t>
            </a:r>
            <a:r>
              <a:rPr lang="en-US" sz="2800" b="1" i="0">
                <a:solidFill>
                  <a:srgbClr val="0F172A"/>
                </a:solidFill>
                <a:latin typeface="Arial" panose="020B0604020202090204"/>
                <a:ea typeface="Arial" panose="020B0604020202090204"/>
                <a:cs typeface="Arial" panose="020B0604020202090204"/>
              </a:rPr>
              <a:t>Inference &amp; Limitations</a:t>
            </a:r>
            <a:endParaRPr lang="en-US" sz="2800" b="1" i="0">
              <a:solidFill>
                <a:srgbClr val="0F172A"/>
              </a:solidFill>
              <a:latin typeface="Arial" panose="020B0604020202090204"/>
              <a:ea typeface="Arial" panose="020B0604020202090204"/>
              <a:cs typeface="Arial" panose="020B060402020209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STYLE &amp; SPEAKER</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0">
                <a:solidFill>
                  <a:srgbClr val="0F172A"/>
                </a:solidFill>
                <a:latin typeface="Arial" panose="020B0604020202090204"/>
                <a:ea typeface="Arial" panose="020B0604020202090204"/>
                <a:cs typeface="Arial" panose="020B0604020202090204"/>
              </a:rPr>
              <a:t>Multispeaker TTS</a:t>
            </a:r>
            <a:endParaRPr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454660" y="1268730"/>
            <a:ext cx="11203940" cy="2418715"/>
          </a:xfrm>
          <a:prstGeom prst="rect">
            <a:avLst/>
          </a:prstGeom>
        </p:spPr>
      </p:pic>
      <p:sp>
        <p:nvSpPr>
          <p:cNvPr id="6" name="矩形 5"/>
          <p:cNvSpPr>
            <a:spLocks noGrp="1"/>
          </p:cNvSpPr>
          <p:nvPr/>
        </p:nvSpPr>
        <p:spPr>
          <a:xfrm>
            <a:off x="1052830" y="4218940"/>
            <a:ext cx="2472055" cy="323850"/>
          </a:xfrm>
          <a:prstGeom prst="rect">
            <a:avLst/>
          </a:prstGeom>
          <a:noFill/>
          <a:ln w="0">
            <a:noFill/>
            <a:prstDash val="solid"/>
          </a:ln>
        </p:spPr>
        <p:txBody>
          <a:bodyPr wrap="square" lIns="0" tIns="0" rIns="0" bIns="0" anchor="t"/>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sz="1800">
                <a:latin typeface="Arial" panose="020B0604020202090204" pitchFamily="34" charset="0"/>
                <a:ea typeface="Lora"/>
                <a:cs typeface="Arial" panose="020B0604020202090204" pitchFamily="34" charset="0"/>
                <a:sym typeface="Lora"/>
              </a:rPr>
              <a:t>Speaker encoder (SE)</a:t>
            </a:r>
            <a:endParaRPr lang="en-US" sz="1800" i="0">
              <a:solidFill>
                <a:srgbClr val="1E40AF"/>
              </a:solidFill>
              <a:latin typeface="Arial" panose="020B0604020202090204" pitchFamily="34" charset="0"/>
              <a:ea typeface="Lora"/>
              <a:cs typeface="Arial" panose="020B0604020202090204" pitchFamily="34" charset="0"/>
              <a:sym typeface="Lora"/>
            </a:endParaRPr>
          </a:p>
        </p:txBody>
      </p:sp>
      <p:sp>
        <p:nvSpPr>
          <p:cNvPr id="5" name="文本框 4"/>
          <p:cNvSpPr txBox="1"/>
          <p:nvPr/>
        </p:nvSpPr>
        <p:spPr>
          <a:xfrm>
            <a:off x="963930" y="4651375"/>
            <a:ext cx="3865880" cy="337185"/>
          </a:xfrm>
          <a:prstGeom prst="rect">
            <a:avLst/>
          </a:prstGeom>
          <a:noFill/>
        </p:spPr>
        <p:txBody>
          <a:bodyPr wrap="square" rtlCol="0" anchor="t">
            <a:spAutoFit/>
          </a:bodyPr>
          <a:p>
            <a:pPr marL="285750" indent="-285750">
              <a:buFont typeface="Arial" panose="020B0604020202090204" pitchFamily="34" charset="0"/>
              <a:buChar char="•"/>
            </a:pPr>
            <a:r>
              <a:rPr lang="en-US" sz="1600">
                <a:latin typeface="Arial" panose="020B0604020202090204" pitchFamily="34" charset="0"/>
                <a:ea typeface="Lora"/>
                <a:cs typeface="Arial" panose="020B0604020202090204" pitchFamily="34" charset="0"/>
                <a:sym typeface="Lora"/>
              </a:rPr>
              <a:t>Trained on a speaker verification task.</a:t>
            </a:r>
            <a:endParaRPr lang="en-US" altLang="en-US" sz="1600">
              <a:latin typeface="Arial" panose="020B0604020202090204" pitchFamily="34" charset="0"/>
              <a:ea typeface="Lora"/>
              <a:cs typeface="Arial" panose="020B0604020202090204" pitchFamily="34" charset="0"/>
              <a:sym typeface="Lora"/>
            </a:endParaRPr>
          </a:p>
        </p:txBody>
      </p:sp>
      <p:sp>
        <p:nvSpPr>
          <p:cNvPr id="11" name="文本框 10"/>
          <p:cNvSpPr txBox="1"/>
          <p:nvPr/>
        </p:nvSpPr>
        <p:spPr>
          <a:xfrm>
            <a:off x="963930" y="5147945"/>
            <a:ext cx="4769485" cy="583565"/>
          </a:xfrm>
          <a:prstGeom prst="rect">
            <a:avLst/>
          </a:prstGeom>
          <a:noFill/>
        </p:spPr>
        <p:txBody>
          <a:bodyPr wrap="square" rtlCol="0">
            <a:spAutoFit/>
          </a:bodyPr>
          <a:p>
            <a:pPr marL="285750" indent="-285750">
              <a:buFont typeface="Arial" panose="020B0604020202090204" pitchFamily="34" charset="0"/>
              <a:buChar char="•"/>
            </a:pPr>
            <a:r>
              <a:rPr lang="en-US" altLang="zh-CN" sz="1600">
                <a:latin typeface="Arial" panose="020B0604020202090204" pitchFamily="34" charset="0"/>
                <a:cs typeface="Arial" panose="020B0604020202090204" pitchFamily="34" charset="0"/>
              </a:rPr>
              <a:t>Map the voices of different people onto vectors that are vastly different from each other.</a:t>
            </a:r>
            <a:endParaRPr lang="en-US" altLang="zh-CN" sz="1600">
              <a:latin typeface="Arial" panose="020B0604020202090204" pitchFamily="34" charset="0"/>
              <a:cs typeface="Arial" panose="020B0604020202090204" pitchFamily="34" charset="0"/>
            </a:endParaRPr>
          </a:p>
        </p:txBody>
      </p:sp>
      <p:sp>
        <p:nvSpPr>
          <p:cNvPr id="12" name="文本框 11"/>
          <p:cNvSpPr txBox="1"/>
          <p:nvPr/>
        </p:nvSpPr>
        <p:spPr>
          <a:xfrm>
            <a:off x="6089650" y="4218940"/>
            <a:ext cx="2752725" cy="368300"/>
          </a:xfrm>
          <a:prstGeom prst="rect">
            <a:avLst/>
          </a:prstGeom>
          <a:noFill/>
        </p:spPr>
        <p:txBody>
          <a:bodyPr wrap="square" rtlCol="0">
            <a:spAutoFit/>
          </a:bodyPr>
          <a:p>
            <a:r>
              <a:rPr lang="en-US" b="1">
                <a:solidFill>
                  <a:schemeClr val="accent2"/>
                </a:solidFill>
                <a:latin typeface="Arial" panose="020B0604020202090204" pitchFamily="34" charset="0"/>
                <a:ea typeface="Lora"/>
                <a:cs typeface="Arial" panose="020B0604020202090204" pitchFamily="34" charset="0"/>
                <a:sym typeface="+mn-ea"/>
              </a:rPr>
              <a:t>Text-independent Task</a:t>
            </a:r>
            <a:endParaRPr lang="en-US" b="1">
              <a:solidFill>
                <a:schemeClr val="accent2"/>
              </a:solidFill>
              <a:latin typeface="Arial" panose="020B0604020202090204" pitchFamily="34" charset="0"/>
              <a:ea typeface="Lora"/>
              <a:cs typeface="Arial" panose="020B0604020202090204" pitchFamily="34" charset="0"/>
              <a:sym typeface="+mn-ea"/>
            </a:endParaRPr>
          </a:p>
        </p:txBody>
      </p:sp>
      <p:sp>
        <p:nvSpPr>
          <p:cNvPr id="13" name="文本框 12"/>
          <p:cNvSpPr txBox="1"/>
          <p:nvPr/>
        </p:nvSpPr>
        <p:spPr>
          <a:xfrm>
            <a:off x="6377940" y="4642485"/>
            <a:ext cx="4064000" cy="337185"/>
          </a:xfrm>
          <a:prstGeom prst="rect">
            <a:avLst/>
          </a:prstGeom>
          <a:noFill/>
        </p:spPr>
        <p:txBody>
          <a:bodyPr wrap="square" rtlCol="0">
            <a:spAutoFit/>
          </a:bodyPr>
          <a:p>
            <a:pPr marL="285750" indent="-285750">
              <a:buFont typeface="Arial" panose="020B0604020202090204" pitchFamily="34" charset="0"/>
              <a:buChar char="•"/>
            </a:pPr>
            <a:r>
              <a:rPr lang="en-US" sz="1600">
                <a:solidFill>
                  <a:srgbClr val="334155"/>
                </a:solidFill>
                <a:latin typeface="Arial" panose="020B0604020202090204"/>
                <a:ea typeface="Arial" panose="020B0604020202090204"/>
                <a:cs typeface="Arial" panose="020B0604020202090204"/>
                <a:sym typeface="+mn-ea"/>
              </a:rPr>
              <a:t>I</a:t>
            </a:r>
            <a:r>
              <a:rPr sz="1600">
                <a:solidFill>
                  <a:srgbClr val="334155"/>
                </a:solidFill>
                <a:latin typeface="Arial" panose="020B0604020202090204"/>
                <a:ea typeface="Arial" panose="020B0604020202090204"/>
                <a:cs typeface="Arial" panose="020B0604020202090204"/>
                <a:sym typeface="+mn-ea"/>
              </a:rPr>
              <a:t>dentity should survive content changes.</a:t>
            </a:r>
            <a:endParaRPr lang="zh-CN" altLang="en-US" sz="1600">
              <a:solidFill>
                <a:srgbClr val="334155"/>
              </a:solidFill>
              <a:latin typeface="Arial" panose="020B0604020202090204"/>
              <a:ea typeface="Arial" panose="020B0604020202090204"/>
              <a:cs typeface="Arial" panose="020B0604020202090204"/>
              <a:sym typeface="+mn-ea"/>
            </a:endParaRPr>
          </a:p>
        </p:txBody>
      </p:sp>
      <p:sp>
        <p:nvSpPr>
          <p:cNvPr id="15" name="文本框 14"/>
          <p:cNvSpPr txBox="1"/>
          <p:nvPr/>
        </p:nvSpPr>
        <p:spPr>
          <a:xfrm>
            <a:off x="6383655" y="5196205"/>
            <a:ext cx="5342255" cy="583565"/>
          </a:xfrm>
          <a:prstGeom prst="rect">
            <a:avLst/>
          </a:prstGeom>
          <a:noFill/>
        </p:spPr>
        <p:txBody>
          <a:bodyPr wrap="square" rtlCol="0">
            <a:spAutoFit/>
          </a:bodyPr>
          <a:p>
            <a:pPr marL="285750" indent="-285750">
              <a:buFont typeface="Arial" panose="020B0604020202090204" pitchFamily="34" charset="0"/>
              <a:buChar char="•"/>
            </a:pPr>
            <a:r>
              <a:rPr lang="en-US" altLang="zh-CN" sz="1600">
                <a:latin typeface="Arial" panose="020B0604020202090204" pitchFamily="34" charset="0"/>
                <a:cs typeface="Arial" panose="020B0604020202090204" pitchFamily="34" charset="0"/>
              </a:rPr>
              <a:t>Extract the common and stable vocal characteristics that belong to the speaker.</a:t>
            </a:r>
            <a:endParaRPr lang="en-US" altLang="zh-CN" sz="1600">
              <a:latin typeface="Arial" panose="020B0604020202090204" pitchFamily="34" charset="0"/>
              <a:cs typeface="Arial" panose="020B060402020209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161669"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ACOUSTIC MODEL          </a:t>
            </a:r>
            <a:endParaRPr lang="en-US" sz="750" dirty="0">
              <a:solidFill>
                <a:srgbClr val="64748B"/>
              </a:solidFill>
              <a:latin typeface="+mn-lt"/>
              <a:ea typeface="+mn-ea"/>
              <a:cs typeface="+mn-cs"/>
            </a:endParaRPr>
          </a:p>
        </p:txBody>
      </p:sp>
      <p:sp>
        <p:nvSpPr>
          <p:cNvPr id="3" name="TextBox 3"/>
          <p:cNvSpPr txBox="1"/>
          <p:nvPr/>
        </p:nvSpPr>
        <p:spPr>
          <a:xfrm>
            <a:off x="501396" y="467678"/>
            <a:ext cx="681545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Review and answers: acoustic modeling</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650240" y="1367155"/>
            <a:ext cx="6754495" cy="307340"/>
          </a:xfrm>
          <a:prstGeom prst="rect">
            <a:avLst/>
          </a:prstGeom>
          <a:noFill/>
          <a:ln>
            <a:noFill/>
          </a:ln>
        </p:spPr>
        <p:txBody>
          <a:bodyPr wrap="none" lIns="0" tIns="0" rIns="0" bIns="0" anchor="t" anchorCtr="0">
            <a:spAutoFit/>
          </a:bodyPr>
          <a:lstStyle/>
          <a:p>
            <a:pPr algn="l"/>
            <a:r>
              <a:rPr lang="en-US" sz="2000" dirty="0">
                <a:solidFill>
                  <a:schemeClr val="accent3"/>
                </a:solidFill>
                <a:latin typeface="Arial" panose="020B0604020202090204" pitchFamily="34" charset="0"/>
                <a:ea typeface="+mn-ea"/>
                <a:cs typeface="Arial" panose="020B0604020202090204" pitchFamily="34" charset="0"/>
              </a:rPr>
              <a:t>1. Does location sensitivity guarantee monotonic alignment?</a:t>
            </a:r>
            <a:endParaRPr lang="en-US" sz="2000" dirty="0">
              <a:solidFill>
                <a:schemeClr val="accent3"/>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650240" y="2795905"/>
            <a:ext cx="5033645" cy="307340"/>
          </a:xfrm>
          <a:prstGeom prst="rect">
            <a:avLst/>
          </a:prstGeom>
          <a:noFill/>
          <a:ln>
            <a:noFill/>
          </a:ln>
        </p:spPr>
        <p:txBody>
          <a:bodyPr wrap="none" lIns="0" tIns="0" rIns="0" bIns="0" anchor="t" anchorCtr="0">
            <a:spAutoFit/>
          </a:bodyPr>
          <a:lstStyle/>
          <a:p>
            <a:pPr algn="l"/>
            <a:r>
              <a:rPr lang="en-US" sz="2000" dirty="0">
                <a:solidFill>
                  <a:schemeClr val="accent3"/>
                </a:solidFill>
                <a:latin typeface="Arial" panose="020B0604020202090204" pitchFamily="34" charset="0"/>
                <a:ea typeface="+mn-ea"/>
                <a:cs typeface="Arial" panose="020B0604020202090204" pitchFamily="34" charset="0"/>
              </a:rPr>
              <a:t>2. What previous frame is used at inference?</a:t>
            </a:r>
            <a:endParaRPr lang="en-US" sz="2000" dirty="0">
              <a:solidFill>
                <a:schemeClr val="accent3"/>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650240" y="4224655"/>
            <a:ext cx="4540885" cy="307340"/>
          </a:xfrm>
          <a:prstGeom prst="rect">
            <a:avLst/>
          </a:prstGeom>
          <a:noFill/>
          <a:ln>
            <a:noFill/>
          </a:ln>
        </p:spPr>
        <p:txBody>
          <a:bodyPr wrap="none" lIns="0" tIns="0" rIns="0" bIns="0" anchor="t" anchorCtr="0">
            <a:spAutoFit/>
          </a:bodyPr>
          <a:lstStyle/>
          <a:p>
            <a:pPr algn="l"/>
            <a:r>
              <a:rPr lang="en-US" sz="2000" dirty="0">
                <a:solidFill>
                  <a:schemeClr val="accent3"/>
                </a:solidFill>
                <a:latin typeface="Arial" panose="020B0604020202090204" pitchFamily="34" charset="0"/>
                <a:ea typeface="+mn-ea"/>
                <a:cs typeface="Arial" panose="020B0604020202090204" pitchFamily="34" charset="0"/>
              </a:rPr>
              <a:t>3. Are GST tokens fixed emotion labels?</a:t>
            </a:r>
            <a:endParaRPr lang="en-US" sz="2000" dirty="0">
              <a:solidFill>
                <a:schemeClr val="accent3"/>
              </a:solidFill>
              <a:latin typeface="Arial" panose="020B0604020202090204" pitchFamily="34" charset="0"/>
              <a:ea typeface="+mn-ea"/>
              <a:cs typeface="Arial" panose="020B0604020202090204" pitchFamily="34" charset="0"/>
            </a:endParaRPr>
          </a:p>
        </p:txBody>
      </p:sp>
      <p:sp>
        <p:nvSpPr>
          <p:cNvPr id="11" name="TextBox 11"/>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161669"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ACOUSTIC MODEL          </a:t>
            </a:r>
            <a:endParaRPr lang="en-US" sz="750" dirty="0">
              <a:solidFill>
                <a:srgbClr val="64748B"/>
              </a:solidFill>
              <a:latin typeface="+mn-lt"/>
              <a:ea typeface="+mn-ea"/>
              <a:cs typeface="+mn-cs"/>
            </a:endParaRPr>
          </a:p>
        </p:txBody>
      </p:sp>
      <p:sp>
        <p:nvSpPr>
          <p:cNvPr id="3" name="TextBox 3"/>
          <p:cNvSpPr txBox="1"/>
          <p:nvPr/>
        </p:nvSpPr>
        <p:spPr>
          <a:xfrm>
            <a:off x="501396" y="467678"/>
            <a:ext cx="681545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Review and answers: acoustic modeling</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506730" y="1367155"/>
            <a:ext cx="6083300" cy="276860"/>
          </a:xfrm>
          <a:prstGeom prst="rect">
            <a:avLst/>
          </a:prstGeom>
          <a:noFill/>
          <a:ln>
            <a:noFill/>
          </a:ln>
        </p:spPr>
        <p:txBody>
          <a:bodyPr wrap="none" lIns="0" tIns="0" rIns="0" bIns="0" anchor="t" anchorCtr="0">
            <a:spAutoFit/>
          </a:bodyPr>
          <a:lstStyle/>
          <a:p>
            <a:pPr algn="l"/>
            <a:r>
              <a:rPr lang="en-US" dirty="0">
                <a:solidFill>
                  <a:schemeClr val="accent3"/>
                </a:solidFill>
                <a:latin typeface="Arial" panose="020B0604020202090204" pitchFamily="34" charset="0"/>
                <a:ea typeface="+mn-ea"/>
                <a:cs typeface="Arial" panose="020B0604020202090204" pitchFamily="34" charset="0"/>
              </a:rPr>
              <a:t>1. Does location sensitivity guarantee monotonic alignment?</a:t>
            </a:r>
            <a:endParaRPr lang="en-US" dirty="0">
              <a:solidFill>
                <a:schemeClr val="accent3"/>
              </a:solidFill>
              <a:latin typeface="Arial" panose="020B0604020202090204" pitchFamily="34" charset="0"/>
              <a:ea typeface="+mn-ea"/>
              <a:cs typeface="Arial" panose="020B0604020202090204" pitchFamily="34" charset="0"/>
            </a:endParaRPr>
          </a:p>
        </p:txBody>
      </p:sp>
      <p:sp>
        <p:nvSpPr>
          <p:cNvPr id="6" name="TextBox 6"/>
          <p:cNvSpPr txBox="1"/>
          <p:nvPr/>
        </p:nvSpPr>
        <p:spPr>
          <a:xfrm>
            <a:off x="506730" y="1795780"/>
            <a:ext cx="6249035" cy="276860"/>
          </a:xfrm>
          <a:prstGeom prst="rect">
            <a:avLst/>
          </a:prstGeom>
          <a:noFill/>
          <a:ln>
            <a:noFill/>
          </a:ln>
        </p:spPr>
        <p:txBody>
          <a:bodyPr wrap="none" lIns="0" tIns="0" rIns="0" bIns="0" anchor="t" anchorCtr="0">
            <a:spAutoFit/>
          </a:bodyPr>
          <a:lstStyle/>
          <a:p>
            <a:pPr algn="l"/>
            <a:r>
              <a:rPr lang="en-US" dirty="0">
                <a:solidFill>
                  <a:schemeClr val="accent2"/>
                </a:solidFill>
                <a:latin typeface="Arial" panose="020B0604020202090204" pitchFamily="34" charset="0"/>
                <a:ea typeface="+mn-ea"/>
                <a:cs typeface="Arial" panose="020B0604020202090204" pitchFamily="34" charset="0"/>
              </a:rPr>
              <a:t>No. It supplies position-aware features, not a hard constraint.</a:t>
            </a:r>
            <a:endParaRPr lang="en-US" dirty="0">
              <a:solidFill>
                <a:schemeClr val="accent2"/>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506730" y="2795905"/>
            <a:ext cx="4548505" cy="276860"/>
          </a:xfrm>
          <a:prstGeom prst="rect">
            <a:avLst/>
          </a:prstGeom>
          <a:noFill/>
          <a:ln>
            <a:noFill/>
          </a:ln>
        </p:spPr>
        <p:txBody>
          <a:bodyPr wrap="none" lIns="0" tIns="0" rIns="0" bIns="0" anchor="t" anchorCtr="0">
            <a:spAutoFit/>
          </a:bodyPr>
          <a:lstStyle/>
          <a:p>
            <a:pPr algn="l"/>
            <a:r>
              <a:rPr lang="en-US" dirty="0">
                <a:solidFill>
                  <a:schemeClr val="accent3"/>
                </a:solidFill>
                <a:latin typeface="Arial" panose="020B0604020202090204" pitchFamily="34" charset="0"/>
                <a:ea typeface="+mn-ea"/>
                <a:cs typeface="Arial" panose="020B0604020202090204" pitchFamily="34" charset="0"/>
              </a:rPr>
              <a:t>2. What previous frame is used at inference?</a:t>
            </a:r>
            <a:endParaRPr lang="en-US" dirty="0">
              <a:solidFill>
                <a:schemeClr val="accent3"/>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06730" y="3224530"/>
            <a:ext cx="4305300" cy="276860"/>
          </a:xfrm>
          <a:prstGeom prst="rect">
            <a:avLst/>
          </a:prstGeom>
          <a:noFill/>
          <a:ln>
            <a:noFill/>
          </a:ln>
        </p:spPr>
        <p:txBody>
          <a:bodyPr wrap="none" lIns="0" tIns="0" rIns="0" bIns="0" anchor="t" anchorCtr="0">
            <a:spAutoFit/>
          </a:bodyPr>
          <a:lstStyle/>
          <a:p>
            <a:pPr algn="l"/>
            <a:r>
              <a:rPr lang="en-US" dirty="0">
                <a:solidFill>
                  <a:schemeClr val="accent2"/>
                </a:solidFill>
                <a:latin typeface="Arial" panose="020B0604020202090204" pitchFamily="34" charset="0"/>
                <a:ea typeface="+mn-ea"/>
                <a:cs typeface="Arial" panose="020B0604020202090204" pitchFamily="34" charset="0"/>
              </a:rPr>
              <a:t>The generated frame, after the initial input.</a:t>
            </a:r>
            <a:endParaRPr lang="en-US" dirty="0">
              <a:solidFill>
                <a:schemeClr val="accent2"/>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506730" y="4224655"/>
            <a:ext cx="4104640" cy="276860"/>
          </a:xfrm>
          <a:prstGeom prst="rect">
            <a:avLst/>
          </a:prstGeom>
          <a:noFill/>
          <a:ln>
            <a:noFill/>
          </a:ln>
        </p:spPr>
        <p:txBody>
          <a:bodyPr wrap="none" lIns="0" tIns="0" rIns="0" bIns="0" anchor="t" anchorCtr="0">
            <a:spAutoFit/>
          </a:bodyPr>
          <a:lstStyle/>
          <a:p>
            <a:pPr algn="l"/>
            <a:r>
              <a:rPr lang="en-US" dirty="0">
                <a:solidFill>
                  <a:schemeClr val="accent3"/>
                </a:solidFill>
                <a:latin typeface="Arial" panose="020B0604020202090204" pitchFamily="34" charset="0"/>
                <a:ea typeface="+mn-ea"/>
                <a:cs typeface="Arial" panose="020B0604020202090204" pitchFamily="34" charset="0"/>
              </a:rPr>
              <a:t>3. Are GST tokens fixed emotion labels?</a:t>
            </a:r>
            <a:endParaRPr lang="en-US" dirty="0">
              <a:solidFill>
                <a:schemeClr val="accent3"/>
              </a:solidFill>
              <a:latin typeface="Arial" panose="020B0604020202090204" pitchFamily="34" charset="0"/>
              <a:ea typeface="+mn-ea"/>
              <a:cs typeface="Arial" panose="020B0604020202090204" pitchFamily="34" charset="0"/>
            </a:endParaRPr>
          </a:p>
        </p:txBody>
      </p:sp>
      <p:sp>
        <p:nvSpPr>
          <p:cNvPr id="10" name="TextBox 10"/>
          <p:cNvSpPr txBox="1"/>
          <p:nvPr/>
        </p:nvSpPr>
        <p:spPr>
          <a:xfrm>
            <a:off x="506730" y="4653280"/>
            <a:ext cx="5390515" cy="276860"/>
          </a:xfrm>
          <a:prstGeom prst="rect">
            <a:avLst/>
          </a:prstGeom>
          <a:noFill/>
          <a:ln>
            <a:noFill/>
          </a:ln>
        </p:spPr>
        <p:txBody>
          <a:bodyPr wrap="none" lIns="0" tIns="0" rIns="0" bIns="0" anchor="t" anchorCtr="0">
            <a:spAutoFit/>
          </a:bodyPr>
          <a:lstStyle/>
          <a:p>
            <a:pPr algn="l"/>
            <a:r>
              <a:rPr lang="en-US" dirty="0">
                <a:solidFill>
                  <a:schemeClr val="accent2"/>
                </a:solidFill>
                <a:latin typeface="Arial" panose="020B0604020202090204" pitchFamily="34" charset="0"/>
                <a:ea typeface="+mn-ea"/>
                <a:cs typeface="Arial" panose="020B0604020202090204" pitchFamily="34" charset="0"/>
              </a:rPr>
              <a:t>No. Their meanings are learned and need inspection.</a:t>
            </a:r>
            <a:endParaRPr lang="en-US" dirty="0">
              <a:solidFill>
                <a:schemeClr val="accent2"/>
              </a:solidFill>
              <a:latin typeface="Arial" panose="020B0604020202090204" pitchFamily="34" charset="0"/>
              <a:ea typeface="+mn-ea"/>
              <a:cs typeface="Arial" panose="020B0604020202090204" pitchFamily="34" charset="0"/>
            </a:endParaRPr>
          </a:p>
        </p:txBody>
      </p:sp>
      <p:sp>
        <p:nvSpPr>
          <p:cNvPr id="11" name="TextBox 11"/>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2800" b="1" i="0">
                <a:solidFill>
                  <a:srgbClr val="0F172A"/>
                </a:solidFill>
                <a:latin typeface="Arial" panose="020B0604020202090204"/>
                <a:ea typeface="Arial" panose="020B0604020202090204"/>
                <a:cs typeface="Arial" panose="020B0604020202090204"/>
              </a:rPr>
              <a:t>Acoustic Model : </a:t>
            </a:r>
            <a:r>
              <a:rPr sz="2800" b="1" i="0">
                <a:solidFill>
                  <a:srgbClr val="0F172A"/>
                </a:solidFill>
                <a:latin typeface="Arial" panose="020B0604020202090204"/>
                <a:ea typeface="Arial" panose="020B0604020202090204"/>
                <a:cs typeface="Arial" panose="020B0604020202090204"/>
              </a:rPr>
              <a:t>FastSpeech</a:t>
            </a:r>
            <a:r>
              <a:rPr lang="en-US" sz="2800" b="1" i="0">
                <a:solidFill>
                  <a:srgbClr val="0F172A"/>
                </a:solidFill>
                <a:latin typeface="Arial" panose="020B0604020202090204"/>
                <a:ea typeface="Arial" panose="020B0604020202090204"/>
                <a:cs typeface="Arial" panose="020B0604020202090204"/>
              </a:rPr>
              <a:t> </a:t>
            </a:r>
            <a:r>
              <a:rPr lang="en-US" altLang="zh-CN" sz="2800" b="1" i="0">
                <a:solidFill>
                  <a:srgbClr val="0F172A"/>
                </a:solidFill>
                <a:latin typeface="Arial" panose="020B0604020202090204"/>
                <a:ea typeface="Arial" panose="020B0604020202090204"/>
                <a:cs typeface="Arial" panose="020B0604020202090204"/>
              </a:rPr>
              <a:t>(Non-Autoregressive TTS)</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1415415" y="1055370"/>
            <a:ext cx="3011805" cy="323850"/>
          </a:xfrm>
          <a:prstGeom prst="rect">
            <a:avLst/>
          </a:prstGeom>
          <a:noFill/>
          <a:ln w="0">
            <a:noFill/>
            <a:prstDash val="solid"/>
          </a:ln>
        </p:spPr>
        <p:txBody>
          <a:bodyPr wrap="square" lIns="0" tIns="0" rIns="0" bIns="0" anchor="t">
            <a:noAutofit/>
          </a:bodyPr>
          <a:lstStyle/>
          <a:p>
            <a:pPr algn="ctr">
              <a:lnSpc>
                <a:spcPct val="110000"/>
              </a:lnSpc>
              <a:buNone/>
              <a:defRPr sz="1650" b="1" i="0">
                <a:solidFill>
                  <a:srgbClr val="D97706"/>
                </a:solidFill>
                <a:latin typeface="Arial" panose="020B0604020202090204"/>
                <a:ea typeface="Arial" panose="020B0604020202090204"/>
                <a:cs typeface="Arial" panose="020B0604020202090204"/>
              </a:defRPr>
            </a:pPr>
            <a:r>
              <a:rPr sz="2000" b="1" i="0">
                <a:solidFill>
                  <a:srgbClr val="D97706"/>
                </a:solidFill>
                <a:latin typeface="Arial" panose="020B0604020202090204"/>
                <a:ea typeface="Arial" panose="020B0604020202090204"/>
                <a:cs typeface="Arial" panose="020B0604020202090204"/>
              </a:rPr>
              <a:t>Tacotron 2</a:t>
            </a:r>
            <a:endParaRPr sz="2000" b="1" i="0">
              <a:solidFill>
                <a:srgbClr val="D97706"/>
              </a:solidFill>
              <a:latin typeface="Arial" panose="020B0604020202090204"/>
              <a:ea typeface="Arial" panose="020B0604020202090204"/>
              <a:cs typeface="Arial" panose="020B0604020202090204"/>
            </a:endParaRPr>
          </a:p>
        </p:txBody>
      </p:sp>
      <p:sp>
        <p:nvSpPr>
          <p:cNvPr id="6" name="矩形 5"/>
          <p:cNvSpPr>
            <a:spLocks noGrp="1"/>
          </p:cNvSpPr>
          <p:nvPr/>
        </p:nvSpPr>
        <p:spPr>
          <a:xfrm>
            <a:off x="1487170" y="1503045"/>
            <a:ext cx="4222750" cy="137160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sz="1400" b="1" i="0">
                <a:solidFill>
                  <a:srgbClr val="334155"/>
                </a:solidFill>
                <a:latin typeface="Arial" panose="020B0604020202090204" pitchFamily="34" charset="0"/>
                <a:ea typeface="Arial" panose="020B0604020202090204"/>
                <a:cs typeface="Arial" panose="020B0604020202090204" pitchFamily="34" charset="0"/>
              </a:rPr>
              <a:t>Frame-by-frame</a:t>
            </a:r>
            <a:r>
              <a:rPr sz="1400" b="0" i="0">
                <a:solidFill>
                  <a:srgbClr val="334155"/>
                </a:solidFill>
                <a:latin typeface="Arial" panose="020B0604020202090204"/>
                <a:ea typeface="Arial" panose="020B0604020202090204"/>
                <a:cs typeface="Arial" panose="020B0604020202090204"/>
              </a:rPr>
              <a:t> decoding</a:t>
            </a: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sz="1400" b="1" i="0">
                <a:solidFill>
                  <a:srgbClr val="334155"/>
                </a:solidFill>
                <a:latin typeface="Arial" panose="020B0604020202090204" pitchFamily="34" charset="0"/>
                <a:ea typeface="Arial" panose="020B0604020202090204"/>
                <a:cs typeface="Arial" panose="020B0604020202090204" pitchFamily="34" charset="0"/>
              </a:rPr>
              <a:t>Implicit</a:t>
            </a:r>
            <a:r>
              <a:rPr sz="1400" b="0" i="0">
                <a:solidFill>
                  <a:srgbClr val="334155"/>
                </a:solidFill>
                <a:latin typeface="Arial" panose="020B0604020202090204"/>
                <a:ea typeface="Arial" panose="020B0604020202090204"/>
                <a:cs typeface="Arial" panose="020B0604020202090204"/>
              </a:rPr>
              <a:t> </a:t>
            </a:r>
            <a:r>
              <a:rPr lang="en-US" sz="1400" b="0" i="0">
                <a:solidFill>
                  <a:srgbClr val="334155"/>
                </a:solidFill>
                <a:latin typeface="Arial" panose="020B0604020202090204"/>
                <a:ea typeface="Arial" panose="020B0604020202090204"/>
                <a:cs typeface="Arial" panose="020B0604020202090204"/>
              </a:rPr>
              <a:t>Attention </a:t>
            </a:r>
            <a:r>
              <a:rPr sz="1400" b="0" i="0">
                <a:solidFill>
                  <a:srgbClr val="334155"/>
                </a:solidFill>
                <a:latin typeface="Arial" panose="020B0604020202090204"/>
                <a:ea typeface="Arial" panose="020B0604020202090204"/>
                <a:cs typeface="Arial" panose="020B0604020202090204"/>
              </a:rPr>
              <a:t>alignment</a:t>
            </a: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b="0" i="0">
                <a:solidFill>
                  <a:srgbClr val="334155"/>
                </a:solidFill>
                <a:latin typeface="Arial" panose="020B0604020202090204"/>
                <a:ea typeface="Arial" panose="020B0604020202090204"/>
                <a:cs typeface="Arial" panose="020B0604020202090204"/>
              </a:rPr>
              <a:t>• </a:t>
            </a:r>
            <a:r>
              <a:rPr lang="en-US" sz="1400" b="0" i="0">
                <a:solidFill>
                  <a:srgbClr val="334155"/>
                </a:solidFill>
                <a:latin typeface="Arial" panose="020B0604020202090204"/>
                <a:ea typeface="Arial" panose="020B0604020202090204"/>
                <a:cs typeface="Arial" panose="020B0604020202090204"/>
              </a:rPr>
              <a:t>S</a:t>
            </a:r>
            <a:r>
              <a:rPr sz="1400" b="0" i="0">
                <a:solidFill>
                  <a:srgbClr val="334155"/>
                </a:solidFill>
                <a:latin typeface="Arial" panose="020B0604020202090204"/>
                <a:ea typeface="Arial" panose="020B0604020202090204"/>
                <a:cs typeface="Arial" panose="020B0604020202090204"/>
              </a:rPr>
              <a:t>lower</a:t>
            </a:r>
            <a:r>
              <a:rPr lang="en-US" sz="1400" b="0" i="0">
                <a:solidFill>
                  <a:srgbClr val="334155"/>
                </a:solidFill>
                <a:latin typeface="Arial" panose="020B0604020202090204"/>
                <a:ea typeface="Arial" panose="020B0604020202090204"/>
                <a:cs typeface="Arial" panose="020B0604020202090204"/>
              </a:rPr>
              <a:t>, vulnerable to skipping/repetition</a:t>
            </a:r>
            <a:endParaRPr lang="en-US" sz="1400" b="0" i="0">
              <a:solidFill>
                <a:srgbClr val="334155"/>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188200" y="1048385"/>
            <a:ext cx="2000250" cy="323850"/>
          </a:xfrm>
          <a:prstGeom prst="rect">
            <a:avLst/>
          </a:prstGeom>
          <a:noFill/>
          <a:ln w="0">
            <a:noFill/>
            <a:prstDash val="solid"/>
          </a:ln>
        </p:spPr>
        <p:txBody>
          <a:bodyPr wrap="square" lIns="0" tIns="0" rIns="0" bIns="0" anchor="t">
            <a:noAutofit/>
          </a:bodyPr>
          <a:lstStyle/>
          <a:p>
            <a:pPr algn="ctr">
              <a:lnSpc>
                <a:spcPct val="110000"/>
              </a:lnSpc>
              <a:buNone/>
              <a:defRPr sz="1650" b="1" i="0">
                <a:solidFill>
                  <a:srgbClr val="059669"/>
                </a:solidFill>
                <a:latin typeface="Arial" panose="020B0604020202090204"/>
                <a:ea typeface="Arial" panose="020B0604020202090204"/>
                <a:cs typeface="Arial" panose="020B0604020202090204"/>
              </a:defRPr>
            </a:pPr>
            <a:r>
              <a:rPr sz="2000" b="1" i="0">
                <a:solidFill>
                  <a:srgbClr val="059669"/>
                </a:solidFill>
                <a:latin typeface="Arial" panose="020B0604020202090204"/>
                <a:ea typeface="Arial" panose="020B0604020202090204"/>
                <a:cs typeface="Arial" panose="020B0604020202090204"/>
              </a:rPr>
              <a:t>FastSpeech</a:t>
            </a:r>
            <a:endParaRPr sz="2000" b="1" i="0">
              <a:solidFill>
                <a:srgbClr val="05966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599555" y="1514475"/>
            <a:ext cx="3707130" cy="131445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i="0">
                <a:solidFill>
                  <a:srgbClr val="334155"/>
                </a:solidFill>
                <a:latin typeface="Arial" panose="020B0604020202090204"/>
                <a:ea typeface="Arial" panose="020B0604020202090204"/>
                <a:cs typeface="Arial" panose="020B0604020202090204"/>
              </a:rPr>
              <a:t>• </a:t>
            </a:r>
            <a:r>
              <a:rPr sz="1400" b="1" i="0">
                <a:solidFill>
                  <a:srgbClr val="334155"/>
                </a:solidFill>
                <a:latin typeface="Arial" panose="020B0604020202090204" pitchFamily="34" charset="0"/>
                <a:ea typeface="Arial" panose="020B0604020202090204"/>
                <a:cs typeface="Arial" panose="020B0604020202090204" pitchFamily="34" charset="0"/>
              </a:rPr>
              <a:t>Parallel </a:t>
            </a:r>
            <a:r>
              <a:rPr lang="en-US" sz="1400" i="0">
                <a:solidFill>
                  <a:srgbClr val="334155"/>
                </a:solidFill>
                <a:latin typeface="Arial" panose="020B0604020202090204" pitchFamily="34" charset="0"/>
                <a:ea typeface="Arial" panose="020B0604020202090204"/>
                <a:cs typeface="Arial" panose="020B0604020202090204" pitchFamily="34" charset="0"/>
              </a:rPr>
              <a:t>M</a:t>
            </a:r>
            <a:r>
              <a:rPr sz="1400" i="0">
                <a:solidFill>
                  <a:srgbClr val="334155"/>
                </a:solidFill>
                <a:latin typeface="Arial" panose="020B0604020202090204" pitchFamily="34" charset="0"/>
                <a:ea typeface="Arial" panose="020B0604020202090204"/>
                <a:cs typeface="Arial" panose="020B0604020202090204" pitchFamily="34" charset="0"/>
              </a:rPr>
              <a:t>el </a:t>
            </a:r>
            <a:r>
              <a:rPr lang="en-US" sz="1400" i="0">
                <a:solidFill>
                  <a:srgbClr val="334155"/>
                </a:solidFill>
                <a:latin typeface="Arial" panose="020B0604020202090204" pitchFamily="34" charset="0"/>
                <a:ea typeface="Arial" panose="020B0604020202090204"/>
                <a:cs typeface="Arial" panose="020B0604020202090204" pitchFamily="34" charset="0"/>
              </a:rPr>
              <a:t>G</a:t>
            </a:r>
            <a:r>
              <a:rPr sz="1400" i="0">
                <a:solidFill>
                  <a:srgbClr val="334155"/>
                </a:solidFill>
                <a:latin typeface="Arial" panose="020B0604020202090204" pitchFamily="34" charset="0"/>
                <a:ea typeface="Arial" panose="020B0604020202090204"/>
                <a:cs typeface="Arial" panose="020B0604020202090204" pitchFamily="34" charset="0"/>
              </a:rPr>
              <a:t>eneration</a:t>
            </a:r>
            <a:endParaRPr sz="140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i="0">
                <a:solidFill>
                  <a:srgbClr val="334155"/>
                </a:solidFill>
                <a:latin typeface="Arial" panose="020B0604020202090204"/>
                <a:ea typeface="Arial" panose="020B0604020202090204"/>
                <a:cs typeface="Arial" panose="020B0604020202090204"/>
              </a:rPr>
              <a:t>• </a:t>
            </a:r>
            <a:r>
              <a:rPr lang="en-US" altLang="zh-CN" sz="1400" b="1">
                <a:latin typeface="Arial" panose="020B0604020202090204" pitchFamily="34" charset="0"/>
                <a:cs typeface="Arial" panose="020B0604020202090204" pitchFamily="34" charset="0"/>
                <a:sym typeface="Lora"/>
              </a:rPr>
              <a:t>Explicit</a:t>
            </a:r>
            <a:r>
              <a:rPr lang="en-US" altLang="zh-CN" sz="1400">
                <a:latin typeface="Arial" panose="020B0604020202090204" pitchFamily="34" charset="0"/>
                <a:cs typeface="Arial" panose="020B0604020202090204" pitchFamily="34" charset="0"/>
                <a:sym typeface="Lora"/>
              </a:rPr>
              <a:t> Duration-based Alignment</a:t>
            </a:r>
            <a:endParaRPr lang="en-US" altLang="zh-CN" sz="1400">
              <a:latin typeface="Arial" panose="020B0604020202090204" pitchFamily="34" charset="0"/>
              <a:cs typeface="Arial" panose="020B0604020202090204" pitchFamily="34" charset="0"/>
              <a:sym typeface="Lora"/>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00" i="0">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400">
                <a:sym typeface="+mn-ea"/>
              </a:rPr>
              <a:t>•</a:t>
            </a:r>
            <a:r>
              <a:rPr lang="en-US" sz="1400">
                <a:sym typeface="+mn-ea"/>
              </a:rPr>
              <a:t> </a:t>
            </a:r>
            <a:r>
              <a:rPr lang="en-US" altLang="zh-CN" sz="1400">
                <a:latin typeface="Arial" panose="020B0604020202090204" pitchFamily="34" charset="0"/>
                <a:cs typeface="Arial" panose="020B0604020202090204" pitchFamily="34" charset="0"/>
                <a:sym typeface="Lora"/>
              </a:rPr>
              <a:t>Extremely fast (~30x+), robust &amp; controllable</a:t>
            </a:r>
            <a:endParaRPr lang="en-US" altLang="zh-CN" sz="1400">
              <a:latin typeface="Arial" panose="020B0604020202090204" pitchFamily="34" charset="0"/>
              <a:cs typeface="Arial" panose="020B0604020202090204" pitchFamily="34" charset="0"/>
              <a:sym typeface="Lora"/>
            </a:endParaRPr>
          </a:p>
        </p:txBody>
      </p:sp>
      <p:pic>
        <p:nvPicPr>
          <p:cNvPr id="18" name="图片 17"/>
          <p:cNvPicPr>
            <a:picLocks noChangeAspect="1"/>
          </p:cNvPicPr>
          <p:nvPr/>
        </p:nvPicPr>
        <p:blipFill>
          <a:blip r:embed="rId1"/>
          <a:stretch>
            <a:fillRect/>
          </a:stretch>
        </p:blipFill>
        <p:spPr>
          <a:xfrm>
            <a:off x="7174230" y="2996565"/>
            <a:ext cx="3769360" cy="3431540"/>
          </a:xfrm>
          <a:prstGeom prst="rect">
            <a:avLst/>
          </a:prstGeom>
        </p:spPr>
      </p:pic>
      <p:sp>
        <p:nvSpPr>
          <p:cNvPr id="9" name="右箭头 8"/>
          <p:cNvSpPr/>
          <p:nvPr/>
        </p:nvSpPr>
        <p:spPr>
          <a:xfrm>
            <a:off x="5231765" y="1772285"/>
            <a:ext cx="864235" cy="360045"/>
          </a:xfrm>
          <a:prstGeom prst="rightArrow">
            <a:avLst/>
          </a:prstGeom>
          <a:solidFill>
            <a:schemeClr val="tx2">
              <a:lumMod val="25000"/>
              <a:lumOff val="75000"/>
            </a:schemeClr>
          </a:solidFill>
          <a:ln w="12700" cap="flat"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053465" y="3140075"/>
            <a:ext cx="3877945" cy="368300"/>
          </a:xfrm>
          <a:prstGeom prst="rect">
            <a:avLst/>
          </a:prstGeom>
          <a:noFill/>
        </p:spPr>
        <p:txBody>
          <a:bodyPr wrap="square" rtlCol="0">
            <a:spAutoFit/>
          </a:bodyPr>
          <a:p>
            <a:r>
              <a:rPr lang="en-US" altLang="zh-CN" b="1">
                <a:solidFill>
                  <a:schemeClr val="tx2">
                    <a:lumMod val="75000"/>
                    <a:lumOff val="25000"/>
                  </a:schemeClr>
                </a:solidFill>
                <a:latin typeface="Arial" panose="020B0604020202090204" pitchFamily="34" charset="0"/>
                <a:cs typeface="Arial" panose="020B0604020202090204" pitchFamily="34" charset="0"/>
              </a:rPr>
              <a:t>Key Architectural Components</a:t>
            </a:r>
            <a:endParaRPr lang="en-US" altLang="zh-CN" b="1">
              <a:solidFill>
                <a:schemeClr val="tx2">
                  <a:lumMod val="75000"/>
                  <a:lumOff val="25000"/>
                </a:schemeClr>
              </a:solidFill>
              <a:latin typeface="Arial" panose="020B0604020202090204" pitchFamily="34" charset="0"/>
              <a:cs typeface="Arial" panose="020B0604020202090204" pitchFamily="34" charset="0"/>
            </a:endParaRPr>
          </a:p>
        </p:txBody>
      </p:sp>
      <p:sp>
        <p:nvSpPr>
          <p:cNvPr id="17" name="文本框 16"/>
          <p:cNvSpPr txBox="1"/>
          <p:nvPr/>
        </p:nvSpPr>
        <p:spPr>
          <a:xfrm>
            <a:off x="1053465" y="3592195"/>
            <a:ext cx="5734685" cy="737235"/>
          </a:xfrm>
          <a:prstGeom prst="rect">
            <a:avLst/>
          </a:prstGeom>
          <a:noFill/>
        </p:spPr>
        <p:txBody>
          <a:bodyPr wrap="square" rtlCol="0">
            <a:spAutoFit/>
          </a:bodyPr>
          <a:p>
            <a:r>
              <a:rPr lang="en-US" altLang="zh-CN" sz="1400" b="1">
                <a:latin typeface="Arial" panose="020B0604020202090204" pitchFamily="34" charset="0"/>
                <a:cs typeface="Arial" panose="020B0604020202090204" pitchFamily="34" charset="0"/>
              </a:rPr>
              <a:t>1. Feed-Forward Transformer (FFT) Block</a:t>
            </a:r>
            <a:endParaRPr lang="en-US" altLang="zh-CN" sz="1400" b="1">
              <a:latin typeface="Arial" panose="020B0604020202090204" pitchFamily="34" charset="0"/>
              <a:cs typeface="Arial" panose="020B0604020202090204" pitchFamily="34" charset="0"/>
            </a:endParaRPr>
          </a:p>
          <a:p>
            <a:r>
              <a:rPr lang="en-US" altLang="zh-CN" sz="1400">
                <a:latin typeface="Arial" panose="020B0604020202090204" pitchFamily="34" charset="0"/>
                <a:cs typeface="Arial" panose="020B0604020202090204" pitchFamily="34" charset="0"/>
              </a:rPr>
              <a:t>• Replaces RNNs with 1D Convolutions + Multi-Head Self-Attention for massive parallelism</a:t>
            </a:r>
            <a:endParaRPr lang="en-US" altLang="zh-CN" sz="1400">
              <a:latin typeface="Arial" panose="020B0604020202090204" pitchFamily="34" charset="0"/>
              <a:cs typeface="Arial" panose="020B0604020202090204" pitchFamily="34" charset="0"/>
            </a:endParaRPr>
          </a:p>
        </p:txBody>
      </p:sp>
      <p:sp>
        <p:nvSpPr>
          <p:cNvPr id="19" name="文本框 18"/>
          <p:cNvSpPr txBox="1"/>
          <p:nvPr/>
        </p:nvSpPr>
        <p:spPr>
          <a:xfrm>
            <a:off x="1053465" y="4508500"/>
            <a:ext cx="5699760" cy="737235"/>
          </a:xfrm>
          <a:prstGeom prst="rect">
            <a:avLst/>
          </a:prstGeom>
          <a:noFill/>
        </p:spPr>
        <p:txBody>
          <a:bodyPr wrap="square" rtlCol="0">
            <a:spAutoFit/>
          </a:bodyPr>
          <a:p>
            <a:r>
              <a:rPr lang="en-US" altLang="zh-CN" sz="1400" b="1">
                <a:latin typeface="Arial" panose="020B0604020202090204" pitchFamily="34" charset="0"/>
                <a:cs typeface="Arial" panose="020B0604020202090204" pitchFamily="34" charset="0"/>
              </a:rPr>
              <a:t>2. Duration Predictor</a:t>
            </a:r>
            <a:endParaRPr lang="en-US" altLang="zh-CN" sz="1400" b="1">
              <a:latin typeface="Arial" panose="020B0604020202090204" pitchFamily="34" charset="0"/>
              <a:cs typeface="Arial" panose="020B0604020202090204" pitchFamily="34" charset="0"/>
            </a:endParaRPr>
          </a:p>
          <a:p>
            <a:r>
              <a:rPr lang="en-US" altLang="zh-CN" sz="1400">
                <a:latin typeface="Arial" panose="020B0604020202090204" pitchFamily="34" charset="0"/>
                <a:cs typeface="Arial" panose="020B0604020202090204" pitchFamily="34" charset="0"/>
              </a:rPr>
              <a:t>• Predicts frame-level duration for each phoneme (trained on Teacher attention weights)</a:t>
            </a:r>
            <a:endParaRPr lang="en-US" altLang="zh-CN" sz="1400">
              <a:latin typeface="Arial" panose="020B0604020202090204" pitchFamily="34" charset="0"/>
              <a:cs typeface="Arial" panose="020B0604020202090204" pitchFamily="34" charset="0"/>
            </a:endParaRPr>
          </a:p>
        </p:txBody>
      </p:sp>
      <p:sp>
        <p:nvSpPr>
          <p:cNvPr id="20" name="文本框 19"/>
          <p:cNvSpPr txBox="1"/>
          <p:nvPr/>
        </p:nvSpPr>
        <p:spPr>
          <a:xfrm>
            <a:off x="1053465" y="5516245"/>
            <a:ext cx="5734685" cy="737235"/>
          </a:xfrm>
          <a:prstGeom prst="rect">
            <a:avLst/>
          </a:prstGeom>
          <a:noFill/>
        </p:spPr>
        <p:txBody>
          <a:bodyPr wrap="square" rtlCol="0">
            <a:spAutoFit/>
          </a:bodyPr>
          <a:p>
            <a:r>
              <a:rPr lang="en-US" altLang="zh-CN" sz="1400" b="1">
                <a:latin typeface="Arial" panose="020B0604020202090204" pitchFamily="34" charset="0"/>
                <a:cs typeface="Arial" panose="020B0604020202090204" pitchFamily="34" charset="0"/>
              </a:rPr>
              <a:t>3. Length Regulator (The Core Innovation)</a:t>
            </a:r>
            <a:endParaRPr lang="en-US" altLang="zh-CN" sz="1400" b="1">
              <a:latin typeface="Arial" panose="020B0604020202090204" pitchFamily="34" charset="0"/>
              <a:cs typeface="Arial" panose="020B0604020202090204" pitchFamily="34" charset="0"/>
            </a:endParaRPr>
          </a:p>
          <a:p>
            <a:r>
              <a:rPr lang="en-US" altLang="zh-CN" sz="1400">
                <a:latin typeface="Arial" panose="020B0604020202090204" pitchFamily="34" charset="0"/>
                <a:cs typeface="Arial" panose="020B0604020202090204" pitchFamily="34" charset="0"/>
              </a:rPr>
              <a:t>• Expands phoneme sequence (</a:t>
            </a:r>
            <a:r>
              <a:rPr lang="en-US" altLang="zh-CN" sz="1400" i="1">
                <a:latin typeface="Arial" panose="020B0604020202090204" pitchFamily="34" charset="0"/>
                <a:cs typeface="Arial" panose="020B0604020202090204" pitchFamily="34" charset="0"/>
              </a:rPr>
              <a:t>N</a:t>
            </a:r>
            <a:r>
              <a:rPr lang="en-US" altLang="zh-CN" sz="1400">
                <a:latin typeface="Arial" panose="020B0604020202090204" pitchFamily="34" charset="0"/>
                <a:cs typeface="Arial" panose="020B0604020202090204" pitchFamily="34" charset="0"/>
              </a:rPr>
              <a:t>) to match audio frame length (</a:t>
            </a:r>
            <a:r>
              <a:rPr lang="en-US" altLang="zh-CN" sz="1400" i="1">
                <a:latin typeface="Arial" panose="020B0604020202090204" pitchFamily="34" charset="0"/>
                <a:cs typeface="Arial" panose="020B0604020202090204" pitchFamily="34" charset="0"/>
              </a:rPr>
              <a:t>T</a:t>
            </a:r>
            <a:r>
              <a:rPr lang="en-US" altLang="zh-CN" sz="1400">
                <a:latin typeface="Arial" panose="020B0604020202090204" pitchFamily="34" charset="0"/>
                <a:cs typeface="Arial" panose="020B0604020202090204" pitchFamily="34" charset="0"/>
              </a:rPr>
              <a:t>) based on duration predictions.   </a:t>
            </a:r>
            <a:endParaRPr lang="en-US" altLang="zh-CN" sz="1400">
              <a:latin typeface="Arial" panose="020B0604020202090204" pitchFamily="34" charset="0"/>
              <a:cs typeface="Arial" panose="020B060402020209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0">
                <a:solidFill>
                  <a:srgbClr val="0F172A"/>
                </a:solidFill>
                <a:latin typeface="Arial" panose="020B0604020202090204"/>
                <a:ea typeface="Arial" panose="020B0604020202090204"/>
                <a:cs typeface="Arial" panose="020B0604020202090204"/>
              </a:rPr>
              <a:t>FastSpeech</a:t>
            </a:r>
            <a:r>
              <a:rPr lang="en-US" sz="2800" b="1" i="0">
                <a:solidFill>
                  <a:srgbClr val="0F172A"/>
                </a:solidFill>
                <a:latin typeface="Arial" panose="020B0604020202090204"/>
                <a:ea typeface="Arial" panose="020B0604020202090204"/>
                <a:cs typeface="Arial" panose="020B0604020202090204"/>
              </a:rPr>
              <a:t> : </a:t>
            </a:r>
            <a:r>
              <a:rPr lang="en-US" altLang="zh-CN" sz="2800" b="1" i="0">
                <a:solidFill>
                  <a:srgbClr val="0F172A"/>
                </a:solidFill>
                <a:latin typeface="Arial" panose="020B0604020202090204"/>
                <a:ea typeface="Arial" panose="020B0604020202090204"/>
                <a:cs typeface="Arial" panose="020B0604020202090204"/>
              </a:rPr>
              <a:t>Duration </a:t>
            </a:r>
            <a:r>
              <a:rPr lang="en-US" altLang="zh-CN" sz="2800" b="1" i="0">
                <a:solidFill>
                  <a:srgbClr val="0F172A"/>
                </a:solidFill>
                <a:latin typeface="Arial" panose="020B0604020202090204"/>
                <a:ea typeface="Arial" panose="020B0604020202090204"/>
                <a:cs typeface="Arial" panose="020B0604020202090204"/>
              </a:rPr>
              <a:t>Predictor &amp; Length Regulator</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6960235" y="1772731"/>
            <a:ext cx="4476750" cy="3410328"/>
          </a:xfrm>
          <a:prstGeom prst="rect">
            <a:avLst/>
          </a:prstGeom>
        </p:spPr>
      </p:pic>
      <p:sp>
        <p:nvSpPr>
          <p:cNvPr id="6" name="矩形 5"/>
          <p:cNvSpPr>
            <a:spLocks noGrp="1"/>
          </p:cNvSpPr>
          <p:nvPr/>
        </p:nvSpPr>
        <p:spPr>
          <a:xfrm>
            <a:off x="514350" y="1196975"/>
            <a:ext cx="28575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Duration predictor</a:t>
            </a:r>
            <a:endParaRPr sz="20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85800" y="1628775"/>
            <a:ext cx="6363970" cy="147637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Predict a duration d</a:t>
            </a:r>
            <a:r>
              <a:rPr sz="1600" b="0" i="0" baseline="-25000">
                <a:solidFill>
                  <a:srgbClr val="334155"/>
                </a:solidFill>
                <a:latin typeface="Arial" panose="020B0604020202090204"/>
                <a:ea typeface="Arial" panose="020B0604020202090204"/>
                <a:cs typeface="Arial" panose="020B0604020202090204"/>
              </a:rPr>
              <a:t>i</a:t>
            </a:r>
            <a:r>
              <a:rPr sz="1600" b="0" i="0">
                <a:solidFill>
                  <a:srgbClr val="334155"/>
                </a:solidFill>
                <a:latin typeface="Arial" panose="020B0604020202090204"/>
                <a:ea typeface="Arial" panose="020B0604020202090204"/>
                <a:cs typeface="Arial" panose="020B0604020202090204"/>
              </a:rPr>
              <a:t> for each phoneme.</a:t>
            </a:r>
            <a:endParaRPr sz="1600" b="0" i="0">
              <a:solidFill>
                <a:srgbClr val="334155"/>
              </a:solidFill>
              <a:latin typeface="Arial" panose="020B0604020202090204"/>
              <a:ea typeface="Arial" panose="020B0604020202090204"/>
              <a:cs typeface="Arial" panose="020B0604020202090204"/>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r>
              <a:rPr lang="en-US" sz="1400" b="0" i="1">
                <a:solidFill>
                  <a:srgbClr val="334155"/>
                </a:solidFill>
                <a:latin typeface="Arial" panose="020B0604020202090204" pitchFamily="34" charset="0"/>
                <a:ea typeface="Arial" panose="020B0604020202090204"/>
                <a:cs typeface="Arial" panose="020B0604020202090204" pitchFamily="34" charset="0"/>
              </a:rPr>
              <a:t>e.g. </a:t>
            </a:r>
            <a:r>
              <a:rPr lang="en-US" altLang="zh-CN" sz="1400" b="0" i="1">
                <a:solidFill>
                  <a:srgbClr val="334155"/>
                </a:solidFill>
                <a:latin typeface="Arial" panose="020B0604020202090204" pitchFamily="34" charset="0"/>
                <a:ea typeface="Arial" panose="020B0604020202090204"/>
                <a:cs typeface="Arial" panose="020B0604020202090204" pitchFamily="34" charset="0"/>
              </a:rPr>
              <a:t>D = [2, 2, 3, 1], indicating that the first phoneme lasts for 2 frames, the second for 2 frames, the third for 3 frames, and the fourth for 1 frame.</a:t>
            </a: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indent="457200"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1">
              <a:solidFill>
                <a:srgbClr val="334155"/>
              </a:solidFill>
              <a:latin typeface="Arial" panose="020B0604020202090204" pitchFamily="34" charset="0"/>
              <a:ea typeface="Arial" panose="020B0604020202090204"/>
              <a:cs typeface="Arial" panose="020B0604020202090204" pitchFamily="34" charset="0"/>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Use aligned targets during training.</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At inference, predicted durations determine output length.</a:t>
            </a:r>
            <a:endParaRPr sz="16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14350" y="3717290"/>
            <a:ext cx="24765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2000" b="1" i="0">
                <a:solidFill>
                  <a:srgbClr val="059669"/>
                </a:solidFill>
                <a:latin typeface="Arial" panose="020B0604020202090204"/>
                <a:ea typeface="Arial" panose="020B0604020202090204"/>
                <a:cs typeface="Arial" panose="020B0604020202090204"/>
              </a:rPr>
              <a:t>Length regulator</a:t>
            </a:r>
            <a:endParaRPr sz="2000" b="1" i="0">
              <a:solidFill>
                <a:srgbClr val="05966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1991360" y="4941570"/>
            <a:ext cx="2465705" cy="1143000"/>
          </a:xfrm>
          <a:prstGeom prst="rect">
            <a:avLst/>
          </a:prstGeom>
          <a:noFill/>
          <a:ln w="0">
            <a:noFill/>
            <a:prstDash val="solid"/>
          </a:ln>
        </p:spPr>
        <p:txBody>
          <a:bodyPr wrap="square" lIns="0" tIns="0" rIns="0" bIns="0" anchor="t">
            <a:noAutofit/>
          </a:bodyPr>
          <a:lstStyle/>
          <a:p>
            <a:pPr algn="l">
              <a:lnSpc>
                <a:spcPct val="125000"/>
              </a:lnSpc>
              <a:buNone/>
              <a:defRPr sz="1650" b="0" i="0">
                <a:solidFill>
                  <a:srgbClr val="0F172A"/>
                </a:solidFill>
                <a:latin typeface="Cambria Math"/>
                <a:ea typeface="Cambria Math"/>
                <a:cs typeface="Cambria Math"/>
              </a:defRPr>
            </a:pPr>
            <a:r>
              <a:rPr sz="1600" b="0" i="0">
                <a:solidFill>
                  <a:srgbClr val="0F172A"/>
                </a:solidFill>
                <a:latin typeface="Arial" panose="020B0604020202090204" pitchFamily="34" charset="0"/>
                <a:ea typeface="Cambria Math"/>
                <a:cs typeface="Arial" panose="020B0604020202090204" pitchFamily="34" charset="0"/>
              </a:rPr>
              <a:t>h_phone = [a, b, c]</a:t>
            </a:r>
            <a:endParaRPr sz="1600" b="0" i="0">
              <a:solidFill>
                <a:srgbClr val="0F172A"/>
              </a:solidFill>
              <a:latin typeface="Arial" panose="020B0604020202090204" pitchFamily="34" charset="0"/>
              <a:ea typeface="Cambria Math"/>
              <a:cs typeface="Arial" panose="020B0604020202090204" pitchFamily="34" charset="0"/>
            </a:endParaRPr>
          </a:p>
          <a:p>
            <a:pPr algn="l">
              <a:lnSpc>
                <a:spcPct val="125000"/>
              </a:lnSpc>
              <a:buNone/>
              <a:defRPr sz="1650" b="0" i="0">
                <a:solidFill>
                  <a:srgbClr val="0F172A"/>
                </a:solidFill>
                <a:latin typeface="Cambria Math"/>
                <a:ea typeface="Cambria Math"/>
                <a:cs typeface="Cambria Math"/>
              </a:defRPr>
            </a:pPr>
            <a:r>
              <a:rPr sz="1600" b="0" i="0">
                <a:solidFill>
                  <a:srgbClr val="0F172A"/>
                </a:solidFill>
                <a:latin typeface="Arial" panose="020B0604020202090204" pitchFamily="34" charset="0"/>
                <a:ea typeface="Cambria Math"/>
                <a:cs typeface="Arial" panose="020B0604020202090204" pitchFamily="34" charset="0"/>
              </a:rPr>
              <a:t>d = [2, 1, 3]</a:t>
            </a:r>
            <a:endParaRPr sz="1600" b="0" i="0">
              <a:solidFill>
                <a:srgbClr val="0F172A"/>
              </a:solidFill>
              <a:latin typeface="Arial" panose="020B0604020202090204" pitchFamily="34" charset="0"/>
              <a:ea typeface="Cambria Math"/>
              <a:cs typeface="Arial" panose="020B0604020202090204" pitchFamily="34" charset="0"/>
            </a:endParaRPr>
          </a:p>
          <a:p>
            <a:pPr algn="l">
              <a:lnSpc>
                <a:spcPct val="125000"/>
              </a:lnSpc>
              <a:buNone/>
              <a:defRPr sz="1650" b="0" i="0">
                <a:solidFill>
                  <a:srgbClr val="0F172A"/>
                </a:solidFill>
                <a:latin typeface="Cambria Math"/>
                <a:ea typeface="Cambria Math"/>
                <a:cs typeface="Cambria Math"/>
              </a:defRPr>
            </a:pPr>
            <a:r>
              <a:rPr sz="1600" b="0" i="0">
                <a:solidFill>
                  <a:srgbClr val="0F172A"/>
                </a:solidFill>
                <a:latin typeface="Arial" panose="020B0604020202090204" pitchFamily="34" charset="0"/>
                <a:ea typeface="Cambria Math"/>
                <a:cs typeface="Arial" panose="020B0604020202090204" pitchFamily="34" charset="0"/>
              </a:rPr>
              <a:t>h_frame = [a, a, b, c, c, c]</a:t>
            </a:r>
            <a:endParaRPr sz="1600" b="0" i="0">
              <a:solidFill>
                <a:srgbClr val="0F172A"/>
              </a:solidFill>
              <a:latin typeface="Arial" panose="020B0604020202090204" pitchFamily="34" charset="0"/>
              <a:ea typeface="Cambria Math"/>
              <a:cs typeface="Arial" panose="020B0604020202090204" pitchFamily="34" charset="0"/>
            </a:endParaRPr>
          </a:p>
        </p:txBody>
      </p:sp>
      <p:sp>
        <p:nvSpPr>
          <p:cNvPr id="5" name="文本框 4"/>
          <p:cNvSpPr txBox="1"/>
          <p:nvPr/>
        </p:nvSpPr>
        <p:spPr>
          <a:xfrm>
            <a:off x="685800" y="4149090"/>
            <a:ext cx="6363970" cy="337185"/>
          </a:xfrm>
          <a:prstGeom prst="rect">
            <a:avLst/>
          </a:prstGeom>
          <a:noFill/>
        </p:spPr>
        <p:txBody>
          <a:bodyPr wrap="square" rtlCol="0">
            <a:spAutoFit/>
          </a:bodyPr>
          <a:p>
            <a:r>
              <a:rPr sz="1600">
                <a:solidFill>
                  <a:srgbClr val="334155"/>
                </a:solidFill>
                <a:latin typeface="Arial Regular" panose="020B0604020202090204" charset="0"/>
                <a:ea typeface="Arial" panose="020B0604020202090204"/>
                <a:cs typeface="Arial Regular" panose="020B0604020202090204" charset="0"/>
                <a:sym typeface="+mn-ea"/>
              </a:rPr>
              <a:t>• </a:t>
            </a:r>
            <a:r>
              <a:rPr lang="en-US" sz="1600">
                <a:solidFill>
                  <a:srgbClr val="334155"/>
                </a:solidFill>
                <a:latin typeface="Arial Regular" panose="020B0604020202090204" charset="0"/>
                <a:ea typeface="Arial" panose="020B0604020202090204"/>
                <a:cs typeface="Arial Regular" panose="020B0604020202090204" charset="0"/>
                <a:sym typeface="+mn-ea"/>
              </a:rPr>
              <a:t>A</a:t>
            </a:r>
            <a:r>
              <a:rPr lang="en-US" altLang="zh-CN" sz="1600">
                <a:latin typeface="Arial Regular" panose="020B0604020202090204" charset="0"/>
                <a:cs typeface="Arial Regular" panose="020B0604020202090204" charset="0"/>
              </a:rPr>
              <a:t> parameterless module that merely performs the "copy" operation.</a:t>
            </a:r>
            <a:endParaRPr lang="en-US" altLang="zh-CN" sz="1600">
              <a:latin typeface="Arial Regular" panose="020B0604020202090204" charset="0"/>
              <a:cs typeface="Arial Regular" panose="020B0604020202090204" charset="0"/>
            </a:endParaRPr>
          </a:p>
        </p:txBody>
      </p:sp>
      <p:sp>
        <p:nvSpPr>
          <p:cNvPr id="11" name="文本框 10"/>
          <p:cNvSpPr txBox="1"/>
          <p:nvPr/>
        </p:nvSpPr>
        <p:spPr>
          <a:xfrm>
            <a:off x="1127125" y="4564380"/>
            <a:ext cx="528955" cy="306705"/>
          </a:xfrm>
          <a:prstGeom prst="rect">
            <a:avLst/>
          </a:prstGeom>
          <a:noFill/>
        </p:spPr>
        <p:txBody>
          <a:bodyPr wrap="square" rtlCol="0" anchor="t">
            <a:spAutoFit/>
          </a:bodyPr>
          <a:p>
            <a:r>
              <a:rPr lang="en-US" sz="1400" i="1">
                <a:solidFill>
                  <a:srgbClr val="334155"/>
                </a:solidFill>
                <a:latin typeface="Arial" panose="020B0604020202090204" pitchFamily="34" charset="0"/>
                <a:ea typeface="Arial" panose="020B0604020202090204"/>
                <a:cs typeface="Arial" panose="020B0604020202090204" pitchFamily="34" charset="0"/>
                <a:sym typeface="+mn-ea"/>
              </a:rPr>
              <a:t>e.g.</a:t>
            </a:r>
            <a:endParaRPr lang="en-US" altLang="en-US" sz="1400" i="1">
              <a:solidFill>
                <a:srgbClr val="334155"/>
              </a:solidFill>
              <a:latin typeface="Arial" panose="020B0604020202090204" pitchFamily="34" charset="0"/>
              <a:ea typeface="Arial" panose="020B0604020202090204"/>
              <a:cs typeface="Arial" panose="020B0604020202090204"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55638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DURATION AND ALIGNMENT          </a:t>
            </a:r>
            <a:endParaRPr lang="en-US" sz="750" dirty="0">
              <a:solidFill>
                <a:srgbClr val="64748B"/>
              </a:solidFill>
              <a:latin typeface="+mn-lt"/>
              <a:ea typeface="+mn-ea"/>
              <a:cs typeface="+mn-cs"/>
            </a:endParaRPr>
          </a:p>
        </p:txBody>
      </p:sp>
      <p:sp>
        <p:nvSpPr>
          <p:cNvPr id="3" name="TextBox 3"/>
          <p:cNvSpPr txBox="1"/>
          <p:nvPr/>
        </p:nvSpPr>
        <p:spPr>
          <a:xfrm>
            <a:off x="501396" y="467678"/>
            <a:ext cx="556831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Code: </a:t>
            </a:r>
            <a:r>
              <a:rPr lang="en-US" sz="2800" b="1" dirty="0">
                <a:solidFill>
                  <a:schemeClr val="tx1"/>
                </a:solidFill>
                <a:latin typeface="Arial" panose="020B0604020202090204" pitchFamily="34" charset="0"/>
                <a:ea typeface="+mn-ea"/>
                <a:cs typeface="Arial" panose="020B0604020202090204" pitchFamily="34" charset="0"/>
              </a:rPr>
              <a:t>Duration-based expansion</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pic>
        <p:nvPicPr>
          <p:cNvPr id="5" name="Image 5"/>
          <p:cNvPicPr>
            <a:picLocks noChangeAspect="1"/>
          </p:cNvPicPr>
          <p:nvPr/>
        </p:nvPicPr>
        <p:blipFill>
          <a:blip r:embed="rId1"/>
          <a:stretch>
            <a:fillRect/>
          </a:stretch>
        </p:blipFill>
        <p:spPr>
          <a:xfrm>
            <a:off x="514350" y="1237615"/>
            <a:ext cx="10972800" cy="4391025"/>
          </a:xfrm>
          <a:prstGeom prst="rect">
            <a:avLst/>
          </a:prstGeom>
        </p:spPr>
      </p:pic>
      <p:sp>
        <p:nvSpPr>
          <p:cNvPr id="6" name="TextBox 6"/>
          <p:cNvSpPr txBox="1"/>
          <p:nvPr/>
        </p:nvSpPr>
        <p:spPr>
          <a:xfrm>
            <a:off x="507873" y="5815489"/>
            <a:ext cx="813873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One utterance [N,H] + durations [N] -&gt; [sum(d),H]. Durations are frame counts, not seconds.</a:t>
            </a:r>
            <a:endParaRPr lang="en-US" sz="1280" dirty="0">
              <a:solidFill>
                <a:schemeClr val="dk1"/>
              </a:solidFill>
              <a:latin typeface="+mn-lt"/>
              <a:ea typeface="+mn-ea"/>
              <a:cs typeface="+mn-cs"/>
            </a:endParaRPr>
          </a:p>
        </p:txBody>
      </p:sp>
      <p:sp>
        <p:nvSpPr>
          <p:cNvPr id="7" name="TextBox 7"/>
          <p:cNvSpPr txBox="1"/>
          <p:nvPr/>
        </p:nvSpPr>
        <p:spPr>
          <a:xfrm>
            <a:off x="509588" y="6141720"/>
            <a:ext cx="6733231"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Chung-Ming Chien · ming024/FastSpeech2 · MIT · modules.py L182-194 · d4e79eb52e · independent implementation</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0">
                <a:solidFill>
                  <a:srgbClr val="0F172A"/>
                </a:solidFill>
                <a:latin typeface="Arial" panose="020B0604020202090204"/>
                <a:ea typeface="Arial" panose="020B0604020202090204"/>
                <a:cs typeface="Arial" panose="020B0604020202090204"/>
              </a:rPr>
              <a:t>FastSpeech</a:t>
            </a:r>
            <a:r>
              <a:rPr lang="en-US" sz="2800" b="1" i="0">
                <a:solidFill>
                  <a:srgbClr val="0F172A"/>
                </a:solidFill>
                <a:latin typeface="Arial" panose="020B0604020202090204"/>
                <a:ea typeface="Arial" panose="020B0604020202090204"/>
                <a:cs typeface="Arial" panose="020B0604020202090204"/>
              </a:rPr>
              <a:t> :</a:t>
            </a:r>
            <a:r>
              <a:rPr sz="2800" b="1" i="0">
                <a:solidFill>
                  <a:srgbClr val="0F172A"/>
                </a:solidFill>
                <a:latin typeface="Arial" panose="020B0604020202090204"/>
                <a:ea typeface="Arial" panose="020B0604020202090204"/>
                <a:cs typeface="Arial" panose="020B0604020202090204"/>
              </a:rPr>
              <a:t> </a:t>
            </a:r>
            <a:r>
              <a:rPr lang="en-US" altLang="zh-CN" sz="2800" b="1" i="0">
                <a:solidFill>
                  <a:srgbClr val="0F172A"/>
                </a:solidFill>
                <a:latin typeface="Arial" panose="020B0604020202090204"/>
                <a:ea typeface="Arial" panose="020B0604020202090204"/>
                <a:cs typeface="Arial" panose="020B0604020202090204"/>
              </a:rPr>
              <a:t>Training Paradigm &amp; Trade-offs</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右箭头 4"/>
          <p:cNvSpPr>
            <a:spLocks noGrp="1"/>
          </p:cNvSpPr>
          <p:nvPr/>
        </p:nvSpPr>
        <p:spPr>
          <a:xfrm>
            <a:off x="2537460" y="1708468"/>
            <a:ext cx="438150" cy="342900"/>
          </a:xfrm>
          <a:prstGeom prst="rightArrow">
            <a:avLst/>
          </a:prstGeom>
          <a:solidFill>
            <a:srgbClr val="CBD5E1"/>
          </a:solidFill>
          <a:ln w="0">
            <a:noFill/>
            <a:prstDash val="solid"/>
          </a:ln>
        </p:spPr>
      </p:sp>
      <p:sp>
        <p:nvSpPr>
          <p:cNvPr id="6" name="圆角矩形 5"/>
          <p:cNvSpPr>
            <a:spLocks noGrp="1"/>
          </p:cNvSpPr>
          <p:nvPr/>
        </p:nvSpPr>
        <p:spPr>
          <a:xfrm>
            <a:off x="685800" y="1613218"/>
            <a:ext cx="1965960" cy="533400"/>
          </a:xfrm>
          <a:prstGeom prst="roundRect">
            <a:avLst>
              <a:gd name="adj" fmla="val 14286"/>
            </a:avLst>
          </a:prstGeom>
          <a:solidFill>
            <a:srgbClr val="F1F5F9"/>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275" b="1">
                <a:solidFill>
                  <a:srgbClr val="0F172A"/>
                </a:solidFill>
                <a:latin typeface="Arial" panose="020B0604020202090204"/>
                <a:ea typeface="Arial" panose="020B0604020202090204"/>
                <a:cs typeface="Arial" panose="020B0604020202090204"/>
              </a:rPr>
              <a:t>Teacher TTS</a:t>
            </a:r>
            <a:endParaRPr sz="1275" b="1">
              <a:solidFill>
                <a:srgbClr val="0F172A"/>
              </a:solidFill>
              <a:latin typeface="Arial" panose="020B0604020202090204"/>
              <a:ea typeface="Arial" panose="020B0604020202090204"/>
              <a:cs typeface="Arial" panose="020B0604020202090204"/>
            </a:endParaRPr>
          </a:p>
        </p:txBody>
      </p:sp>
      <p:sp>
        <p:nvSpPr>
          <p:cNvPr id="7" name="右箭头 6"/>
          <p:cNvSpPr>
            <a:spLocks noGrp="1"/>
          </p:cNvSpPr>
          <p:nvPr/>
        </p:nvSpPr>
        <p:spPr>
          <a:xfrm>
            <a:off x="4712970" y="1708468"/>
            <a:ext cx="438150" cy="342900"/>
          </a:xfrm>
          <a:prstGeom prst="rightArrow">
            <a:avLst/>
          </a:prstGeom>
          <a:solidFill>
            <a:srgbClr val="CBD5E1"/>
          </a:solidFill>
          <a:ln w="0">
            <a:noFill/>
            <a:prstDash val="solid"/>
          </a:ln>
        </p:spPr>
      </p:sp>
      <p:sp>
        <p:nvSpPr>
          <p:cNvPr id="8" name="圆角矩形 7"/>
          <p:cNvSpPr>
            <a:spLocks noGrp="1"/>
          </p:cNvSpPr>
          <p:nvPr/>
        </p:nvSpPr>
        <p:spPr>
          <a:xfrm>
            <a:off x="2861310" y="1613218"/>
            <a:ext cx="1965960" cy="533400"/>
          </a:xfrm>
          <a:prstGeom prst="roundRect">
            <a:avLst>
              <a:gd name="adj" fmla="val 14286"/>
            </a:avLst>
          </a:prstGeom>
          <a:solidFill>
            <a:srgbClr val="E0E7FF"/>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275" b="1">
                <a:solidFill>
                  <a:srgbClr val="0F172A"/>
                </a:solidFill>
                <a:latin typeface="Arial" panose="020B0604020202090204"/>
                <a:ea typeface="Arial" panose="020B0604020202090204"/>
                <a:cs typeface="Arial" panose="020B0604020202090204"/>
              </a:rPr>
              <a:t>Attention map</a:t>
            </a:r>
            <a:endParaRPr sz="1275" b="1">
              <a:solidFill>
                <a:srgbClr val="0F172A"/>
              </a:solidFill>
              <a:latin typeface="Arial" panose="020B0604020202090204"/>
              <a:ea typeface="Arial" panose="020B0604020202090204"/>
              <a:cs typeface="Arial" panose="020B0604020202090204"/>
            </a:endParaRPr>
          </a:p>
        </p:txBody>
      </p:sp>
      <p:sp>
        <p:nvSpPr>
          <p:cNvPr id="9" name="右箭头 8"/>
          <p:cNvSpPr>
            <a:spLocks noGrp="1"/>
          </p:cNvSpPr>
          <p:nvPr/>
        </p:nvSpPr>
        <p:spPr>
          <a:xfrm>
            <a:off x="6888480" y="1708468"/>
            <a:ext cx="438150" cy="342900"/>
          </a:xfrm>
          <a:prstGeom prst="rightArrow">
            <a:avLst/>
          </a:prstGeom>
          <a:solidFill>
            <a:srgbClr val="CBD5E1"/>
          </a:solidFill>
          <a:ln w="0">
            <a:noFill/>
            <a:prstDash val="solid"/>
          </a:ln>
        </p:spPr>
      </p:sp>
      <p:sp>
        <p:nvSpPr>
          <p:cNvPr id="10" name="圆角矩形 9"/>
          <p:cNvSpPr>
            <a:spLocks noGrp="1"/>
          </p:cNvSpPr>
          <p:nvPr/>
        </p:nvSpPr>
        <p:spPr>
          <a:xfrm>
            <a:off x="5036820" y="1613218"/>
            <a:ext cx="1965960" cy="533400"/>
          </a:xfrm>
          <a:prstGeom prst="roundRect">
            <a:avLst>
              <a:gd name="adj" fmla="val 14286"/>
            </a:avLst>
          </a:prstGeom>
          <a:solidFill>
            <a:srgbClr val="FEF3C7"/>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275" b="1">
                <a:solidFill>
                  <a:srgbClr val="0F172A"/>
                </a:solidFill>
                <a:latin typeface="Arial" panose="020B0604020202090204"/>
                <a:ea typeface="Arial" panose="020B0604020202090204"/>
                <a:cs typeface="Arial" panose="020B0604020202090204"/>
              </a:rPr>
              <a:t>Durations</a:t>
            </a:r>
            <a:endParaRPr sz="1275" b="1">
              <a:solidFill>
                <a:srgbClr val="0F172A"/>
              </a:solidFill>
              <a:latin typeface="Arial" panose="020B0604020202090204"/>
              <a:ea typeface="Arial" panose="020B0604020202090204"/>
              <a:cs typeface="Arial" panose="020B0604020202090204"/>
            </a:endParaRPr>
          </a:p>
        </p:txBody>
      </p:sp>
      <p:sp>
        <p:nvSpPr>
          <p:cNvPr id="11" name="右箭头 10"/>
          <p:cNvSpPr>
            <a:spLocks noGrp="1"/>
          </p:cNvSpPr>
          <p:nvPr/>
        </p:nvSpPr>
        <p:spPr>
          <a:xfrm>
            <a:off x="9063990" y="1708468"/>
            <a:ext cx="438150" cy="342900"/>
          </a:xfrm>
          <a:prstGeom prst="rightArrow">
            <a:avLst/>
          </a:prstGeom>
          <a:solidFill>
            <a:srgbClr val="CBD5E1"/>
          </a:solidFill>
          <a:ln w="0">
            <a:noFill/>
            <a:prstDash val="solid"/>
          </a:ln>
        </p:spPr>
      </p:sp>
      <p:sp>
        <p:nvSpPr>
          <p:cNvPr id="12" name="圆角矩形 11"/>
          <p:cNvSpPr>
            <a:spLocks noGrp="1"/>
          </p:cNvSpPr>
          <p:nvPr/>
        </p:nvSpPr>
        <p:spPr>
          <a:xfrm>
            <a:off x="7212330" y="1613218"/>
            <a:ext cx="1965960" cy="533400"/>
          </a:xfrm>
          <a:prstGeom prst="roundRect">
            <a:avLst>
              <a:gd name="adj" fmla="val 14286"/>
            </a:avLst>
          </a:prstGeom>
          <a:solidFill>
            <a:srgbClr val="DBEAFE"/>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275" b="1">
                <a:solidFill>
                  <a:srgbClr val="0F172A"/>
                </a:solidFill>
                <a:latin typeface="Arial" panose="020B0604020202090204"/>
                <a:ea typeface="Arial" panose="020B0604020202090204"/>
                <a:cs typeface="Arial" panose="020B0604020202090204"/>
              </a:rPr>
              <a:t>FastSpeech</a:t>
            </a:r>
            <a:endParaRPr sz="1275" b="1">
              <a:solidFill>
                <a:srgbClr val="0F172A"/>
              </a:solidFill>
              <a:latin typeface="Arial" panose="020B0604020202090204"/>
              <a:ea typeface="Arial" panose="020B0604020202090204"/>
              <a:cs typeface="Arial" panose="020B0604020202090204"/>
            </a:endParaRPr>
          </a:p>
        </p:txBody>
      </p:sp>
      <p:sp>
        <p:nvSpPr>
          <p:cNvPr id="13" name="圆角矩形 12"/>
          <p:cNvSpPr>
            <a:spLocks noGrp="1"/>
          </p:cNvSpPr>
          <p:nvPr/>
        </p:nvSpPr>
        <p:spPr>
          <a:xfrm>
            <a:off x="9387840" y="1613218"/>
            <a:ext cx="1965960" cy="533400"/>
          </a:xfrm>
          <a:prstGeom prst="roundRect">
            <a:avLst>
              <a:gd name="adj" fmla="val 14286"/>
            </a:avLst>
          </a:prstGeom>
          <a:solidFill>
            <a:srgbClr val="DCFCE7"/>
          </a:solidFill>
          <a:ln w="9525">
            <a:solidFill>
              <a:srgbClr val="1E40AF"/>
            </a:solidFill>
            <a:prstDash val="solid"/>
          </a:ln>
        </p:spPr>
        <p:txBody>
          <a:bodyPr anchor="ctr">
            <a:normAutofit/>
          </a:bodyPr>
          <a:lstStyle/>
          <a:p>
            <a:pPr algn="ctr">
              <a:defRPr sz="1275" b="1">
                <a:solidFill>
                  <a:srgbClr val="0F172A"/>
                </a:solidFill>
                <a:latin typeface="Arial" panose="020B0604020202090204"/>
                <a:ea typeface="Arial" panose="020B0604020202090204"/>
                <a:cs typeface="Arial" panose="020B0604020202090204"/>
              </a:defRPr>
            </a:pPr>
            <a:r>
              <a:rPr sz="1275" b="1">
                <a:solidFill>
                  <a:srgbClr val="0F172A"/>
                </a:solidFill>
                <a:latin typeface="Arial" panose="020B0604020202090204"/>
                <a:ea typeface="Arial" panose="020B0604020202090204"/>
                <a:cs typeface="Arial" panose="020B0604020202090204"/>
              </a:rPr>
              <a:t>Parallel mel</a:t>
            </a:r>
            <a:endParaRPr sz="1275" b="1">
              <a:solidFill>
                <a:srgbClr val="0F172A"/>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542290" y="2874645"/>
            <a:ext cx="488696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2000" b="1" i="0">
                <a:solidFill>
                  <a:srgbClr val="1E40AF"/>
                </a:solidFill>
                <a:latin typeface="Arial" panose="020B0604020202090204"/>
                <a:ea typeface="Arial" panose="020B0604020202090204"/>
                <a:cs typeface="Arial" panose="020B0604020202090204"/>
              </a:rPr>
              <a:t>Teacher-Student Distillation Mechanism</a:t>
            </a:r>
            <a:endParaRPr lang="en-US" altLang="zh-CN" sz="2000" b="1" i="0">
              <a:solidFill>
                <a:srgbClr val="1E40AF"/>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542290" y="3646805"/>
            <a:ext cx="5422265" cy="201295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Offline Teacher Guidance</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A pre-trained Autoregressive Teacher supplies explicit alignment maps and target mel-spectrograms.</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Student Learning (FastSpeech)</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a:sym typeface="+mn-ea"/>
              </a:rPr>
              <a:t>FastSpeech learns deterministic duration prediction and feature mapping directly from the teacher.</a:t>
            </a:r>
            <a:endParaRPr lang="en-US" altLang="zh-CN" sz="1400">
              <a:sym typeface="+mn-ea"/>
            </a:endParaRPr>
          </a:p>
        </p:txBody>
      </p:sp>
      <p:sp>
        <p:nvSpPr>
          <p:cNvPr id="16" name="矩形 15"/>
          <p:cNvSpPr>
            <a:spLocks noGrp="1"/>
          </p:cNvSpPr>
          <p:nvPr/>
        </p:nvSpPr>
        <p:spPr>
          <a:xfrm>
            <a:off x="6384925" y="2866390"/>
            <a:ext cx="4000500" cy="323850"/>
          </a:xfrm>
          <a:prstGeom prst="rect">
            <a:avLst/>
          </a:prstGeom>
          <a:noFill/>
          <a:ln w="0">
            <a:noFill/>
            <a:prstDash val="solid"/>
          </a:ln>
        </p:spPr>
        <p:txBody>
          <a:bodyPr wrap="square" lIns="0" tIns="0" rIns="0" bIns="0" anchor="t">
            <a:noAutofit/>
          </a:bodyPr>
          <a:lstStyle/>
          <a:p>
            <a:pPr algn="l">
              <a:lnSpc>
                <a:spcPct val="110000"/>
              </a:lnSpc>
              <a:buNone/>
              <a:defRPr sz="1575" b="1" i="0">
                <a:solidFill>
                  <a:srgbClr val="D97706"/>
                </a:solidFill>
                <a:latin typeface="Arial" panose="020B0604020202090204"/>
                <a:ea typeface="Arial" panose="020B0604020202090204"/>
                <a:cs typeface="Arial" panose="020B0604020202090204"/>
              </a:defRPr>
            </a:pPr>
            <a:r>
              <a:rPr lang="en-US" altLang="zh-CN" sz="2000" b="1" i="0">
                <a:solidFill>
                  <a:srgbClr val="D97706"/>
                </a:solidFill>
                <a:latin typeface="Arial" panose="020B0604020202090204"/>
                <a:ea typeface="Arial" panose="020B0604020202090204"/>
                <a:cs typeface="Arial" panose="020B0604020202090204"/>
              </a:rPr>
              <a:t>Trade-off: Pros vs. Cons</a:t>
            </a:r>
            <a:endParaRPr lang="en-US" altLang="zh-CN" sz="2000" b="1" i="0">
              <a:solidFill>
                <a:srgbClr val="D97706"/>
              </a:solidFill>
              <a:latin typeface="Arial" panose="020B0604020202090204"/>
              <a:ea typeface="Arial" panose="020B0604020202090204"/>
              <a:cs typeface="Arial" panose="020B0604020202090204"/>
            </a:endParaRPr>
          </a:p>
        </p:txBody>
      </p:sp>
      <p:sp>
        <p:nvSpPr>
          <p:cNvPr id="19" name="矩形 18"/>
          <p:cNvSpPr>
            <a:spLocks noGrp="1"/>
          </p:cNvSpPr>
          <p:nvPr/>
        </p:nvSpPr>
        <p:spPr>
          <a:xfrm>
            <a:off x="6456045" y="3646805"/>
            <a:ext cx="5422265" cy="244157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Pros (Inference Gains)</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No dynamic attention computation at inference.</a:t>
            </a: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Enables fully parallel, deterministic length expansion &amp; ultra-fast synthesis.</a:t>
            </a:r>
            <a:endParaRPr lang="en-US" altLang="zh-CN" sz="1400" b="0" i="0">
              <a:solidFill>
                <a:srgbClr val="334155"/>
              </a:solidFill>
              <a:latin typeface="Arial" panose="020B0604020202090204"/>
              <a:ea typeface="Arial" panose="020B0604020202090204"/>
              <a:cs typeface="Arial" panose="020B0604020202090204"/>
            </a:endParaRPr>
          </a:p>
          <a:p>
            <a:pPr indent="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Cons (Training Trade-offs):</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a:sym typeface="+mn-ea"/>
              </a:rPr>
              <a:t>Complex two-stage training pipeline.</a:t>
            </a:r>
            <a:endParaRPr lang="en-US" altLang="zh-CN" sz="1400">
              <a:sym typeface="+mn-ea"/>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a:sym typeface="+mn-ea"/>
              </a:rPr>
              <a:t>Performance is upper-bounded by the quality of the Teacher's attention map.</a:t>
            </a:r>
            <a:endParaRPr lang="en-US" altLang="zh-CN" sz="14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ACOUSTIC MODEL</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452755"/>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0">
                <a:solidFill>
                  <a:srgbClr val="0F172A"/>
                </a:solidFill>
                <a:latin typeface="Arial" panose="020B0604020202090204"/>
                <a:ea typeface="Arial" panose="020B0604020202090204"/>
                <a:cs typeface="Arial" panose="020B0604020202090204"/>
              </a:rPr>
              <a:t>FastSpeech 2</a:t>
            </a:r>
            <a:r>
              <a:rPr lang="en-US" sz="2800" b="1" i="0">
                <a:solidFill>
                  <a:srgbClr val="0F172A"/>
                </a:solidFill>
                <a:latin typeface="Arial" panose="020B0604020202090204"/>
                <a:ea typeface="Arial" panose="020B0604020202090204"/>
                <a:cs typeface="Arial" panose="020B0604020202090204"/>
              </a:rPr>
              <a:t>:</a:t>
            </a:r>
            <a:r>
              <a:rPr sz="2800" b="1" i="0">
                <a:solidFill>
                  <a:srgbClr val="0F172A"/>
                </a:solidFill>
                <a:latin typeface="Arial" panose="020B0604020202090204"/>
                <a:ea typeface="Arial" panose="020B0604020202090204"/>
                <a:cs typeface="Arial" panose="020B0604020202090204"/>
              </a:rPr>
              <a:t> </a:t>
            </a:r>
            <a:r>
              <a:rPr lang="en-US" altLang="zh-CN" sz="2800" b="1" i="0">
                <a:solidFill>
                  <a:srgbClr val="0F172A"/>
                </a:solidFill>
                <a:latin typeface="Arial" panose="020B0604020202090204"/>
                <a:ea typeface="Arial" panose="020B0604020202090204"/>
                <a:cs typeface="Arial" panose="020B0604020202090204"/>
              </a:rPr>
              <a:t>Explicit Variance Adaptation</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29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5663565" y="1412875"/>
            <a:ext cx="5967730" cy="2976245"/>
          </a:xfrm>
          <a:prstGeom prst="rect">
            <a:avLst/>
          </a:prstGeom>
        </p:spPr>
      </p:pic>
      <p:sp>
        <p:nvSpPr>
          <p:cNvPr id="6" name="矩形 5"/>
          <p:cNvSpPr>
            <a:spLocks noGrp="1"/>
          </p:cNvSpPr>
          <p:nvPr/>
        </p:nvSpPr>
        <p:spPr>
          <a:xfrm>
            <a:off x="533400" y="1167765"/>
            <a:ext cx="57531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Motivation: Resolving</a:t>
            </a:r>
            <a:r>
              <a:rPr sz="1800" b="1" i="0">
                <a:solidFill>
                  <a:srgbClr val="1E40AF"/>
                </a:solidFill>
                <a:latin typeface="Arial" panose="020B0604020202090204"/>
                <a:ea typeface="Arial" panose="020B0604020202090204"/>
                <a:cs typeface="Arial" panose="020B0604020202090204"/>
              </a:rPr>
              <a:t>One-to-many mapping</a:t>
            </a:r>
            <a:endParaRPr sz="18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67080" y="1628775"/>
            <a:ext cx="4762500" cy="574675"/>
          </a:xfrm>
          <a:prstGeom prst="rect">
            <a:avLst/>
          </a:prstGeom>
          <a:noFill/>
          <a:ln w="0">
            <a:noFill/>
            <a:prstDash val="solid"/>
          </a:ln>
        </p:spPr>
        <p:txBody>
          <a:bodyPr wrap="square" lIns="0" tIns="0" rIns="0" bIns="0" anchor="t">
            <a:noAutofit/>
          </a:bodyPr>
          <a:lstStyle/>
          <a:p>
            <a:pPr algn="l">
              <a:lnSpc>
                <a:spcPct val="110000"/>
              </a:lnSpc>
              <a:buNone/>
              <a:defRPr sz="1650"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The same phoneme string can be spoken slowly, quickly, softly, loudly, or with different intonation.</a:t>
            </a:r>
            <a:endParaRPr sz="16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14350" y="2350135"/>
            <a:ext cx="220599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lang="en-US" sz="1800" b="1" i="0">
                <a:solidFill>
                  <a:srgbClr val="059669"/>
                </a:solidFill>
                <a:latin typeface="Arial" panose="020B0604020202090204"/>
                <a:ea typeface="Arial" panose="020B0604020202090204"/>
                <a:cs typeface="Arial" panose="020B0604020202090204"/>
              </a:rPr>
              <a:t>1. </a:t>
            </a:r>
            <a:r>
              <a:rPr sz="1800" b="1" i="0">
                <a:solidFill>
                  <a:srgbClr val="059669"/>
                </a:solidFill>
                <a:latin typeface="Arial" panose="020B0604020202090204"/>
                <a:ea typeface="Arial" panose="020B0604020202090204"/>
                <a:cs typeface="Arial" panose="020B0604020202090204"/>
              </a:rPr>
              <a:t>Variance adaptor</a:t>
            </a:r>
            <a:endParaRPr sz="1800" b="1" i="0">
              <a:solidFill>
                <a:srgbClr val="05966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95325" y="2926080"/>
            <a:ext cx="4572000" cy="155575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Duration controls rhythm.</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Pitch controls intonation and melody.</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Energy controls loudness and emphasis.</a:t>
            </a:r>
            <a:endParaRPr sz="1600" b="0" i="0">
              <a:solidFill>
                <a:srgbClr val="334155"/>
              </a:solidFill>
              <a:latin typeface="Arial" panose="020B0604020202090204"/>
              <a:ea typeface="Arial" panose="020B0604020202090204"/>
              <a:cs typeface="Arial" panose="020B0604020202090204"/>
            </a:endParaRPr>
          </a:p>
        </p:txBody>
      </p:sp>
      <p:sp>
        <p:nvSpPr>
          <p:cNvPr id="5" name="文本框 4"/>
          <p:cNvSpPr txBox="1"/>
          <p:nvPr/>
        </p:nvSpPr>
        <p:spPr>
          <a:xfrm>
            <a:off x="442595" y="4509135"/>
            <a:ext cx="4064000" cy="368300"/>
          </a:xfrm>
          <a:prstGeom prst="rect">
            <a:avLst/>
          </a:prstGeom>
          <a:noFill/>
        </p:spPr>
        <p:txBody>
          <a:bodyPr wrap="square" rtlCol="0">
            <a:spAutoFit/>
          </a:bodyPr>
          <a:p>
            <a:r>
              <a:rPr lang="en-US" altLang="zh-CN" b="1">
                <a:solidFill>
                  <a:schemeClr val="accent2"/>
                </a:solidFill>
                <a:latin typeface="Arial" panose="020B0604020202090204" pitchFamily="34" charset="0"/>
                <a:cs typeface="Arial" panose="020B0604020202090204" pitchFamily="34" charset="0"/>
              </a:rPr>
              <a:t>2. Duration/Pitch/Power Predictor</a:t>
            </a:r>
            <a:endParaRPr lang="en-US" altLang="zh-CN" b="1">
              <a:solidFill>
                <a:schemeClr val="accent2"/>
              </a:solidFill>
              <a:latin typeface="Arial" panose="020B0604020202090204" pitchFamily="34" charset="0"/>
              <a:cs typeface="Arial" panose="020B0604020202090204" pitchFamily="34" charset="0"/>
            </a:endParaRPr>
          </a:p>
        </p:txBody>
      </p:sp>
      <p:sp>
        <p:nvSpPr>
          <p:cNvPr id="11" name="文本框 10"/>
          <p:cNvSpPr txBox="1"/>
          <p:nvPr/>
        </p:nvSpPr>
        <p:spPr>
          <a:xfrm>
            <a:off x="648970" y="5013325"/>
            <a:ext cx="6504305" cy="337185"/>
          </a:xfrm>
          <a:prstGeom prst="rect">
            <a:avLst/>
          </a:prstGeom>
          <a:noFill/>
        </p:spPr>
        <p:txBody>
          <a:bodyPr wrap="square" rtlCol="0">
            <a:spAutoFit/>
          </a:bodyPr>
          <a:p>
            <a:r>
              <a:rPr sz="1600">
                <a:solidFill>
                  <a:srgbClr val="334155"/>
                </a:solidFill>
                <a:latin typeface="Arial" panose="020B0604020202090204"/>
                <a:ea typeface="Arial" panose="020B0604020202090204"/>
                <a:cs typeface="Arial" panose="020B0604020202090204"/>
                <a:sym typeface="+mn-ea"/>
              </a:rPr>
              <a:t>• </a:t>
            </a:r>
            <a:r>
              <a:rPr lang="en-US" altLang="zh-CN" sz="1600">
                <a:latin typeface="Arial" panose="020B0604020202090204" pitchFamily="34" charset="0"/>
                <a:cs typeface="Arial" panose="020B0604020202090204" pitchFamily="34" charset="0"/>
              </a:rPr>
              <a:t>Similar structure (consisting of several layers of 1D Conv)</a:t>
            </a:r>
            <a:endParaRPr lang="en-US" altLang="zh-CN" sz="1600">
              <a:latin typeface="Arial" panose="020B0604020202090204" pitchFamily="34" charset="0"/>
              <a:cs typeface="Arial" panose="020B0604020202090204" pitchFamily="34" charset="0"/>
            </a:endParaRPr>
          </a:p>
        </p:txBody>
      </p:sp>
      <p:sp>
        <p:nvSpPr>
          <p:cNvPr id="12" name="文本框 11"/>
          <p:cNvSpPr txBox="1"/>
          <p:nvPr/>
        </p:nvSpPr>
        <p:spPr>
          <a:xfrm>
            <a:off x="648970" y="5589270"/>
            <a:ext cx="9544685" cy="337185"/>
          </a:xfrm>
          <a:prstGeom prst="rect">
            <a:avLst/>
          </a:prstGeom>
          <a:noFill/>
        </p:spPr>
        <p:txBody>
          <a:bodyPr wrap="square" rtlCol="0">
            <a:spAutoFit/>
          </a:bodyPr>
          <a:p>
            <a:r>
              <a:rPr sz="1600">
                <a:solidFill>
                  <a:srgbClr val="334155"/>
                </a:solidFill>
                <a:latin typeface="Arial" panose="020B0604020202090204"/>
                <a:ea typeface="Arial" panose="020B0604020202090204"/>
                <a:cs typeface="Arial" panose="020B0604020202090204"/>
                <a:sym typeface="+mn-ea"/>
              </a:rPr>
              <a:t>• </a:t>
            </a:r>
            <a:r>
              <a:rPr lang="en-US" altLang="zh-CN" sz="1600">
                <a:latin typeface="Arial" panose="020B0604020202090204" pitchFamily="34" charset="0"/>
                <a:cs typeface="Arial" panose="020B0604020202090204" pitchFamily="34" charset="0"/>
              </a:rPr>
              <a:t>Sharing the output of the encoder,but each independently predicts three different numerical sequences</a:t>
            </a:r>
            <a:endParaRPr lang="en-US" altLang="zh-CN" sz="1600">
              <a:latin typeface="Arial" panose="020B0604020202090204" pitchFamily="34" charset="0"/>
              <a:cs typeface="Arial" panose="020B060402020209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55638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DURATION AND ALIGNMENT          </a:t>
            </a:r>
            <a:endParaRPr lang="en-US" sz="750" dirty="0">
              <a:solidFill>
                <a:srgbClr val="64748B"/>
              </a:solidFill>
              <a:latin typeface="+mn-lt"/>
              <a:ea typeface="+mn-ea"/>
              <a:cs typeface="+mn-cs"/>
            </a:endParaRPr>
          </a:p>
        </p:txBody>
      </p:sp>
      <p:sp>
        <p:nvSpPr>
          <p:cNvPr id="3" name="TextBox 3"/>
          <p:cNvSpPr txBox="1"/>
          <p:nvPr/>
        </p:nvSpPr>
        <p:spPr>
          <a:xfrm>
            <a:off x="501396" y="467678"/>
            <a:ext cx="912558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Code: Targets vs. Predicted Duration &amp; Pitch Addition</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tretch>
            <a:fillRect/>
          </a:stretch>
        </p:blipFill>
        <p:spPr>
          <a:xfrm>
            <a:off x="514350" y="1165860"/>
            <a:ext cx="10972800" cy="4391025"/>
          </a:xfrm>
          <a:prstGeom prst="rect">
            <a:avLst/>
          </a:prstGeom>
        </p:spPr>
      </p:pic>
      <p:sp>
        <p:nvSpPr>
          <p:cNvPr id="6" name="TextBox 6"/>
          <p:cNvSpPr txBox="1"/>
          <p:nvPr/>
        </p:nvSpPr>
        <p:spPr>
          <a:xfrm>
            <a:off x="507873" y="5815489"/>
            <a:ext cx="837553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[B,N,H] -&gt; [B,T,H]. Target or predicted duration expands x; frame-level pitch can then be added.</a:t>
            </a:r>
            <a:endParaRPr lang="en-US" sz="1280" dirty="0">
              <a:solidFill>
                <a:schemeClr val="dk1"/>
              </a:solidFill>
              <a:latin typeface="+mn-lt"/>
              <a:ea typeface="+mn-ea"/>
              <a:cs typeface="+mn-cs"/>
            </a:endParaRPr>
          </a:p>
        </p:txBody>
      </p:sp>
      <p:sp>
        <p:nvSpPr>
          <p:cNvPr id="7" name="TextBox 7"/>
          <p:cNvSpPr txBox="1"/>
          <p:nvPr/>
        </p:nvSpPr>
        <p:spPr>
          <a:xfrm>
            <a:off x="509588" y="6141720"/>
            <a:ext cx="6656203"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Chung-Ming Chien · ming024/FastSpeech2 · MIT · modules.py L128-143 · d4e79eb52e · independent F0-style code</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ALIGNMENT</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52578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Montreal Forced Aligner (MFA)</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3" name="图片 12"/>
          <p:cNvPicPr>
            <a:picLocks noChangeAspect="1"/>
          </p:cNvPicPr>
          <p:nvPr/>
        </p:nvPicPr>
        <p:blipFill>
          <a:blip r:embed="rId1"/>
          <a:stretch>
            <a:fillRect/>
          </a:stretch>
        </p:blipFill>
        <p:spPr>
          <a:xfrm>
            <a:off x="6303010" y="1628775"/>
            <a:ext cx="5888990" cy="3436620"/>
          </a:xfrm>
          <a:prstGeom prst="rect">
            <a:avLst/>
          </a:prstGeom>
        </p:spPr>
      </p:pic>
      <p:sp>
        <p:nvSpPr>
          <p:cNvPr id="6" name="矩形 5"/>
          <p:cNvSpPr>
            <a:spLocks noGrp="1"/>
          </p:cNvSpPr>
          <p:nvPr/>
        </p:nvSpPr>
        <p:spPr>
          <a:xfrm>
            <a:off x="514350" y="1627505"/>
            <a:ext cx="40005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2000" b="1" i="0">
                <a:solidFill>
                  <a:srgbClr val="1E40AF"/>
                </a:solidFill>
                <a:latin typeface="Arial" panose="020B0604020202090204"/>
                <a:ea typeface="Arial" panose="020B0604020202090204"/>
                <a:cs typeface="Arial" panose="020B0604020202090204"/>
              </a:rPr>
              <a:t>MFA Working Principle</a:t>
            </a:r>
            <a:endParaRPr lang="en-US" altLang="zh-CN" sz="20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22935" y="2568575"/>
            <a:ext cx="6087110" cy="859790"/>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Extract MFCC-like acoustic features.</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Use a GMM-HMM / pronunciation model.</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p:txBody>
      </p:sp>
      <p:sp>
        <p:nvSpPr>
          <p:cNvPr id="10" name="文本框 9"/>
          <p:cNvSpPr txBox="1"/>
          <p:nvPr/>
        </p:nvSpPr>
        <p:spPr>
          <a:xfrm>
            <a:off x="412750" y="2159635"/>
            <a:ext cx="4064000" cy="33718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Acoustic Feature Extraction</a:t>
            </a:r>
            <a:endParaRPr lang="en-US" altLang="zh-CN" sz="1600" b="1">
              <a:latin typeface="Arial" panose="020B0604020202090204" pitchFamily="34" charset="0"/>
              <a:cs typeface="Arial" panose="020B0604020202090204" pitchFamily="34" charset="0"/>
            </a:endParaRPr>
          </a:p>
        </p:txBody>
      </p:sp>
      <p:sp>
        <p:nvSpPr>
          <p:cNvPr id="11" name="文本框 10"/>
          <p:cNvSpPr txBox="1"/>
          <p:nvPr/>
        </p:nvSpPr>
        <p:spPr>
          <a:xfrm>
            <a:off x="542290" y="4025265"/>
            <a:ext cx="6096000" cy="918210"/>
          </a:xfrm>
          <a:prstGeom prst="rect">
            <a:avLst/>
          </a:prstGeom>
          <a:noFill/>
        </p:spPr>
        <p:txBody>
          <a:bodyPr wrap="square" rtlCol="0" anchor="t">
            <a:spAutoFit/>
          </a:bodyPr>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olidFill>
                  <a:srgbClr val="334155"/>
                </a:solidFill>
                <a:latin typeface="Arial" panose="020B0604020202090204"/>
                <a:ea typeface="Arial" panose="020B0604020202090204"/>
                <a:cs typeface="Arial" panose="020B0604020202090204"/>
                <a:sym typeface="+mn-ea"/>
              </a:rPr>
              <a:t>• Search for the most probable state path under the transcript.</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a:solidFill>
                  <a:srgbClr val="334155"/>
                </a:solidFill>
                <a:latin typeface="Arial" panose="020B0604020202090204"/>
                <a:ea typeface="Arial" panose="020B0604020202090204"/>
                <a:cs typeface="Arial" panose="020B0604020202090204"/>
                <a:sym typeface="+mn-ea"/>
              </a:rPr>
              <a:t>• </a:t>
            </a:r>
            <a:r>
              <a:rPr lang="en-US" altLang="zh-CN" sz="1600">
                <a:solidFill>
                  <a:srgbClr val="334155"/>
                </a:solidFill>
                <a:latin typeface="Arial" panose="020B0604020202090204"/>
                <a:ea typeface="Arial" panose="020B0604020202090204"/>
                <a:cs typeface="Arial" panose="020B0604020202090204"/>
                <a:sym typeface="+mn-ea"/>
              </a:rPr>
              <a:t>Multi-pass optimization for speaker adaptation</a:t>
            </a:r>
            <a:r>
              <a:rPr lang="en-US" altLang="zh-CN" sz="1600">
                <a:solidFill>
                  <a:srgbClr val="334155"/>
                </a:solidFill>
                <a:latin typeface="Arial" panose="020B0604020202090204"/>
                <a:ea typeface="Arial" panose="020B0604020202090204"/>
                <a:cs typeface="Arial" panose="020B0604020202090204"/>
                <a:sym typeface="+mn-ea"/>
              </a:rPr>
              <a:t>.</a:t>
            </a:r>
            <a:endParaRPr lang="en-US" altLang="zh-CN" sz="1600">
              <a:solidFill>
                <a:srgbClr val="334155"/>
              </a:solidFill>
              <a:latin typeface="Arial" panose="020B0604020202090204"/>
              <a:ea typeface="Arial" panose="020B0604020202090204"/>
              <a:cs typeface="Arial" panose="020B0604020202090204"/>
              <a:sym typeface="+mn-ea"/>
            </a:endParaRPr>
          </a:p>
        </p:txBody>
      </p:sp>
      <p:sp>
        <p:nvSpPr>
          <p:cNvPr id="12" name="文本框 11"/>
          <p:cNvSpPr txBox="1"/>
          <p:nvPr/>
        </p:nvSpPr>
        <p:spPr>
          <a:xfrm>
            <a:off x="407670" y="3618865"/>
            <a:ext cx="4064000" cy="33718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Forced Alignment Search</a:t>
            </a:r>
            <a:endParaRPr lang="en-US" altLang="zh-CN" sz="1600" b="1">
              <a:latin typeface="Arial" panose="020B0604020202090204" pitchFamily="34" charset="0"/>
              <a:cs typeface="Arial" panose="020B060402020209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55638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DURATION AND ALIGNMENT          </a:t>
            </a:r>
            <a:endParaRPr lang="en-US" sz="750" dirty="0">
              <a:solidFill>
                <a:srgbClr val="64748B"/>
              </a:solidFill>
              <a:latin typeface="+mn-lt"/>
              <a:ea typeface="+mn-ea"/>
              <a:cs typeface="+mn-cs"/>
            </a:endParaRPr>
          </a:p>
        </p:txBody>
      </p:sp>
      <p:sp>
        <p:nvSpPr>
          <p:cNvPr id="3" name="TextBox 3"/>
          <p:cNvSpPr txBox="1"/>
          <p:nvPr/>
        </p:nvSpPr>
        <p:spPr>
          <a:xfrm>
            <a:off x="501396" y="467678"/>
            <a:ext cx="628205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Review: alignment and controllability</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479298" y="1197292"/>
            <a:ext cx="511095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Sequence length, module boundary, guarantees</a:t>
            </a:r>
            <a:endParaRPr lang="en-US" sz="1650" dirty="0">
              <a:solidFill>
                <a:schemeClr val="accent3"/>
              </a:solidFill>
              <a:latin typeface="+mn-lt"/>
              <a:ea typeface="+mn-ea"/>
              <a:cs typeface="+mn-cs"/>
            </a:endParaRPr>
          </a:p>
        </p:txBody>
      </p:sp>
      <p:sp>
        <p:nvSpPr>
          <p:cNvPr id="6" name="TextBox 6"/>
          <p:cNvSpPr txBox="1"/>
          <p:nvPr/>
        </p:nvSpPr>
        <p:spPr>
          <a:xfrm>
            <a:off x="479425" y="1893570"/>
            <a:ext cx="3949700"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1. Expand [a,b,c] with durations [1,3,2].</a:t>
            </a:r>
            <a:endParaRPr lang="en-US"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479425" y="2893695"/>
            <a:ext cx="5930900"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2. Is the length regulator after the entire variance adaptor?</a:t>
            </a:r>
            <a:endParaRPr lang="en-US" dirty="0">
              <a:solidFill>
                <a:schemeClr val="dk1"/>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479425" y="3893820"/>
            <a:ext cx="6824345"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3. Does a duration model guarantee that words are never skipped?</a:t>
            </a:r>
            <a:endParaRPr lang="en-US" dirty="0">
              <a:solidFill>
                <a:schemeClr val="dk1"/>
              </a:solidFill>
              <a:latin typeface="Arial" panose="020B0604020202090204" pitchFamily="34" charset="0"/>
              <a:ea typeface="+mn-ea"/>
              <a:cs typeface="Arial" panose="020B0604020202090204" pitchFamily="34" charset="0"/>
            </a:endParaRPr>
          </a:p>
        </p:txBody>
      </p:sp>
      <p:sp>
        <p:nvSpPr>
          <p:cNvPr id="9" name="TextBox 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155638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DURATION AND ALIGNMENT          </a:t>
            </a:r>
            <a:endParaRPr lang="en-US" sz="750" dirty="0">
              <a:solidFill>
                <a:srgbClr val="64748B"/>
              </a:solidFill>
              <a:latin typeface="+mn-lt"/>
              <a:ea typeface="+mn-ea"/>
              <a:cs typeface="+mn-cs"/>
            </a:endParaRPr>
          </a:p>
        </p:txBody>
      </p:sp>
      <p:sp>
        <p:nvSpPr>
          <p:cNvPr id="3" name="TextBox 3"/>
          <p:cNvSpPr txBox="1"/>
          <p:nvPr/>
        </p:nvSpPr>
        <p:spPr>
          <a:xfrm>
            <a:off x="501396" y="467678"/>
            <a:ext cx="513524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Reference answers: alignment</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505968" y="1197292"/>
            <a:ext cx="6432125"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Explicit lengths improve control, not absolute correctness</a:t>
            </a:r>
            <a:endParaRPr lang="en-US" sz="1650" dirty="0">
              <a:solidFill>
                <a:schemeClr val="accent2"/>
              </a:solidFill>
              <a:latin typeface="+mn-lt"/>
              <a:ea typeface="+mn-ea"/>
              <a:cs typeface="+mn-cs"/>
            </a:endParaRPr>
          </a:p>
        </p:txBody>
      </p:sp>
      <p:sp>
        <p:nvSpPr>
          <p:cNvPr id="6" name="TextBox 6"/>
          <p:cNvSpPr txBox="1"/>
          <p:nvPr/>
        </p:nvSpPr>
        <p:spPr>
          <a:xfrm>
            <a:off x="479425" y="2105660"/>
            <a:ext cx="4420870" cy="276860"/>
          </a:xfrm>
          <a:prstGeom prst="rect">
            <a:avLst/>
          </a:prstGeom>
          <a:noFill/>
          <a:ln>
            <a:noFill/>
          </a:ln>
        </p:spPr>
        <p:txBody>
          <a:bodyPr wrap="square" lIns="0" tIns="0" rIns="0" bIns="0" anchor="t" anchorCtr="0">
            <a:spAutoFit/>
          </a:bodyPr>
          <a:lstStyle/>
          <a:p>
            <a:pPr indent="457200" algn="l"/>
            <a:r>
              <a:rPr lang="en-US" dirty="0">
                <a:solidFill>
                  <a:schemeClr val="dk1"/>
                </a:solidFill>
                <a:latin typeface="Arial" panose="020B0604020202090204" pitchFamily="34" charset="0"/>
                <a:ea typeface="+mn-ea"/>
                <a:cs typeface="Arial" panose="020B0604020202090204" pitchFamily="34" charset="0"/>
              </a:rPr>
              <a:t>[a,b,b,b,c,c], giving six frames.</a:t>
            </a:r>
            <a:endParaRPr lang="en-US"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479425" y="3105785"/>
            <a:ext cx="9568180" cy="276860"/>
          </a:xfrm>
          <a:prstGeom prst="rect">
            <a:avLst/>
          </a:prstGeom>
          <a:noFill/>
          <a:ln>
            <a:noFill/>
          </a:ln>
        </p:spPr>
        <p:txBody>
          <a:bodyPr wrap="square" lIns="0" tIns="0" rIns="0" bIns="0" anchor="t" anchorCtr="0">
            <a:spAutoFit/>
          </a:bodyPr>
          <a:lstStyle/>
          <a:p>
            <a:pPr indent="457200" algn="l"/>
            <a:r>
              <a:rPr lang="en-US" dirty="0">
                <a:solidFill>
                  <a:schemeClr val="dk1"/>
                </a:solidFill>
                <a:latin typeface="Arial" panose="020B0604020202090204" pitchFamily="34" charset="0"/>
                <a:ea typeface="+mn-ea"/>
                <a:cs typeface="Arial" panose="020B0604020202090204" pitchFamily="34" charset="0"/>
              </a:rPr>
              <a:t>No. The length regulator is a component inside the variance adaptor.</a:t>
            </a:r>
            <a:endParaRPr lang="en-US" dirty="0">
              <a:solidFill>
                <a:schemeClr val="dk1"/>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479425" y="4105910"/>
            <a:ext cx="11068050" cy="346075"/>
          </a:xfrm>
          <a:prstGeom prst="rect">
            <a:avLst/>
          </a:prstGeom>
          <a:noFill/>
          <a:ln>
            <a:noFill/>
          </a:ln>
        </p:spPr>
        <p:txBody>
          <a:bodyPr wrap="square" lIns="0" tIns="0" rIns="0" bIns="0" anchor="t" anchorCtr="0">
            <a:spAutoFit/>
          </a:bodyPr>
          <a:lstStyle/>
          <a:p>
            <a:pPr indent="457200" algn="l">
              <a:lnSpc>
                <a:spcPts val="2700"/>
              </a:lnSpc>
            </a:pPr>
            <a:r>
              <a:rPr lang="en-US" dirty="0">
                <a:solidFill>
                  <a:schemeClr val="dk1"/>
                </a:solidFill>
                <a:latin typeface="Arial" panose="020B0604020202090204" pitchFamily="34" charset="0"/>
                <a:ea typeface="+mn-ea"/>
                <a:cs typeface="Arial" panose="020B0604020202090204" pitchFamily="34" charset="0"/>
              </a:rPr>
              <a:t>No. Frontend mistakes, duration errors, zero durations and acoustic failures can still reduce intelligibility.</a:t>
            </a:r>
            <a:endParaRPr lang="en-US" dirty="0">
              <a:solidFill>
                <a:schemeClr val="dk1"/>
              </a:solidFill>
              <a:latin typeface="Arial" panose="020B0604020202090204" pitchFamily="34" charset="0"/>
              <a:ea typeface="+mn-ea"/>
              <a:cs typeface="Arial" panose="020B0604020202090204" pitchFamily="34" charset="0"/>
            </a:endParaRPr>
          </a:p>
        </p:txBody>
      </p:sp>
      <p:sp>
        <p:nvSpPr>
          <p:cNvPr id="9" name="TextBox 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3" name="TextBox 6"/>
          <p:cNvSpPr txBox="1"/>
          <p:nvPr/>
        </p:nvSpPr>
        <p:spPr>
          <a:xfrm>
            <a:off x="479425" y="1691005"/>
            <a:ext cx="3949700"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1. Expand [a,b,c] with durations [1,3,2].</a:t>
            </a:r>
            <a:endParaRPr lang="en-US" dirty="0">
              <a:solidFill>
                <a:schemeClr val="dk1"/>
              </a:solidFill>
              <a:latin typeface="Arial" panose="020B0604020202090204" pitchFamily="34" charset="0"/>
              <a:ea typeface="+mn-ea"/>
              <a:cs typeface="Arial" panose="020B0604020202090204" pitchFamily="34" charset="0"/>
            </a:endParaRPr>
          </a:p>
        </p:txBody>
      </p:sp>
      <p:sp>
        <p:nvSpPr>
          <p:cNvPr id="14" name="TextBox 7"/>
          <p:cNvSpPr txBox="1"/>
          <p:nvPr/>
        </p:nvSpPr>
        <p:spPr>
          <a:xfrm>
            <a:off x="479425" y="2691130"/>
            <a:ext cx="5930900"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2. Is the length regulator after the entire variance adaptor?</a:t>
            </a:r>
            <a:endParaRPr lang="en-US" dirty="0">
              <a:solidFill>
                <a:schemeClr val="dk1"/>
              </a:solidFill>
              <a:latin typeface="Arial" panose="020B0604020202090204" pitchFamily="34" charset="0"/>
              <a:ea typeface="+mn-ea"/>
              <a:cs typeface="Arial" panose="020B0604020202090204" pitchFamily="34" charset="0"/>
            </a:endParaRPr>
          </a:p>
        </p:txBody>
      </p:sp>
      <p:sp>
        <p:nvSpPr>
          <p:cNvPr id="15" name="TextBox 8"/>
          <p:cNvSpPr txBox="1"/>
          <p:nvPr/>
        </p:nvSpPr>
        <p:spPr>
          <a:xfrm>
            <a:off x="479425" y="3691255"/>
            <a:ext cx="6824345" cy="276860"/>
          </a:xfrm>
          <a:prstGeom prst="rect">
            <a:avLst/>
          </a:prstGeom>
          <a:noFill/>
          <a:ln>
            <a:noFill/>
          </a:ln>
        </p:spPr>
        <p:txBody>
          <a:bodyPr wrap="none" lIns="0" tIns="0" rIns="0" bIns="0" anchor="t" anchorCtr="0">
            <a:spAutoFit/>
          </a:bodyPr>
          <a:lstStyle/>
          <a:p>
            <a:pPr algn="l"/>
            <a:r>
              <a:rPr lang="en-US" dirty="0">
                <a:solidFill>
                  <a:schemeClr val="dk1"/>
                </a:solidFill>
                <a:latin typeface="Arial" panose="020B0604020202090204" pitchFamily="34" charset="0"/>
                <a:ea typeface="+mn-ea"/>
                <a:cs typeface="Arial" panose="020B0604020202090204" pitchFamily="34" charset="0"/>
              </a:rPr>
              <a:t>3. Does a duration model guarantee that words are never skipped?</a:t>
            </a:r>
            <a:endParaRPr lang="en-US" dirty="0">
              <a:solidFill>
                <a:schemeClr val="dk1"/>
              </a:solidFill>
              <a:latin typeface="Arial" panose="020B0604020202090204" pitchFamily="34" charset="0"/>
              <a:ea typeface="+mn-ea"/>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sz="3200" b="1" i="0">
                <a:solidFill>
                  <a:srgbClr val="0F172A"/>
                </a:solidFill>
                <a:latin typeface="Arial" panose="020B0604020202090204"/>
                <a:ea typeface="Arial" panose="020B0604020202090204"/>
                <a:cs typeface="Arial" panose="020B0604020202090204"/>
              </a:rPr>
              <a:t>V</a:t>
            </a:r>
            <a:r>
              <a:rPr sz="3200" b="1" i="0">
                <a:solidFill>
                  <a:srgbClr val="0F172A"/>
                </a:solidFill>
                <a:latin typeface="Arial" panose="020B0604020202090204"/>
                <a:ea typeface="Arial" panose="020B0604020202090204"/>
                <a:cs typeface="Arial" panose="020B0604020202090204"/>
              </a:rPr>
              <a:t>ocoder</a:t>
            </a:r>
            <a:r>
              <a:rPr lang="en-US" sz="3200" b="1" i="0">
                <a:solidFill>
                  <a:srgbClr val="0F172A"/>
                </a:solidFill>
                <a:latin typeface="Arial" panose="020B0604020202090204"/>
                <a:ea typeface="Arial" panose="020B0604020202090204"/>
                <a:cs typeface="Arial" panose="020B0604020202090204"/>
              </a:rPr>
              <a:t> </a:t>
            </a:r>
            <a:r>
              <a:rPr lang="en-US" altLang="zh-CN" sz="3200" b="1" i="0">
                <a:solidFill>
                  <a:srgbClr val="0F172A"/>
                </a:solidFill>
                <a:latin typeface="Arial" panose="020B0604020202090204"/>
                <a:ea typeface="Arial" panose="020B0604020202090204"/>
                <a:cs typeface="Arial" panose="020B0604020202090204"/>
              </a:rPr>
              <a:t>: Mel-Spectrogram to Waveform Synthesis</a:t>
            </a:r>
            <a:endParaRPr lang="en-US" altLang="zh-CN" sz="32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7" name="图片 16"/>
          <p:cNvPicPr>
            <a:picLocks noChangeAspect="1"/>
          </p:cNvPicPr>
          <p:nvPr/>
        </p:nvPicPr>
        <p:blipFill>
          <a:blip r:embed="rId1"/>
          <a:stretch>
            <a:fillRect/>
          </a:stretch>
        </p:blipFill>
        <p:spPr>
          <a:xfrm>
            <a:off x="1116965" y="1439709"/>
            <a:ext cx="2095500" cy="1419532"/>
          </a:xfrm>
          <a:prstGeom prst="rect">
            <a:avLst/>
          </a:prstGeom>
        </p:spPr>
      </p:pic>
      <p:sp>
        <p:nvSpPr>
          <p:cNvPr id="6" name="右箭头 5"/>
          <p:cNvSpPr>
            <a:spLocks noGrp="1"/>
          </p:cNvSpPr>
          <p:nvPr/>
        </p:nvSpPr>
        <p:spPr>
          <a:xfrm>
            <a:off x="3402965" y="1816100"/>
            <a:ext cx="1238250" cy="571500"/>
          </a:xfrm>
          <a:prstGeom prst="rightArrow">
            <a:avLst/>
          </a:prstGeom>
          <a:solidFill>
            <a:srgbClr val="1E40AF"/>
          </a:solidFill>
          <a:ln w="0">
            <a:noFill/>
            <a:prstDash val="solid"/>
          </a:ln>
        </p:spPr>
      </p:sp>
      <p:sp>
        <p:nvSpPr>
          <p:cNvPr id="7" name="圆角矩形 6"/>
          <p:cNvSpPr>
            <a:spLocks noGrp="1"/>
          </p:cNvSpPr>
          <p:nvPr/>
        </p:nvSpPr>
        <p:spPr>
          <a:xfrm>
            <a:off x="4926965" y="1482725"/>
            <a:ext cx="2095500" cy="1143000"/>
          </a:xfrm>
          <a:prstGeom prst="roundRect">
            <a:avLst>
              <a:gd name="adj" fmla="val 6667"/>
            </a:avLst>
          </a:prstGeom>
          <a:solidFill>
            <a:srgbClr val="FEF3C7"/>
          </a:solidFill>
          <a:ln w="9525">
            <a:solidFill>
              <a:srgbClr val="D97706"/>
            </a:solidFill>
            <a:prstDash val="solid"/>
          </a:ln>
        </p:spPr>
        <p:txBody>
          <a:bodyPr anchor="ctr"/>
          <a:lstStyle/>
          <a:p>
            <a:pPr algn="ctr">
              <a:defRPr sz="1950" b="1">
                <a:solidFill>
                  <a:srgbClr val="0F172A"/>
                </a:solidFill>
                <a:latin typeface="Arial" panose="020B0604020202090204"/>
                <a:ea typeface="Arial" panose="020B0604020202090204"/>
                <a:cs typeface="Arial" panose="020B0604020202090204"/>
              </a:defRPr>
            </a:pPr>
            <a:r>
              <a:rPr sz="1950" b="1">
                <a:solidFill>
                  <a:srgbClr val="0F172A"/>
                </a:solidFill>
                <a:latin typeface="Arial" panose="020B0604020202090204"/>
                <a:ea typeface="Arial" panose="020B0604020202090204"/>
                <a:cs typeface="Arial" panose="020B0604020202090204"/>
              </a:rPr>
              <a:t>Vocoder</a:t>
            </a:r>
            <a:endParaRPr sz="1950" b="1">
              <a:solidFill>
                <a:srgbClr val="0F172A"/>
              </a:solidFill>
              <a:latin typeface="Arial" panose="020B0604020202090204"/>
              <a:ea typeface="Arial" panose="020B0604020202090204"/>
              <a:cs typeface="Arial" panose="020B0604020202090204"/>
            </a:endParaRPr>
          </a:p>
        </p:txBody>
      </p:sp>
      <p:sp>
        <p:nvSpPr>
          <p:cNvPr id="8" name="右箭头 7"/>
          <p:cNvSpPr>
            <a:spLocks noGrp="1"/>
          </p:cNvSpPr>
          <p:nvPr/>
        </p:nvSpPr>
        <p:spPr>
          <a:xfrm>
            <a:off x="7308215" y="1816100"/>
            <a:ext cx="1238250" cy="571500"/>
          </a:xfrm>
          <a:prstGeom prst="rightArrow">
            <a:avLst/>
          </a:prstGeom>
          <a:solidFill>
            <a:srgbClr val="1E40AF"/>
          </a:solidFill>
          <a:ln w="0">
            <a:noFill/>
            <a:prstDash val="solid"/>
          </a:ln>
        </p:spPr>
      </p:sp>
      <p:pic>
        <p:nvPicPr>
          <p:cNvPr id="21" name="图片 20"/>
          <p:cNvPicPr>
            <a:picLocks noChangeAspect="1"/>
          </p:cNvPicPr>
          <p:nvPr/>
        </p:nvPicPr>
        <p:blipFill>
          <a:blip r:embed="rId2"/>
          <a:stretch>
            <a:fillRect/>
          </a:stretch>
        </p:blipFill>
        <p:spPr>
          <a:xfrm>
            <a:off x="8832215" y="1413712"/>
            <a:ext cx="2381250" cy="1566775"/>
          </a:xfrm>
          <a:prstGeom prst="rect">
            <a:avLst/>
          </a:prstGeom>
        </p:spPr>
      </p:pic>
      <p:sp>
        <p:nvSpPr>
          <p:cNvPr id="10" name="矩形 9"/>
          <p:cNvSpPr>
            <a:spLocks noGrp="1"/>
          </p:cNvSpPr>
          <p:nvPr/>
        </p:nvSpPr>
        <p:spPr>
          <a:xfrm>
            <a:off x="622935" y="3653155"/>
            <a:ext cx="6408420" cy="363855"/>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chemeClr val="accent2"/>
                </a:solidFill>
                <a:latin typeface="Arial" panose="020B0604020202090204"/>
                <a:ea typeface="Arial" panose="020B0604020202090204"/>
                <a:cs typeface="Arial" panose="020B0604020202090204"/>
              </a:rPr>
              <a:t>2. Core Question: What Must Be Reconstructed?</a:t>
            </a:r>
            <a:endParaRPr lang="en-US" altLang="zh-CN" sz="1800" b="1" i="0">
              <a:solidFill>
                <a:schemeClr val="accent2"/>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622935" y="4220210"/>
            <a:ext cx="5393690" cy="80327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25" b="1" i="0">
                <a:solidFill>
                  <a:srgbClr val="334155"/>
                </a:solidFill>
                <a:latin typeface="Arial" panose="020B0604020202090204" pitchFamily="34" charset="0"/>
                <a:ea typeface="Arial" panose="020B0604020202090204"/>
                <a:cs typeface="Arial" panose="020B0604020202090204" pitchFamily="34" charset="0"/>
              </a:rPr>
              <a:t>1. Phase Information &amp; Fine Timing</a:t>
            </a: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Mel-spectrograms throw away phase information; the vocoder must recover phase to generate natural time-domain signals.</a:t>
            </a:r>
            <a:endParaRPr lang="en-US" altLang="zh-CN"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25" b="0" i="0">
              <a:solidFill>
                <a:srgbClr val="334155"/>
              </a:solidFill>
              <a:latin typeface="Arial" panose="020B0604020202090204"/>
              <a:ea typeface="Arial" panose="020B0604020202090204"/>
              <a:cs typeface="Arial" panose="020B0604020202090204"/>
            </a:endParaRPr>
          </a:p>
        </p:txBody>
      </p:sp>
      <p:sp>
        <p:nvSpPr>
          <p:cNvPr id="5" name="文本框 4"/>
          <p:cNvSpPr txBox="1"/>
          <p:nvPr/>
        </p:nvSpPr>
        <p:spPr>
          <a:xfrm>
            <a:off x="1245235" y="3141980"/>
            <a:ext cx="1967230" cy="337185"/>
          </a:xfrm>
          <a:prstGeom prst="rect">
            <a:avLst/>
          </a:prstGeom>
          <a:noFill/>
        </p:spPr>
        <p:txBody>
          <a:bodyPr wrap="square" rtlCol="0">
            <a:spAutoFit/>
          </a:bodyPr>
          <a:p>
            <a:pPr algn="ctr"/>
            <a:r>
              <a:rPr lang="en-US" altLang="zh-CN" sz="1600">
                <a:latin typeface="Arial" panose="020B0604020202090204" pitchFamily="34" charset="0"/>
                <a:cs typeface="Arial" panose="020B0604020202090204" pitchFamily="34" charset="0"/>
              </a:rPr>
              <a:t>Mel spectrogram</a:t>
            </a:r>
            <a:endParaRPr lang="en-US" altLang="zh-CN" sz="1600">
              <a:latin typeface="Arial" panose="020B0604020202090204" pitchFamily="34" charset="0"/>
              <a:cs typeface="Arial" panose="020B0604020202090204" pitchFamily="34" charset="0"/>
            </a:endParaRPr>
          </a:p>
        </p:txBody>
      </p:sp>
      <p:sp>
        <p:nvSpPr>
          <p:cNvPr id="9" name="文本框 8"/>
          <p:cNvSpPr txBox="1"/>
          <p:nvPr/>
        </p:nvSpPr>
        <p:spPr>
          <a:xfrm>
            <a:off x="9192260" y="3141980"/>
            <a:ext cx="1844675" cy="367665"/>
          </a:xfrm>
          <a:prstGeom prst="rect">
            <a:avLst/>
          </a:prstGeom>
          <a:noFill/>
        </p:spPr>
        <p:txBody>
          <a:bodyPr wrap="square" rtlCol="0">
            <a:noAutofit/>
          </a:bodyPr>
          <a:p>
            <a:pPr algn="ctr"/>
            <a:r>
              <a:rPr lang="en-US" altLang="zh-CN" sz="1600">
                <a:latin typeface="Arial" panose="020B0604020202090204" pitchFamily="34" charset="0"/>
                <a:cs typeface="Arial" panose="020B0604020202090204" pitchFamily="34" charset="0"/>
                <a:sym typeface="+mn-ea"/>
              </a:rPr>
              <a:t>audio waveform</a:t>
            </a:r>
            <a:endParaRPr lang="en-US" altLang="zh-CN" sz="1600">
              <a:latin typeface="Arial" panose="020B0604020202090204" pitchFamily="34" charset="0"/>
              <a:cs typeface="Arial" panose="020B0604020202090204" pitchFamily="34" charset="0"/>
            </a:endParaRPr>
          </a:p>
          <a:p>
            <a:pPr algn="ctr"/>
            <a:endParaRPr lang="en-US" altLang="zh-CN" sz="1600">
              <a:latin typeface="Arial" panose="020B0604020202090204" pitchFamily="34" charset="0"/>
              <a:cs typeface="Arial" panose="020B0604020202090204" pitchFamily="34" charset="0"/>
            </a:endParaRPr>
          </a:p>
        </p:txBody>
      </p:sp>
      <p:sp>
        <p:nvSpPr>
          <p:cNvPr id="14" name="文本框 13"/>
          <p:cNvSpPr txBox="1"/>
          <p:nvPr/>
        </p:nvSpPr>
        <p:spPr>
          <a:xfrm>
            <a:off x="479425" y="981710"/>
            <a:ext cx="4064000" cy="368300"/>
          </a:xfrm>
          <a:prstGeom prst="rect">
            <a:avLst/>
          </a:prstGeom>
          <a:noFill/>
        </p:spPr>
        <p:txBody>
          <a:bodyPr wrap="square" rtlCol="0">
            <a:spAutoFit/>
          </a:bodyPr>
          <a:p>
            <a:pPr algn="l">
              <a:buClrTx/>
              <a:buSzTx/>
              <a:buFontTx/>
            </a:pPr>
            <a:r>
              <a:rPr lang="en-US" altLang="zh-CN" b="1">
                <a:solidFill>
                  <a:srgbClr val="1E40AF"/>
                </a:solidFill>
                <a:latin typeface="Arial" panose="020B0604020202090204"/>
                <a:ea typeface="Arial" panose="020B0604020202090204"/>
                <a:cs typeface="Arial" panose="020B0604020202090204"/>
              </a:rPr>
              <a:t>1. Task Pipeline:</a:t>
            </a:r>
            <a:endParaRPr lang="en-US" altLang="zh-CN" b="1">
              <a:solidFill>
                <a:srgbClr val="1E40AF"/>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6311900" y="4207510"/>
            <a:ext cx="5393690" cy="80327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25" b="1" i="0">
                <a:solidFill>
                  <a:srgbClr val="334155"/>
                </a:solidFill>
                <a:latin typeface="Arial" panose="020B0604020202090204" pitchFamily="34" charset="0"/>
                <a:ea typeface="Arial" panose="020B0604020202090204"/>
                <a:cs typeface="Arial" panose="020B0604020202090204" pitchFamily="34" charset="0"/>
              </a:rPr>
              <a:t>2. Harmonic Structure</a:t>
            </a: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Restructures pitch periodicity, pitch harmonics, and clear fundamental frequencies</a:t>
            </a:r>
            <a:endParaRPr lang="en-US" altLang="zh-CN" sz="1425" b="0" i="0">
              <a:solidFill>
                <a:srgbClr val="334155"/>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605155" y="5300345"/>
            <a:ext cx="5393690" cy="80327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25" b="1" i="0">
                <a:solidFill>
                  <a:srgbClr val="334155"/>
                </a:solidFill>
                <a:latin typeface="Arial" panose="020B0604020202090204" pitchFamily="34" charset="0"/>
                <a:ea typeface="Arial" panose="020B0604020202090204"/>
                <a:cs typeface="Arial" panose="020B0604020202090204" pitchFamily="34" charset="0"/>
              </a:rPr>
              <a:t>3. Transient Consonants</a:t>
            </a: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Accurately synthesizes high-frequency noise and unvoiced plosive/fricative sounds.</a:t>
            </a:r>
            <a:endParaRPr lang="en-US" altLang="zh-CN"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425" b="0" i="0">
              <a:solidFill>
                <a:srgbClr val="334155"/>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6311900" y="5342255"/>
            <a:ext cx="5393690" cy="80327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425" b="1" i="0">
                <a:solidFill>
                  <a:srgbClr val="334155"/>
                </a:solidFill>
                <a:latin typeface="Arial" panose="020B0604020202090204" pitchFamily="34" charset="0"/>
                <a:ea typeface="Arial" panose="020B0604020202090204"/>
                <a:cs typeface="Arial" panose="020B0604020202090204" pitchFamily="34" charset="0"/>
              </a:rPr>
              <a:t>4. Natural Stochastic Details</a:t>
            </a: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Fills in realistic background breathiness, environmental subtle noise, and acoustic texture.</a:t>
            </a:r>
            <a:endParaRPr lang="en-US" altLang="zh-CN" sz="1425" b="0" i="0">
              <a:solidFill>
                <a:srgbClr val="334155"/>
              </a:solidFill>
              <a:latin typeface="Arial" panose="020B0604020202090204"/>
              <a:ea typeface="Arial" panose="020B0604020202090204"/>
              <a:cs typeface="Arial" panose="020B060402020209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395923"/>
            <a:ext cx="7485380"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WaveNet : </a:t>
            </a:r>
            <a:r>
              <a:rPr lang="en-US" altLang="zh-CN" sz="2800" b="1" dirty="0">
                <a:solidFill>
                  <a:schemeClr val="tx1"/>
                </a:solidFill>
                <a:latin typeface="Arial" panose="020B0604020202090204" pitchFamily="34" charset="0"/>
                <a:ea typeface="+mn-ea"/>
                <a:cs typeface="Arial" panose="020B0604020202090204" pitchFamily="34" charset="0"/>
              </a:rPr>
              <a:t>Autoregressive Audio Generation</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tretch>
            <a:fillRect/>
          </a:stretch>
        </p:blipFill>
        <p:spPr>
          <a:xfrm>
            <a:off x="5303520" y="965835"/>
            <a:ext cx="6522085" cy="3335655"/>
          </a:xfrm>
          <a:prstGeom prst="rect">
            <a:avLst/>
          </a:prstGeom>
        </p:spPr>
      </p:pic>
      <p:sp>
        <p:nvSpPr>
          <p:cNvPr id="12" name="TextBox 12"/>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5" name="图片 14"/>
          <p:cNvPicPr>
            <a:picLocks noChangeAspect="1"/>
          </p:cNvPicPr>
          <p:nvPr/>
        </p:nvPicPr>
        <p:blipFill>
          <a:blip r:embed="rId2"/>
          <a:stretch>
            <a:fillRect/>
          </a:stretch>
        </p:blipFill>
        <p:spPr>
          <a:xfrm>
            <a:off x="1630680" y="2492375"/>
            <a:ext cx="2621280" cy="620395"/>
          </a:xfrm>
          <a:prstGeom prst="rect">
            <a:avLst/>
          </a:prstGeom>
        </p:spPr>
      </p:pic>
      <p:pic>
        <p:nvPicPr>
          <p:cNvPr id="17" name="图片 16"/>
          <p:cNvPicPr>
            <a:picLocks noChangeAspect="1"/>
          </p:cNvPicPr>
          <p:nvPr/>
        </p:nvPicPr>
        <p:blipFill>
          <a:blip r:embed="rId3"/>
          <a:stretch>
            <a:fillRect/>
          </a:stretch>
        </p:blipFill>
        <p:spPr>
          <a:xfrm>
            <a:off x="1414780" y="4984115"/>
            <a:ext cx="2971165" cy="288925"/>
          </a:xfrm>
          <a:prstGeom prst="rect">
            <a:avLst/>
          </a:prstGeom>
        </p:spPr>
      </p:pic>
      <p:sp>
        <p:nvSpPr>
          <p:cNvPr id="14" name="文本框 13"/>
          <p:cNvSpPr txBox="1"/>
          <p:nvPr/>
        </p:nvSpPr>
        <p:spPr>
          <a:xfrm>
            <a:off x="407035" y="1079500"/>
            <a:ext cx="4471670" cy="368300"/>
          </a:xfrm>
          <a:prstGeom prst="rect">
            <a:avLst/>
          </a:prstGeom>
          <a:noFill/>
        </p:spPr>
        <p:txBody>
          <a:bodyPr wrap="square" rtlCol="0">
            <a:spAutoFit/>
          </a:bodyPr>
          <a:p>
            <a:r>
              <a:rPr lang="en-US" altLang="zh-CN" b="1">
                <a:solidFill>
                  <a:schemeClr val="accent3"/>
                </a:solidFill>
                <a:latin typeface="Arial" panose="020B0604020202090204" pitchFamily="34" charset="0"/>
                <a:cs typeface="Arial" panose="020B0604020202090204" pitchFamily="34" charset="0"/>
                <a:sym typeface="+mn-ea"/>
              </a:rPr>
              <a:t>1. Probabilistic Modeling &amp; Formula</a:t>
            </a:r>
            <a:endParaRPr lang="en-US" altLang="zh-CN" b="1">
              <a:solidFill>
                <a:schemeClr val="accent3"/>
              </a:solidFill>
              <a:latin typeface="Arial" panose="020B0604020202090204" pitchFamily="34" charset="0"/>
              <a:cs typeface="Arial" panose="020B0604020202090204" pitchFamily="34" charset="0"/>
            </a:endParaRPr>
          </a:p>
        </p:txBody>
      </p:sp>
      <p:sp>
        <p:nvSpPr>
          <p:cNvPr id="16" name="文本框 15"/>
          <p:cNvSpPr txBox="1"/>
          <p:nvPr/>
        </p:nvSpPr>
        <p:spPr>
          <a:xfrm>
            <a:off x="640080" y="1628140"/>
            <a:ext cx="3647440" cy="33718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(1) Autoregressive Formulation</a:t>
            </a:r>
            <a:endParaRPr lang="en-US" altLang="zh-CN" sz="1600" b="1">
              <a:latin typeface="Arial" panose="020B0604020202090204" pitchFamily="34" charset="0"/>
              <a:cs typeface="Arial" panose="020B0604020202090204" pitchFamily="34" charset="0"/>
            </a:endParaRPr>
          </a:p>
        </p:txBody>
      </p:sp>
      <p:sp>
        <p:nvSpPr>
          <p:cNvPr id="18" name="文本框 17"/>
          <p:cNvSpPr txBox="1"/>
          <p:nvPr/>
        </p:nvSpPr>
        <p:spPr>
          <a:xfrm>
            <a:off x="550545" y="3872865"/>
            <a:ext cx="3599815" cy="33718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(2) Quantized Categorical Output</a:t>
            </a:r>
            <a:endParaRPr lang="en-US" altLang="zh-CN" sz="1600" b="1">
              <a:latin typeface="Arial" panose="020B0604020202090204" pitchFamily="34" charset="0"/>
              <a:cs typeface="Arial" panose="020B0604020202090204" pitchFamily="34" charset="0"/>
            </a:endParaRPr>
          </a:p>
        </p:txBody>
      </p:sp>
      <p:sp>
        <p:nvSpPr>
          <p:cNvPr id="19" name="文本框 18"/>
          <p:cNvSpPr txBox="1"/>
          <p:nvPr/>
        </p:nvSpPr>
        <p:spPr>
          <a:xfrm>
            <a:off x="657860" y="3109595"/>
            <a:ext cx="3967480" cy="521970"/>
          </a:xfrm>
          <a:prstGeom prst="rect">
            <a:avLst/>
          </a:prstGeom>
          <a:noFill/>
        </p:spPr>
        <p:txBody>
          <a:bodyPr wrap="square" rtlCol="0">
            <a:spAutoFit/>
          </a:bodyPr>
          <a:p>
            <a:r>
              <a:rPr lang="en-US" altLang="zh-CN" sz="1400">
                <a:latin typeface="Arial" panose="020B0604020202090204" pitchFamily="34" charset="0"/>
                <a:cs typeface="Arial" panose="020B0604020202090204" pitchFamily="34" charset="0"/>
              </a:rPr>
              <a:t>Each audio sample </a:t>
            </a:r>
            <a:r>
              <a:rPr lang="en-US" altLang="zh-CN" sz="1400" i="1">
                <a:latin typeface="Arial" panose="020B0604020202090204" pitchFamily="34" charset="0"/>
                <a:cs typeface="Arial" panose="020B0604020202090204" pitchFamily="34" charset="0"/>
              </a:rPr>
              <a:t>x</a:t>
            </a:r>
            <a:r>
              <a:rPr lang="en-US" altLang="zh-CN" sz="1400" i="1" baseline="-25000">
                <a:latin typeface="Arial" panose="020B0604020202090204" pitchFamily="34" charset="0"/>
                <a:cs typeface="Arial" panose="020B0604020202090204" pitchFamily="34" charset="0"/>
              </a:rPr>
              <a:t>t</a:t>
            </a:r>
            <a:r>
              <a:rPr lang="en-US" altLang="zh-CN" sz="1400">
                <a:latin typeface="Arial" panose="020B0604020202090204" pitchFamily="34" charset="0"/>
                <a:cs typeface="Arial" panose="020B0604020202090204" pitchFamily="34" charset="0"/>
              </a:rPr>
              <a:t> is strictly conditioned on </a:t>
            </a:r>
            <a:r>
              <a:rPr lang="en-US" altLang="zh-CN" sz="1400" b="1">
                <a:latin typeface="Arial" panose="020B0604020202090204" pitchFamily="34" charset="0"/>
                <a:cs typeface="Arial" panose="020B0604020202090204" pitchFamily="34" charset="0"/>
              </a:rPr>
              <a:t>all previously generated samples</a:t>
            </a:r>
            <a:r>
              <a:rPr lang="en-US" altLang="zh-CN" sz="1400">
                <a:latin typeface="Arial" panose="020B0604020202090204" pitchFamily="34" charset="0"/>
                <a:cs typeface="Arial" panose="020B0604020202090204" pitchFamily="34" charset="0"/>
              </a:rPr>
              <a:t>.  </a:t>
            </a:r>
            <a:endParaRPr lang="en-US" altLang="zh-CN" sz="1400">
              <a:latin typeface="Arial" panose="020B0604020202090204" pitchFamily="34" charset="0"/>
              <a:cs typeface="Arial" panose="020B0604020202090204" pitchFamily="34" charset="0"/>
            </a:endParaRPr>
          </a:p>
        </p:txBody>
      </p:sp>
      <p:sp>
        <p:nvSpPr>
          <p:cNvPr id="20" name="文本框 19"/>
          <p:cNvSpPr txBox="1"/>
          <p:nvPr/>
        </p:nvSpPr>
        <p:spPr>
          <a:xfrm>
            <a:off x="6083300" y="4277360"/>
            <a:ext cx="4064000" cy="368300"/>
          </a:xfrm>
          <a:prstGeom prst="rect">
            <a:avLst/>
          </a:prstGeom>
          <a:noFill/>
        </p:spPr>
        <p:txBody>
          <a:bodyPr wrap="square" rtlCol="0">
            <a:spAutoFit/>
          </a:bodyPr>
          <a:p>
            <a:r>
              <a:rPr lang="en-US" altLang="zh-CN" b="1">
                <a:solidFill>
                  <a:schemeClr val="accent2"/>
                </a:solidFill>
                <a:latin typeface="Arial" panose="020B0604020202090204" pitchFamily="34" charset="0"/>
                <a:cs typeface="Arial" panose="020B0604020202090204" pitchFamily="34" charset="0"/>
              </a:rPr>
              <a:t>2. Core Architectural Modules</a:t>
            </a:r>
            <a:endParaRPr lang="en-US" altLang="zh-CN" b="1">
              <a:solidFill>
                <a:schemeClr val="accent2"/>
              </a:solidFill>
              <a:latin typeface="Arial" panose="020B0604020202090204" pitchFamily="34" charset="0"/>
              <a:cs typeface="Arial" panose="020B0604020202090204" pitchFamily="34" charset="0"/>
            </a:endParaRPr>
          </a:p>
        </p:txBody>
      </p:sp>
      <p:sp>
        <p:nvSpPr>
          <p:cNvPr id="21" name="文本框 20"/>
          <p:cNvSpPr txBox="1"/>
          <p:nvPr/>
        </p:nvSpPr>
        <p:spPr>
          <a:xfrm>
            <a:off x="6370955" y="4731385"/>
            <a:ext cx="3048000" cy="337185"/>
          </a:xfrm>
          <a:prstGeom prst="rect">
            <a:avLst/>
          </a:prstGeom>
          <a:noFill/>
        </p:spPr>
        <p:txBody>
          <a:bodyPr wrap="square" rtlCol="0">
            <a:spAutoFit/>
          </a:bodyPr>
          <a:p>
            <a:r>
              <a:rPr lang="en-US" altLang="zh-CN" sz="1600">
                <a:latin typeface="Arial" panose="020B0604020202090204" pitchFamily="34" charset="0"/>
                <a:cs typeface="Arial" panose="020B0604020202090204" pitchFamily="34" charset="0"/>
              </a:rPr>
              <a:t>(1) Causal Convolutions</a:t>
            </a:r>
            <a:endParaRPr lang="en-US" altLang="zh-CN" sz="1600">
              <a:latin typeface="Arial" panose="020B0604020202090204" pitchFamily="34" charset="0"/>
              <a:cs typeface="Arial" panose="020B0604020202090204" pitchFamily="34" charset="0"/>
            </a:endParaRPr>
          </a:p>
        </p:txBody>
      </p:sp>
      <p:sp>
        <p:nvSpPr>
          <p:cNvPr id="22" name="文本框 21"/>
          <p:cNvSpPr txBox="1"/>
          <p:nvPr/>
        </p:nvSpPr>
        <p:spPr>
          <a:xfrm>
            <a:off x="6370955" y="5185410"/>
            <a:ext cx="3200400" cy="337185"/>
          </a:xfrm>
          <a:prstGeom prst="rect">
            <a:avLst/>
          </a:prstGeom>
          <a:noFill/>
        </p:spPr>
        <p:txBody>
          <a:bodyPr wrap="square" rtlCol="0">
            <a:spAutoFit/>
          </a:bodyPr>
          <a:p>
            <a:r>
              <a:rPr lang="en-US" altLang="zh-CN" sz="1600">
                <a:latin typeface="Arial" panose="020B0604020202090204" pitchFamily="34" charset="0"/>
                <a:cs typeface="Arial" panose="020B0604020202090204" pitchFamily="34" charset="0"/>
              </a:rPr>
              <a:t>(2) Dilated Convolutions</a:t>
            </a:r>
            <a:endParaRPr lang="en-US" altLang="zh-CN" sz="1600">
              <a:latin typeface="Arial" panose="020B0604020202090204" pitchFamily="34" charset="0"/>
              <a:cs typeface="Arial" panose="020B0604020202090204" pitchFamily="34" charset="0"/>
            </a:endParaRPr>
          </a:p>
        </p:txBody>
      </p:sp>
      <p:sp>
        <p:nvSpPr>
          <p:cNvPr id="25" name="文本框 24"/>
          <p:cNvSpPr txBox="1"/>
          <p:nvPr/>
        </p:nvSpPr>
        <p:spPr>
          <a:xfrm>
            <a:off x="657860" y="1964055"/>
            <a:ext cx="4471670" cy="521970"/>
          </a:xfrm>
          <a:prstGeom prst="rect">
            <a:avLst/>
          </a:prstGeom>
          <a:noFill/>
        </p:spPr>
        <p:txBody>
          <a:bodyPr wrap="square" rtlCol="0">
            <a:spAutoFit/>
          </a:bodyPr>
          <a:p>
            <a:r>
              <a:rPr lang="en-US" altLang="zh-CN" sz="1400">
                <a:latin typeface="Arial" panose="020B0604020202090204" pitchFamily="34" charset="0"/>
                <a:cs typeface="Arial" panose="020B0604020202090204" pitchFamily="34" charset="0"/>
              </a:rPr>
              <a:t>Joint probability of audio waveform </a:t>
            </a:r>
            <a:r>
              <a:rPr lang="en-US" altLang="zh-CN" sz="1400" b="1">
                <a:latin typeface="Arial" panose="020B0604020202090204" pitchFamily="34" charset="0"/>
                <a:cs typeface="Arial" panose="020B0604020202090204" pitchFamily="34" charset="0"/>
              </a:rPr>
              <a:t>x</a:t>
            </a:r>
            <a:r>
              <a:rPr lang="en-US" altLang="zh-CN" sz="1400">
                <a:latin typeface="Arial" panose="020B0604020202090204" pitchFamily="34" charset="0"/>
                <a:cs typeface="Arial" panose="020B0604020202090204" pitchFamily="34" charset="0"/>
              </a:rPr>
              <a:t> = {</a:t>
            </a:r>
            <a:r>
              <a:rPr lang="en-US" altLang="zh-CN" sz="1400" i="1">
                <a:latin typeface="Arial" panose="020B0604020202090204" pitchFamily="34" charset="0"/>
                <a:cs typeface="Arial" panose="020B0604020202090204" pitchFamily="34" charset="0"/>
              </a:rPr>
              <a:t>x</a:t>
            </a:r>
            <a:r>
              <a:rPr lang="en-US" altLang="zh-CN" sz="1400" i="1" baseline="-25000">
                <a:latin typeface="Arial" panose="020B0604020202090204" pitchFamily="34" charset="0"/>
                <a:cs typeface="Arial" panose="020B0604020202090204" pitchFamily="34" charset="0"/>
              </a:rPr>
              <a:t>1</a:t>
            </a:r>
            <a:r>
              <a:rPr lang="en-US" altLang="zh-CN" sz="1400" i="1">
                <a:latin typeface="Arial" panose="020B0604020202090204" pitchFamily="34" charset="0"/>
                <a:cs typeface="Arial" panose="020B0604020202090204" pitchFamily="34" charset="0"/>
              </a:rPr>
              <a:t>, x</a:t>
            </a:r>
            <a:r>
              <a:rPr lang="en-US" altLang="zh-CN" sz="1400" i="1" baseline="-25000">
                <a:latin typeface="Arial" panose="020B0604020202090204" pitchFamily="34" charset="0"/>
                <a:cs typeface="Arial" panose="020B0604020202090204" pitchFamily="34" charset="0"/>
              </a:rPr>
              <a:t>2</a:t>
            </a:r>
            <a:r>
              <a:rPr lang="en-US" altLang="zh-CN" sz="1400" i="1">
                <a:latin typeface="Arial" panose="020B0604020202090204" pitchFamily="34" charset="0"/>
                <a:cs typeface="Arial" panose="020B0604020202090204" pitchFamily="34" charset="0"/>
              </a:rPr>
              <a:t>, ..., x</a:t>
            </a:r>
            <a:r>
              <a:rPr lang="en-US" altLang="zh-CN" sz="1400" i="1" baseline="-25000">
                <a:latin typeface="Arial" panose="020B0604020202090204" pitchFamily="34" charset="0"/>
                <a:cs typeface="Arial" panose="020B0604020202090204" pitchFamily="34" charset="0"/>
              </a:rPr>
              <a:t>T</a:t>
            </a:r>
            <a:r>
              <a:rPr lang="en-US" altLang="zh-CN" sz="1400">
                <a:latin typeface="Arial" panose="020B0604020202090204" pitchFamily="34" charset="0"/>
                <a:cs typeface="Arial" panose="020B0604020202090204" pitchFamily="34" charset="0"/>
              </a:rPr>
              <a:t>} is factorized into conditional probabilities:</a:t>
            </a:r>
            <a:endParaRPr lang="en-US" altLang="zh-CN" sz="1400">
              <a:latin typeface="Arial" panose="020B0604020202090204" pitchFamily="34" charset="0"/>
              <a:cs typeface="Arial" panose="020B0604020202090204" pitchFamily="34" charset="0"/>
            </a:endParaRPr>
          </a:p>
        </p:txBody>
      </p:sp>
      <p:sp>
        <p:nvSpPr>
          <p:cNvPr id="26" name="文本框 25"/>
          <p:cNvSpPr txBox="1"/>
          <p:nvPr/>
        </p:nvSpPr>
        <p:spPr>
          <a:xfrm>
            <a:off x="622935" y="4282440"/>
            <a:ext cx="4064000" cy="521970"/>
          </a:xfrm>
          <a:prstGeom prst="rect">
            <a:avLst/>
          </a:prstGeom>
          <a:noFill/>
        </p:spPr>
        <p:txBody>
          <a:bodyPr wrap="square" rtlCol="0">
            <a:spAutoFit/>
          </a:bodyPr>
          <a:p>
            <a:r>
              <a:rPr lang="en-US" altLang="zh-CN" sz="1400">
                <a:latin typeface="Arial" panose="020B0604020202090204" pitchFamily="34" charset="0"/>
                <a:cs typeface="Arial" panose="020B0604020202090204" pitchFamily="34" charset="0"/>
              </a:rPr>
              <a:t>Predicts a discrete probability distribution via Softmax:</a:t>
            </a:r>
            <a:endParaRPr lang="en-US" altLang="zh-CN" sz="1400">
              <a:latin typeface="Arial" panose="020B0604020202090204" pitchFamily="34" charset="0"/>
              <a:cs typeface="Arial" panose="020B0604020202090204" pitchFamily="34" charset="0"/>
            </a:endParaRPr>
          </a:p>
        </p:txBody>
      </p:sp>
      <p:sp>
        <p:nvSpPr>
          <p:cNvPr id="27" name="文本框 26"/>
          <p:cNvSpPr txBox="1"/>
          <p:nvPr/>
        </p:nvSpPr>
        <p:spPr>
          <a:xfrm>
            <a:off x="622935" y="5453380"/>
            <a:ext cx="4641215" cy="583565"/>
          </a:xfrm>
          <a:prstGeom prst="rect">
            <a:avLst/>
          </a:prstGeom>
          <a:noFill/>
        </p:spPr>
        <p:txBody>
          <a:bodyPr wrap="square" rtlCol="0">
            <a:spAutoFit/>
          </a:bodyPr>
          <a:p>
            <a:r>
              <a:rPr lang="en-US" altLang="zh-CN" sz="1400">
                <a:latin typeface="Arial" panose="020B0604020202090204" pitchFamily="34" charset="0"/>
                <a:cs typeface="Arial" panose="020B0604020202090204" pitchFamily="34" charset="0"/>
              </a:rPr>
              <a:t>Quantizes 16-bit audio into 256 discrete values using mu-law companding algorithm.  </a:t>
            </a:r>
            <a:r>
              <a:rPr lang="en-US" altLang="zh-CN"/>
              <a:t> </a:t>
            </a:r>
            <a:endParaRPr lang="en-US" altLang="zh-CN"/>
          </a:p>
        </p:txBody>
      </p:sp>
      <p:sp>
        <p:nvSpPr>
          <p:cNvPr id="28" name="文本框 27"/>
          <p:cNvSpPr txBox="1"/>
          <p:nvPr/>
        </p:nvSpPr>
        <p:spPr>
          <a:xfrm>
            <a:off x="6370955" y="5645785"/>
            <a:ext cx="3200400" cy="337185"/>
          </a:xfrm>
          <a:prstGeom prst="rect">
            <a:avLst/>
          </a:prstGeom>
          <a:noFill/>
        </p:spPr>
        <p:txBody>
          <a:bodyPr wrap="square" rtlCol="0">
            <a:spAutoFit/>
          </a:bodyPr>
          <a:p>
            <a:r>
              <a:rPr lang="en-US" altLang="zh-CN" sz="1600">
                <a:latin typeface="Arial" panose="020B0604020202090204" pitchFamily="34" charset="0"/>
                <a:cs typeface="Arial" panose="020B0604020202090204" pitchFamily="34" charset="0"/>
              </a:rPr>
              <a:t>(3) Gated Activation Units</a:t>
            </a:r>
            <a:endParaRPr lang="en-US" altLang="zh-CN" sz="1600">
              <a:latin typeface="Arial" panose="020B0604020202090204" pitchFamily="34" charset="0"/>
              <a:cs typeface="Arial" panose="020B0604020202090204" pitchFamily="34" charset="0"/>
            </a:endParaRPr>
          </a:p>
        </p:txBody>
      </p:sp>
      <p:sp>
        <p:nvSpPr>
          <p:cNvPr id="29" name="文本框 28"/>
          <p:cNvSpPr txBox="1"/>
          <p:nvPr/>
        </p:nvSpPr>
        <p:spPr>
          <a:xfrm>
            <a:off x="6370955" y="6077585"/>
            <a:ext cx="3805555" cy="337185"/>
          </a:xfrm>
          <a:prstGeom prst="rect">
            <a:avLst/>
          </a:prstGeom>
          <a:noFill/>
        </p:spPr>
        <p:txBody>
          <a:bodyPr wrap="square" rtlCol="0">
            <a:spAutoFit/>
          </a:bodyPr>
          <a:p>
            <a:r>
              <a:rPr lang="en-US" altLang="zh-CN" sz="1600">
                <a:latin typeface="Arial" panose="020B0604020202090204" pitchFamily="34" charset="0"/>
                <a:cs typeface="Arial" panose="020B0604020202090204" pitchFamily="34" charset="0"/>
              </a:rPr>
              <a:t>(4) Residual &amp; Skip Connections</a:t>
            </a:r>
            <a:endParaRPr lang="en-US" altLang="zh-CN" sz="1600">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395923"/>
            <a:ext cx="9461500"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Dilated Causal Convolution : Expanding Receptive Field</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tretch>
            <a:fillRect/>
          </a:stretch>
        </p:blipFill>
        <p:spPr>
          <a:xfrm>
            <a:off x="3359785" y="1022985"/>
            <a:ext cx="8082915" cy="2878455"/>
          </a:xfrm>
          <a:prstGeom prst="rect">
            <a:avLst/>
          </a:prstGeom>
        </p:spPr>
      </p:pic>
      <p:sp>
        <p:nvSpPr>
          <p:cNvPr id="6" name="TextBox 6"/>
          <p:cNvSpPr txBox="1"/>
          <p:nvPr/>
        </p:nvSpPr>
        <p:spPr>
          <a:xfrm>
            <a:off x="479425" y="4227195"/>
            <a:ext cx="6623685" cy="430530"/>
          </a:xfrm>
          <a:prstGeom prst="rect">
            <a:avLst/>
          </a:prstGeom>
          <a:noFill/>
          <a:ln>
            <a:noFill/>
          </a:ln>
        </p:spPr>
        <p:txBody>
          <a:bodyPr wrap="square" lIns="0" tIns="0" rIns="0" bIns="0" anchor="t" anchorCtr="0">
            <a:spAutoFit/>
          </a:bodyPr>
          <a:lstStyle/>
          <a:p>
            <a:pPr algn="l"/>
            <a:r>
              <a:rPr lang="en-US" altLang="zh-CN" sz="1400" b="1" dirty="0">
                <a:solidFill>
                  <a:schemeClr val="dk1"/>
                </a:solidFill>
                <a:latin typeface="Arial Regular" panose="020B0604020202090204" charset="0"/>
                <a:ea typeface="+mn-ea"/>
                <a:cs typeface="Arial Regular" panose="020B0604020202090204" charset="0"/>
              </a:rPr>
              <a:t>Causality</a:t>
            </a:r>
            <a:r>
              <a:rPr lang="zh-CN" altLang="en-US" sz="1400" b="1" dirty="0">
                <a:solidFill>
                  <a:schemeClr val="dk1"/>
                </a:solidFill>
                <a:latin typeface="Arial Regular" panose="020B0604020202090204" charset="0"/>
                <a:ea typeface="+mn-ea"/>
                <a:cs typeface="Arial Regular" panose="020B0604020202090204" charset="0"/>
              </a:rPr>
              <a:t>:</a:t>
            </a:r>
            <a:r>
              <a:rPr lang="zh-CN" alt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Ensures prediction at step </a:t>
            </a:r>
            <a:r>
              <a:rPr lang="en-US" altLang="zh-CN" sz="1400" i="1" dirty="0">
                <a:solidFill>
                  <a:schemeClr val="dk1"/>
                </a:solidFill>
                <a:latin typeface="Arial Regular" panose="020B0604020202090204" charset="0"/>
                <a:ea typeface="+mn-ea"/>
                <a:cs typeface="Arial Regular" panose="020B0604020202090204" charset="0"/>
              </a:rPr>
              <a:t>t</a:t>
            </a:r>
            <a:r>
              <a:rPr lang="en-US" altLang="zh-CN" sz="1400" dirty="0">
                <a:solidFill>
                  <a:schemeClr val="dk1"/>
                </a:solidFill>
                <a:latin typeface="Arial Regular" panose="020B0604020202090204" charset="0"/>
                <a:ea typeface="+mn-ea"/>
                <a:cs typeface="Arial Regular" panose="020B0604020202090204" charset="0"/>
              </a:rPr>
              <a:t> depends only on samples at </a:t>
            </a:r>
            <a:r>
              <a:rPr lang="en-US" altLang="zh-CN" sz="1400" i="1" dirty="0">
                <a:solidFill>
                  <a:schemeClr val="dk1"/>
                </a:solidFill>
                <a:latin typeface="Arial Regular" panose="020B0604020202090204" charset="0"/>
                <a:ea typeface="+mn-ea"/>
                <a:cs typeface="Arial Regular" panose="020B0604020202090204" charset="0"/>
              </a:rPr>
              <a:t>t, t-1, t-2, ...,</a:t>
            </a:r>
            <a:r>
              <a:rPr lang="en-US" altLang="zh-CN" sz="1400" dirty="0">
                <a:solidFill>
                  <a:schemeClr val="dk1"/>
                </a:solidFill>
                <a:latin typeface="Arial Regular" panose="020B0604020202090204" charset="0"/>
                <a:ea typeface="+mn-ea"/>
                <a:cs typeface="Arial Regular" panose="020B0604020202090204" charset="0"/>
              </a:rPr>
              <a:t> strictly avoiding future data leakage.</a:t>
            </a:r>
            <a:endParaRPr lang="en-US" altLang="zh-CN" sz="1400" dirty="0">
              <a:solidFill>
                <a:schemeClr val="dk1"/>
              </a:solidFill>
              <a:latin typeface="Arial Regular" panose="020B0604020202090204" charset="0"/>
              <a:ea typeface="+mn-ea"/>
              <a:cs typeface="Arial Regular" panose="020B0604020202090204" charset="0"/>
            </a:endParaRPr>
          </a:p>
        </p:txBody>
      </p:sp>
      <mc:AlternateContent xmlns:mc="http://schemas.openxmlformats.org/markup-compatibility/2006">
        <mc:Choice xmlns:a14="http://schemas.microsoft.com/office/drawing/2010/main" Requires="a14">
          <p:sp>
            <p:nvSpPr>
              <p:cNvPr id="7" name="receptive-field"/>
              <p:cNvSpPr txBox="1">
                <a:spLocks noGrp="1"/>
              </p:cNvSpPr>
              <p:nvPr/>
            </p:nvSpPr>
            <p:spPr>
              <a:xfrm>
                <a:off x="1775460" y="5898515"/>
                <a:ext cx="2262505" cy="66675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1650" i="1" dirty="0">
                          <a:solidFill>
                            <a:srgbClr val="334155"/>
                          </a:solidFill>
                          <a:latin typeface="DejaVu Math TeX Gyre" panose="02000503000000000000" charset="0"/>
                          <a:ea typeface="Cambria Math"/>
                          <a:cs typeface="DejaVu Math TeX Gyre" panose="02000503000000000000" charset="0"/>
                        </a:rPr>
                        <m:t>𝑅</m:t>
                      </m:r>
                      <m:r>
                        <a:rPr lang="en-US" sz="1650" i="1" dirty="0">
                          <a:solidFill>
                            <a:srgbClr val="334155"/>
                          </a:solidFill>
                          <a:latin typeface="DejaVu Math TeX Gyre" panose="02000503000000000000" charset="0"/>
                          <a:ea typeface="宋体" charset="0"/>
                          <a:cs typeface="DejaVu Math TeX Gyre" panose="02000503000000000000" charset="0"/>
                        </a:rPr>
                        <m:t>=</m:t>
                      </m:r>
                      <m:r>
                        <a:rPr lang="en-US" sz="1650" i="1" dirty="0">
                          <a:solidFill>
                            <a:srgbClr val="334155"/>
                          </a:solidFill>
                          <a:latin typeface="DejaVu Math TeX Gyre" panose="02000503000000000000" charset="0"/>
                          <a:ea typeface="宋体" charset="0"/>
                          <a:cs typeface="DejaVu Math TeX Gyre" panose="02000503000000000000" charset="0"/>
                        </a:rPr>
                        <m:t>1</m:t>
                      </m:r>
                      <m:r>
                        <a:rPr lang="en-US" sz="1650" i="1" dirty="0">
                          <a:solidFill>
                            <a:srgbClr val="334155"/>
                          </a:solidFill>
                          <a:latin typeface="DejaVu Math TeX Gyre" panose="02000503000000000000" charset="0"/>
                          <a:ea typeface="宋体" charset="0"/>
                          <a:cs typeface="DejaVu Math TeX Gyre" panose="02000503000000000000" charset="0"/>
                        </a:rPr>
                        <m:t>+</m:t>
                      </m:r>
                      <m:nary>
                        <m:naryPr>
                          <m:chr m:val="∑"/>
                          <m:limLoc m:val="undOvr"/>
                          <m:supHide m:val="on"/>
                          <m:ctrlPr>
                            <a:rPr lang="en-US" sz="1650" i="1" dirty="0">
                              <a:solidFill>
                                <a:srgbClr val="334155"/>
                              </a:solidFill>
                              <a:latin typeface="DejaVu Math TeX Gyre" panose="02000503000000000000" charset="0"/>
                              <a:ea typeface="Cambria Math"/>
                              <a:cs typeface="DejaVu Math TeX Gyre" panose="02000503000000000000" charset="0"/>
                            </a:rPr>
                          </m:ctrlPr>
                        </m:naryPr>
                        <m:sub>
                          <m:r>
                            <a:rPr lang="en-US" sz="1650" i="1" dirty="0">
                              <a:solidFill>
                                <a:srgbClr val="334155"/>
                              </a:solidFill>
                              <a:latin typeface="DejaVu Math TeX Gyre" panose="02000503000000000000" charset="0"/>
                              <a:ea typeface="Cambria Math"/>
                              <a:cs typeface="DejaVu Math TeX Gyre" panose="02000503000000000000" charset="0"/>
                            </a:rPr>
                            <m:t>𝑙</m:t>
                          </m:r>
                        </m:sub>
                        <m:sup/>
                        <m:e>
                          <m:d>
                            <m:dPr>
                              <m:sepChr m:val=""/>
                              <m:ctrlPr>
                                <a:rPr lang="en-US" sz="1650" i="1" dirty="0">
                                  <a:solidFill>
                                    <a:srgbClr val="334155"/>
                                  </a:solidFill>
                                  <a:latin typeface="DejaVu Math TeX Gyre" panose="02000503000000000000" charset="0"/>
                                  <a:ea typeface="Cambria Math"/>
                                  <a:cs typeface="DejaVu Math TeX Gyre" panose="02000503000000000000" charset="0"/>
                                </a:rPr>
                              </m:ctrlPr>
                            </m:dPr>
                            <m:e>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𝑘</m:t>
                                  </m:r>
                                </m:e>
                                <m:sub>
                                  <m:r>
                                    <a:rPr lang="en-US" sz="1650" i="1" dirty="0">
                                      <a:solidFill>
                                        <a:srgbClr val="334155"/>
                                      </a:solidFill>
                                      <a:latin typeface="DejaVu Math TeX Gyre" panose="02000503000000000000" charset="0"/>
                                      <a:ea typeface="Cambria Math"/>
                                      <a:cs typeface="DejaVu Math TeX Gyre" panose="02000503000000000000" charset="0"/>
                                    </a:rPr>
                                    <m:t>𝑙</m:t>
                                  </m:r>
                                </m:sub>
                              </m:sSub>
                              <m:r>
                                <a:rPr lang="en-US" sz="1650" i="1" dirty="0">
                                  <a:solidFill>
                                    <a:srgbClr val="334155"/>
                                  </a:solidFill>
                                  <a:latin typeface="DejaVu Math TeX Gyre" panose="02000503000000000000" charset="0"/>
                                  <a:ea typeface="宋体" charset="0"/>
                                  <a:cs typeface="DejaVu Math TeX Gyre" panose="02000503000000000000" charset="0"/>
                                </a:rPr>
                                <m:t>−</m:t>
                              </m:r>
                              <m:r>
                                <a:rPr lang="en-US" sz="1650" i="1" dirty="0">
                                  <a:solidFill>
                                    <a:srgbClr val="334155"/>
                                  </a:solidFill>
                                  <a:latin typeface="DejaVu Math TeX Gyre" panose="02000503000000000000" charset="0"/>
                                  <a:ea typeface="宋体" charset="0"/>
                                  <a:cs typeface="DejaVu Math TeX Gyre" panose="02000503000000000000" charset="0"/>
                                </a:rPr>
                                <m:t>1</m:t>
                              </m:r>
                            </m:e>
                          </m:d>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𝑑</m:t>
                              </m:r>
                            </m:e>
                            <m:sub>
                              <m:r>
                                <a:rPr lang="en-US" sz="1650" i="1" dirty="0">
                                  <a:solidFill>
                                    <a:srgbClr val="334155"/>
                                  </a:solidFill>
                                  <a:latin typeface="DejaVu Math TeX Gyre" panose="02000503000000000000" charset="0"/>
                                  <a:ea typeface="Cambria Math"/>
                                  <a:cs typeface="DejaVu Math TeX Gyre" panose="02000503000000000000" charset="0"/>
                                </a:rPr>
                                <m:t>𝑙</m:t>
                              </m:r>
                            </m:sub>
                          </m:sSub>
                        </m:e>
                      </m:nary>
                    </m:oMath>
                  </m:oMathPara>
                </a14:m>
                <a:endParaRPr i="1">
                  <a:latin typeface="Times New Roman" panose="02020503050405090304" charset="0"/>
                  <a:cs typeface="Times New Roman" panose="02020503050405090304" charset="0"/>
                </a:endParaRPr>
              </a:p>
            </p:txBody>
          </p:sp>
        </mc:Choice>
        <mc:Fallback>
          <p:sp>
            <p:nvSpPr>
              <p:cNvPr id="7" name="receptive-field"/>
              <p:cNvSpPr txBox="1">
                <a:spLocks noRot="1" noChangeAspect="1" noMove="1" noResize="1" noEditPoints="1" noAdjustHandles="1" noChangeArrowheads="1" noChangeShapeType="1" noTextEdit="1"/>
              </p:cNvSpPr>
              <p:nvPr/>
            </p:nvSpPr>
            <p:spPr>
              <a:xfrm>
                <a:off x="1775460" y="5898515"/>
                <a:ext cx="2262505" cy="666750"/>
              </a:xfrm>
              <a:prstGeom prst="rect">
                <a:avLst/>
              </a:prstGeom>
              <a:blipFill rotWithShape="1">
                <a:blip r:embed="rId2"/>
                <a:stretch>
                  <a:fillRect/>
                </a:stretch>
              </a:blipFill>
              <a:ln>
                <a:noFill/>
              </a:ln>
            </p:spPr>
            <p:txBody>
              <a:bodyPr/>
              <a:lstStyle/>
              <a:p>
                <a:r>
                  <a:rPr lang="zh-CN" altLang="en-US">
                    <a:noFill/>
                  </a:rPr>
                  <a:t> </a:t>
                </a:r>
              </a:p>
            </p:txBody>
          </p:sp>
        </mc:Fallback>
      </mc:AlternateContent>
      <p:sp>
        <p:nvSpPr>
          <p:cNvPr id="10" name="TextBox 10"/>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271" name="Google Shape;271;p44"/>
          <p:cNvPicPr preferRelativeResize="0"/>
          <p:nvPr/>
        </p:nvPicPr>
        <p:blipFill>
          <a:blip r:embed="rId3"/>
          <a:stretch>
            <a:fillRect/>
          </a:stretch>
        </p:blipFill>
        <p:spPr>
          <a:xfrm>
            <a:off x="911360" y="1556140"/>
            <a:ext cx="2196787" cy="2115201"/>
          </a:xfrm>
          <a:prstGeom prst="rect">
            <a:avLst/>
          </a:prstGeom>
          <a:noFill/>
          <a:ln>
            <a:noFill/>
          </a:ln>
        </p:spPr>
      </p:pic>
      <p:sp>
        <p:nvSpPr>
          <p:cNvPr id="269" name="Google Shape;269;p44"/>
          <p:cNvSpPr txBox="1"/>
          <p:nvPr/>
        </p:nvSpPr>
        <p:spPr>
          <a:xfrm>
            <a:off x="7319645" y="4442460"/>
            <a:ext cx="4342130" cy="1446530"/>
          </a:xfrm>
          <a:prstGeom prst="rect">
            <a:avLst/>
          </a:prstGeom>
          <a:noFill/>
          <a:ln>
            <a:noFill/>
          </a:ln>
        </p:spPr>
        <p:txBody>
          <a:bodyPr spcFirstLastPara="1" wrap="square" lIns="91425" tIns="91425" rIns="91425" bIns="91425" anchor="t" anchorCtr="0">
            <a:noAutofit/>
          </a:bodyPr>
          <a:lstStyle/>
          <a:p>
            <a:pPr marL="387350" lvl="0" indent="-285750" algn="l" rtl="0">
              <a:lnSpc>
                <a:spcPct val="150000"/>
              </a:lnSpc>
              <a:spcBef>
                <a:spcPts val="0"/>
              </a:spcBef>
              <a:spcAft>
                <a:spcPts val="0"/>
              </a:spcAft>
              <a:buClr>
                <a:schemeClr val="dk1"/>
              </a:buClr>
              <a:buSzPts val="2000"/>
              <a:buFont typeface="Arial" panose="020B0604020202090204" pitchFamily="34" charset="0"/>
              <a:buChar char="•"/>
            </a:pPr>
            <a:r>
              <a:rPr lang="en-US" sz="1600">
                <a:latin typeface="Arial" panose="020B0604020202090204" pitchFamily="34" charset="0"/>
                <a:ea typeface="Lora"/>
                <a:cs typeface="Arial" panose="020B0604020202090204" pitchFamily="34" charset="0"/>
                <a:sym typeface="Lora"/>
              </a:rPr>
              <a:t>Increase receptive field.</a:t>
            </a:r>
            <a:endParaRPr lang="en-US" sz="1600">
              <a:latin typeface="Arial" panose="020B0604020202090204" pitchFamily="34" charset="0"/>
              <a:ea typeface="Lora"/>
              <a:cs typeface="Arial" panose="020B0604020202090204" pitchFamily="34" charset="0"/>
              <a:sym typeface="Lora"/>
            </a:endParaRPr>
          </a:p>
          <a:p>
            <a:pPr marL="387350" lvl="0" indent="-285750" algn="l" rtl="0">
              <a:lnSpc>
                <a:spcPct val="150000"/>
              </a:lnSpc>
              <a:spcBef>
                <a:spcPts val="0"/>
              </a:spcBef>
              <a:spcAft>
                <a:spcPts val="0"/>
              </a:spcAft>
              <a:buClr>
                <a:schemeClr val="dk1"/>
              </a:buClr>
              <a:buSzPts val="2000"/>
              <a:buFont typeface="Arial" panose="020B0604020202090204" pitchFamily="34" charset="0"/>
              <a:buChar char="•"/>
            </a:pPr>
            <a:r>
              <a:rPr lang="en-US" sz="1600">
                <a:latin typeface="Arial" panose="020B0604020202090204" pitchFamily="34" charset="0"/>
                <a:ea typeface="Lora"/>
                <a:cs typeface="Arial" panose="020B0604020202090204" pitchFamily="34" charset="0"/>
                <a:sym typeface="Lora"/>
              </a:rPr>
              <a:t>Allow modeling long time dependencies.</a:t>
            </a:r>
            <a:endParaRPr sz="1600">
              <a:latin typeface="Arial" panose="020B0604020202090204" pitchFamily="34" charset="0"/>
              <a:ea typeface="Lora"/>
              <a:cs typeface="Arial" panose="020B0604020202090204" pitchFamily="34" charset="0"/>
              <a:sym typeface="Lora"/>
            </a:endParaRPr>
          </a:p>
          <a:p>
            <a:pPr marL="387350" lvl="0" indent="-285750" algn="l" rtl="0">
              <a:lnSpc>
                <a:spcPct val="150000"/>
              </a:lnSpc>
              <a:spcBef>
                <a:spcPts val="0"/>
              </a:spcBef>
              <a:spcAft>
                <a:spcPts val="0"/>
              </a:spcAft>
              <a:buSzPts val="2000"/>
              <a:buFont typeface="Arial" panose="020B0604020202090204" pitchFamily="34" charset="0"/>
              <a:buChar char="•"/>
            </a:pPr>
            <a:r>
              <a:rPr lang="en-US" sz="1600">
                <a:latin typeface="Arial" panose="020B0604020202090204" pitchFamily="34" charset="0"/>
                <a:ea typeface="Lora"/>
                <a:cs typeface="Arial" panose="020B0604020202090204" pitchFamily="34" charset="0"/>
                <a:sym typeface="Lora"/>
              </a:rPr>
              <a:t>Causal for avoiding looking in the future.</a:t>
            </a:r>
            <a:endParaRPr lang="en-US" sz="1600">
              <a:latin typeface="Arial" panose="020B0604020202090204" pitchFamily="34" charset="0"/>
              <a:ea typeface="Lora"/>
              <a:cs typeface="Arial" panose="020B0604020202090204" pitchFamily="34" charset="0"/>
              <a:sym typeface="Lora"/>
            </a:endParaRPr>
          </a:p>
        </p:txBody>
      </p:sp>
      <p:sp>
        <p:nvSpPr>
          <p:cNvPr id="11" name="文本框 10"/>
          <p:cNvSpPr txBox="1"/>
          <p:nvPr/>
        </p:nvSpPr>
        <p:spPr>
          <a:xfrm>
            <a:off x="394970" y="3787140"/>
            <a:ext cx="3304540" cy="368300"/>
          </a:xfrm>
          <a:prstGeom prst="rect">
            <a:avLst/>
          </a:prstGeom>
          <a:noFill/>
        </p:spPr>
        <p:txBody>
          <a:bodyPr wrap="square" rtlCol="0">
            <a:spAutoFit/>
          </a:bodyPr>
          <a:p>
            <a:r>
              <a:rPr lang="en-US" altLang="zh-CN" b="1">
                <a:solidFill>
                  <a:schemeClr val="accent3"/>
                </a:solidFill>
                <a:latin typeface="Arial" panose="020B0604020202090204" pitchFamily="34" charset="0"/>
                <a:cs typeface="Arial" panose="020B0604020202090204" pitchFamily="34" charset="0"/>
              </a:rPr>
              <a:t>Dual Mechanism Breakdown</a:t>
            </a:r>
            <a:endParaRPr lang="en-US" altLang="zh-CN" b="1">
              <a:solidFill>
                <a:schemeClr val="accent3"/>
              </a:solidFill>
              <a:latin typeface="Arial" panose="020B0604020202090204" pitchFamily="34" charset="0"/>
              <a:cs typeface="Arial" panose="020B0604020202090204" pitchFamily="34" charset="0"/>
            </a:endParaRPr>
          </a:p>
        </p:txBody>
      </p:sp>
      <p:sp>
        <p:nvSpPr>
          <p:cNvPr id="12" name="TextBox 6"/>
          <p:cNvSpPr txBox="1"/>
          <p:nvPr/>
        </p:nvSpPr>
        <p:spPr>
          <a:xfrm>
            <a:off x="479425" y="4760595"/>
            <a:ext cx="6623685" cy="430530"/>
          </a:xfrm>
          <a:prstGeom prst="rect">
            <a:avLst/>
          </a:prstGeom>
          <a:noFill/>
          <a:ln>
            <a:noFill/>
          </a:ln>
        </p:spPr>
        <p:txBody>
          <a:bodyPr wrap="square" lIns="0" tIns="0" rIns="0" bIns="0" anchor="t" anchorCtr="0">
            <a:spAutoFit/>
          </a:bodyPr>
          <a:lstStyle/>
          <a:p>
            <a:pPr algn="l"/>
            <a:r>
              <a:rPr lang="en-US" altLang="zh-CN" sz="1400" b="1" dirty="0">
                <a:solidFill>
                  <a:schemeClr val="dk1"/>
                </a:solidFill>
                <a:latin typeface="Arial Regular" panose="020B0604020202090204" charset="0"/>
                <a:ea typeface="+mn-ea"/>
                <a:cs typeface="Arial Regular" panose="020B0604020202090204" charset="0"/>
              </a:rPr>
              <a:t>Dilated Rate Growth</a:t>
            </a:r>
            <a:r>
              <a:rPr lang="zh-CN" alt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Doubling dilation rates </a:t>
            </a:r>
            <a:r>
              <a:rPr lang="en-US" altLang="zh-CN" sz="1400" i="1" dirty="0">
                <a:solidFill>
                  <a:schemeClr val="dk1"/>
                </a:solidFill>
                <a:latin typeface="Arial Regular" panose="020B0604020202090204" charset="0"/>
                <a:ea typeface="+mn-ea"/>
                <a:cs typeface="Arial Regular" panose="020B0604020202090204" charset="0"/>
              </a:rPr>
              <a:t>(d = 1, 2, 4, 8, ...)</a:t>
            </a:r>
            <a:r>
              <a:rPr lang="en-US" altLang="zh-CN" sz="1400" dirty="0">
                <a:solidFill>
                  <a:schemeClr val="dk1"/>
                </a:solidFill>
                <a:latin typeface="Arial Regular" panose="020B0604020202090204" charset="0"/>
                <a:ea typeface="+mn-ea"/>
                <a:cs typeface="Arial Regular" panose="020B0604020202090204" charset="0"/>
              </a:rPr>
              <a:t> skips input values with a step size, letting the filter apply over a larger area.</a:t>
            </a:r>
            <a:endParaRPr lang="en-US" altLang="zh-CN" sz="1400" dirty="0">
              <a:solidFill>
                <a:schemeClr val="dk1"/>
              </a:solidFill>
              <a:latin typeface="Arial Regular" panose="020B0604020202090204" charset="0"/>
              <a:ea typeface="+mn-ea"/>
              <a:cs typeface="Arial Regular" panose="020B0604020202090204" charset="0"/>
            </a:endParaRPr>
          </a:p>
        </p:txBody>
      </p:sp>
      <p:sp>
        <p:nvSpPr>
          <p:cNvPr id="13" name="文本框 12"/>
          <p:cNvSpPr txBox="1"/>
          <p:nvPr/>
        </p:nvSpPr>
        <p:spPr>
          <a:xfrm>
            <a:off x="394970" y="5250180"/>
            <a:ext cx="4064000" cy="368300"/>
          </a:xfrm>
          <a:prstGeom prst="rect">
            <a:avLst/>
          </a:prstGeom>
          <a:noFill/>
        </p:spPr>
        <p:txBody>
          <a:bodyPr wrap="square" rtlCol="0">
            <a:spAutoFit/>
          </a:bodyPr>
          <a:p>
            <a:r>
              <a:rPr lang="en-US" altLang="zh-CN" b="1">
                <a:solidFill>
                  <a:schemeClr val="accent3"/>
                </a:solidFill>
                <a:latin typeface="Arial" panose="020B0604020202090204" pitchFamily="34" charset="0"/>
                <a:cs typeface="Arial" panose="020B0604020202090204" pitchFamily="34" charset="0"/>
              </a:rPr>
              <a:t>Receptive Field Formula</a:t>
            </a:r>
            <a:endParaRPr lang="en-US" altLang="zh-CN" b="1">
              <a:solidFill>
                <a:schemeClr val="accent3"/>
              </a:solidFill>
              <a:latin typeface="Arial" panose="020B0604020202090204" pitchFamily="34" charset="0"/>
              <a:cs typeface="Arial" panose="020B0604020202090204" pitchFamily="34" charset="0"/>
            </a:endParaRPr>
          </a:p>
        </p:txBody>
      </p:sp>
      <p:sp>
        <p:nvSpPr>
          <p:cNvPr id="14" name="文本框 13"/>
          <p:cNvSpPr txBox="1"/>
          <p:nvPr/>
        </p:nvSpPr>
        <p:spPr>
          <a:xfrm>
            <a:off x="407035" y="5588635"/>
            <a:ext cx="6477000" cy="306705"/>
          </a:xfrm>
          <a:prstGeom prst="rect">
            <a:avLst/>
          </a:prstGeom>
          <a:noFill/>
        </p:spPr>
        <p:txBody>
          <a:bodyPr wrap="square" rtlCol="0">
            <a:spAutoFit/>
          </a:bodyPr>
          <a:p>
            <a:r>
              <a:rPr lang="en-US" altLang="zh-CN" sz="1400" dirty="0">
                <a:solidFill>
                  <a:schemeClr val="dk1"/>
                </a:solidFill>
                <a:latin typeface="Arial Regular" panose="020B0604020202090204" charset="0"/>
                <a:cs typeface="Arial Regular" panose="020B0604020202090204" charset="0"/>
              </a:rPr>
              <a:t>The effective receptive field </a:t>
            </a:r>
            <a:r>
              <a:rPr lang="en-US" altLang="zh-CN" sz="1400" b="1" i="1" dirty="0">
                <a:solidFill>
                  <a:schemeClr val="dk1"/>
                </a:solidFill>
                <a:latin typeface="Arial" panose="020B0604020202090204" pitchFamily="34" charset="0"/>
                <a:cs typeface="Arial" panose="020B0604020202090204" pitchFamily="34" charset="0"/>
              </a:rPr>
              <a:t>R</a:t>
            </a:r>
            <a:r>
              <a:rPr lang="en-US" altLang="zh-CN" sz="1400" dirty="0">
                <a:solidFill>
                  <a:schemeClr val="dk1"/>
                </a:solidFill>
                <a:latin typeface="Arial Regular" panose="020B0604020202090204" charset="0"/>
                <a:cs typeface="Arial Regular" panose="020B0604020202090204" charset="0"/>
              </a:rPr>
              <a:t> across </a:t>
            </a:r>
            <a:r>
              <a:rPr lang="en-US" altLang="zh-CN" sz="1400" b="1" i="1" dirty="0">
                <a:solidFill>
                  <a:schemeClr val="dk1"/>
                </a:solidFill>
                <a:latin typeface="Arial" panose="020B0604020202090204" pitchFamily="34" charset="0"/>
                <a:cs typeface="Arial" panose="020B0604020202090204" pitchFamily="34" charset="0"/>
              </a:rPr>
              <a:t>L</a:t>
            </a:r>
            <a:r>
              <a:rPr lang="en-US" altLang="zh-CN" sz="1400" dirty="0">
                <a:solidFill>
                  <a:schemeClr val="dk1"/>
                </a:solidFill>
                <a:latin typeface="Arial Regular" panose="020B0604020202090204" charset="0"/>
                <a:cs typeface="Arial Regular" panose="020B0604020202090204" charset="0"/>
              </a:rPr>
              <a:t> layers is computed as:</a:t>
            </a:r>
            <a:endParaRPr lang="en-US" altLang="zh-CN" sz="1400" dirty="0">
              <a:solidFill>
                <a:schemeClr val="dk1"/>
              </a:solidFill>
              <a:latin typeface="Arial Regular" panose="020B0604020202090204" charset="0"/>
              <a:cs typeface="Arial Regular" panose="020B0604020202090204" charset="0"/>
            </a:endParaRPr>
          </a:p>
        </p:txBody>
      </p:sp>
      <p:sp>
        <p:nvSpPr>
          <p:cNvPr id="15" name="文本框 14"/>
          <p:cNvSpPr txBox="1"/>
          <p:nvPr/>
        </p:nvSpPr>
        <p:spPr>
          <a:xfrm>
            <a:off x="7378700" y="4074160"/>
            <a:ext cx="4064000" cy="368300"/>
          </a:xfrm>
          <a:prstGeom prst="rect">
            <a:avLst/>
          </a:prstGeom>
          <a:noFill/>
        </p:spPr>
        <p:txBody>
          <a:bodyPr wrap="square" rtlCol="0">
            <a:spAutoFit/>
          </a:bodyPr>
          <a:p>
            <a:r>
              <a:rPr lang="en-US" altLang="zh-CN" b="1">
                <a:solidFill>
                  <a:schemeClr val="accent2"/>
                </a:solidFill>
                <a:latin typeface="Arial" panose="020B0604020202090204" pitchFamily="34" charset="0"/>
                <a:cs typeface="Arial" panose="020B0604020202090204" pitchFamily="34" charset="0"/>
              </a:rPr>
              <a:t>Key Architectural Advantages</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48030" cy="114935"/>
          </a:xfrm>
          <a:prstGeom prst="rect">
            <a:avLst/>
          </a:prstGeom>
          <a:noFill/>
          <a:ln>
            <a:noFill/>
          </a:ln>
        </p:spPr>
        <p:txBody>
          <a:bodyPr wrap="none" lIns="0" tIns="0" rIns="0" bIns="0" anchor="t" anchorCtr="0">
            <a:spAutoFit/>
          </a:bodyPr>
          <a:lstStyle/>
          <a:p>
            <a:pPr algn="l"/>
            <a:r>
              <a:rPr lang="en-US" sz="750" dirty="0">
                <a:solidFill>
                  <a:srgbClr val="64748B"/>
                </a:solidFill>
                <a:latin typeface="Arial Regular" panose="020B0604020202090204" charset="0"/>
                <a:ea typeface="+mn-ea"/>
                <a:cs typeface="Arial Regular" panose="020B0604020202090204" charset="0"/>
              </a:rPr>
              <a:t>VOCODER          </a:t>
            </a:r>
            <a:endParaRPr lang="en-US" sz="750" dirty="0">
              <a:solidFill>
                <a:srgbClr val="64748B"/>
              </a:solidFill>
              <a:latin typeface="Arial Regular" panose="020B0604020202090204" charset="0"/>
              <a:ea typeface="+mn-ea"/>
              <a:cs typeface="Arial Regular" panose="020B0604020202090204" charset="0"/>
            </a:endParaRPr>
          </a:p>
        </p:txBody>
      </p:sp>
      <p:sp>
        <p:nvSpPr>
          <p:cNvPr id="3" name="TextBox 3"/>
          <p:cNvSpPr txBox="1"/>
          <p:nvPr/>
        </p:nvSpPr>
        <p:spPr>
          <a:xfrm>
            <a:off x="501396" y="395923"/>
            <a:ext cx="738568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Conditional WaveNet: Gated Activation Unit</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txBody>
          <a:bodyPr/>
          <a:p>
            <a:endParaRPr lang="zh-CN" altLang="en-US"/>
          </a:p>
        </p:txBody>
      </p:sp>
      <p:grpSp>
        <p:nvGrpSpPr>
          <p:cNvPr id="7" name="Group 7"/>
          <p:cNvGrpSpPr/>
          <p:nvPr/>
        </p:nvGrpSpPr>
        <p:grpSpPr>
          <a:xfrm>
            <a:off x="505968" y="1174432"/>
            <a:ext cx="7440930" cy="873760"/>
            <a:chOff x="505968" y="1174432"/>
            <a:chExt cx="7440930" cy="873760"/>
          </a:xfrm>
        </p:grpSpPr>
        <p:sp>
          <p:nvSpPr>
            <p:cNvPr id="5" name="TextBox 5"/>
            <p:cNvSpPr txBox="1"/>
            <p:nvPr/>
          </p:nvSpPr>
          <p:spPr>
            <a:xfrm>
              <a:off x="505968" y="1174432"/>
              <a:ext cx="3276600" cy="276860"/>
            </a:xfrm>
            <a:prstGeom prst="rect">
              <a:avLst/>
            </a:prstGeom>
            <a:noFill/>
            <a:ln>
              <a:noFill/>
            </a:ln>
          </p:spPr>
          <p:txBody>
            <a:bodyPr wrap="none" lIns="0" tIns="0" rIns="0" bIns="0" anchor="t" anchorCtr="0">
              <a:spAutoFit/>
            </a:bodyPr>
            <a:lstStyle/>
            <a:p>
              <a:pPr algn="l"/>
              <a:r>
                <a:rPr lang="en-US" b="1" dirty="0">
                  <a:solidFill>
                    <a:schemeClr val="accent1"/>
                  </a:solidFill>
                  <a:latin typeface="Arial" panose="020B0604020202090204" pitchFamily="34" charset="0"/>
                  <a:ea typeface="+mn-ea"/>
                  <a:cs typeface="Arial" panose="020B0604020202090204" pitchFamily="34" charset="0"/>
                </a:rPr>
                <a:t>Without acoustic conditioning</a:t>
              </a:r>
              <a:endParaRPr lang="en-US" b="1" dirty="0">
                <a:solidFill>
                  <a:schemeClr val="accent1"/>
                </a:solidFill>
                <a:latin typeface="Arial" panose="020B0604020202090204" pitchFamily="34" charset="0"/>
                <a:ea typeface="+mn-ea"/>
                <a:cs typeface="Arial" panose="020B0604020202090204" pitchFamily="34" charset="0"/>
              </a:endParaRPr>
            </a:p>
          </p:txBody>
        </p:sp>
        <p:pic>
          <p:nvPicPr>
            <p:cNvPr id="6" name="Image 6"/>
            <p:cNvPicPr>
              <a:picLocks noChangeAspect="1"/>
            </p:cNvPicPr>
            <p:nvPr/>
          </p:nvPicPr>
          <p:blipFill>
            <a:blip r:embed="rId1"/>
            <a:stretch>
              <a:fillRect/>
            </a:stretch>
          </p:blipFill>
          <p:spPr>
            <a:xfrm>
              <a:off x="3863213" y="1700847"/>
              <a:ext cx="4083685" cy="347345"/>
            </a:xfrm>
            <a:prstGeom prst="rect">
              <a:avLst/>
            </a:prstGeom>
          </p:spPr>
        </p:pic>
      </p:grpSp>
      <p:grpSp>
        <p:nvGrpSpPr>
          <p:cNvPr id="10" name="Group 10"/>
          <p:cNvGrpSpPr/>
          <p:nvPr/>
        </p:nvGrpSpPr>
        <p:grpSpPr>
          <a:xfrm>
            <a:off x="505968" y="2300923"/>
            <a:ext cx="8521065" cy="1010285"/>
            <a:chOff x="505968" y="2803208"/>
            <a:chExt cx="8521065" cy="1010285"/>
          </a:xfrm>
        </p:grpSpPr>
        <p:sp>
          <p:nvSpPr>
            <p:cNvPr id="8" name="TextBox 8"/>
            <p:cNvSpPr txBox="1"/>
            <p:nvPr/>
          </p:nvSpPr>
          <p:spPr>
            <a:xfrm>
              <a:off x="505968" y="2803208"/>
              <a:ext cx="3505200" cy="276860"/>
            </a:xfrm>
            <a:prstGeom prst="rect">
              <a:avLst/>
            </a:prstGeom>
            <a:noFill/>
            <a:ln>
              <a:noFill/>
            </a:ln>
          </p:spPr>
          <p:txBody>
            <a:bodyPr wrap="none" lIns="0" tIns="0" rIns="0" bIns="0" anchor="t" anchorCtr="0">
              <a:spAutoFit/>
            </a:bodyPr>
            <a:lstStyle/>
            <a:p>
              <a:pPr algn="l"/>
              <a:r>
                <a:rPr lang="en-US" b="1" dirty="0">
                  <a:solidFill>
                    <a:schemeClr val="accent2"/>
                  </a:solidFill>
                  <a:latin typeface="Arial" panose="020B0604020202090204" pitchFamily="34" charset="0"/>
                  <a:ea typeface="+mn-ea"/>
                  <a:cs typeface="Arial" panose="020B0604020202090204" pitchFamily="34" charset="0"/>
                </a:rPr>
                <a:t>With local acoustic conditioning</a:t>
              </a:r>
              <a:endParaRPr lang="en-US" b="1" dirty="0">
                <a:solidFill>
                  <a:schemeClr val="accent2"/>
                </a:solidFill>
                <a:latin typeface="Arial" panose="020B0604020202090204" pitchFamily="34" charset="0"/>
                <a:ea typeface="+mn-ea"/>
                <a:cs typeface="Arial" panose="020B0604020202090204" pitchFamily="34" charset="0"/>
              </a:endParaRPr>
            </a:p>
          </p:txBody>
        </p:sp>
        <p:pic>
          <p:nvPicPr>
            <p:cNvPr id="9" name="Image 9"/>
            <p:cNvPicPr>
              <a:picLocks noChangeAspect="1"/>
            </p:cNvPicPr>
            <p:nvPr/>
          </p:nvPicPr>
          <p:blipFill>
            <a:blip r:embed="rId2"/>
            <a:stretch>
              <a:fillRect/>
            </a:stretch>
          </p:blipFill>
          <p:spPr>
            <a:xfrm>
              <a:off x="2927223" y="3490278"/>
              <a:ext cx="6099810" cy="323215"/>
            </a:xfrm>
            <a:prstGeom prst="rect">
              <a:avLst/>
            </a:prstGeom>
          </p:spPr>
        </p:pic>
      </p:grpSp>
      <p:grpSp>
        <p:nvGrpSpPr>
          <p:cNvPr id="13" name="Group 13"/>
          <p:cNvGrpSpPr/>
          <p:nvPr/>
        </p:nvGrpSpPr>
        <p:grpSpPr>
          <a:xfrm>
            <a:off x="407543" y="3842068"/>
            <a:ext cx="5120132" cy="1284287"/>
            <a:chOff x="370713" y="4056698"/>
            <a:chExt cx="5120132" cy="1284287"/>
          </a:xfrm>
        </p:grpSpPr>
        <p:sp>
          <p:nvSpPr>
            <p:cNvPr id="11" name="TextBox 11"/>
            <p:cNvSpPr txBox="1"/>
            <p:nvPr/>
          </p:nvSpPr>
          <p:spPr>
            <a:xfrm>
              <a:off x="370713" y="4056698"/>
              <a:ext cx="1670685" cy="245745"/>
            </a:xfrm>
            <a:prstGeom prst="rect">
              <a:avLst/>
            </a:prstGeom>
            <a:noFill/>
            <a:ln>
              <a:noFill/>
            </a:ln>
          </p:spPr>
          <p:txBody>
            <a:bodyPr wrap="none" lIns="0" tIns="0" rIns="0" bIns="0" anchor="t" anchorCtr="0">
              <a:spAutoFit/>
            </a:bodyPr>
            <a:lstStyle/>
            <a:p>
              <a:pPr algn="l"/>
              <a:r>
                <a:rPr lang="en-US" altLang="zh-CN" sz="1600" b="1" dirty="0">
                  <a:solidFill>
                    <a:schemeClr val="accent1"/>
                  </a:solidFill>
                  <a:latin typeface="Arial" panose="020B0604020202090204" pitchFamily="34" charset="0"/>
                  <a:ea typeface="+mn-ea"/>
                  <a:cs typeface="Arial" panose="020B0604020202090204" pitchFamily="34" charset="0"/>
                </a:rPr>
                <a:t>Variable Notation</a:t>
              </a:r>
              <a:endParaRPr lang="en-US" altLang="zh-CN" sz="1600" b="1" dirty="0">
                <a:solidFill>
                  <a:schemeClr val="accent1"/>
                </a:solidFill>
                <a:latin typeface="Arial" panose="020B0604020202090204" pitchFamily="34" charset="0"/>
                <a:ea typeface="+mn-ea"/>
                <a:cs typeface="Arial" panose="020B0604020202090204" pitchFamily="34" charset="0"/>
              </a:endParaRPr>
            </a:p>
          </p:txBody>
        </p:sp>
        <p:sp>
          <p:nvSpPr>
            <p:cNvPr id="12" name="TextBox 12"/>
            <p:cNvSpPr txBox="1"/>
            <p:nvPr/>
          </p:nvSpPr>
          <p:spPr>
            <a:xfrm>
              <a:off x="479425" y="4302760"/>
              <a:ext cx="5011420" cy="1038225"/>
            </a:xfrm>
            <a:prstGeom prst="rect">
              <a:avLst/>
            </a:prstGeom>
            <a:noFill/>
            <a:ln>
              <a:noFill/>
            </a:ln>
          </p:spPr>
          <p:txBody>
            <a:bodyPr wrap="none" lIns="0" tIns="0" rIns="0" bIns="0" anchor="t" anchorCtr="0">
              <a:spAutoFit/>
            </a:bodyPr>
            <a:lstStyle/>
            <a:p>
              <a:pPr algn="l">
                <a:lnSpc>
                  <a:spcPts val="2025"/>
                </a:lnSpc>
              </a:pPr>
              <a:r>
                <a:rPr lang="en-US" sz="1400" b="1" dirty="0">
                  <a:solidFill>
                    <a:schemeClr val="dk1"/>
                  </a:solidFill>
                  <a:latin typeface="Arial" panose="020B0604020202090204" pitchFamily="34" charset="0"/>
                  <a:ea typeface="+mn-ea"/>
                  <a:cs typeface="Arial" panose="020B0604020202090204" pitchFamily="34" charset="0"/>
                </a:rPr>
                <a:t>x</a:t>
              </a:r>
              <a:r>
                <a:rPr 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Hidden states of past audio waveform history.</a:t>
              </a:r>
              <a:br>
                <a:rPr lang="en-US" sz="1400" dirty="0">
                  <a:solidFill>
                    <a:schemeClr val="dk1"/>
                  </a:solidFill>
                  <a:latin typeface="Arial Regular" panose="020B0604020202090204" charset="0"/>
                  <a:ea typeface="+mn-ea"/>
                  <a:cs typeface="Arial Regular" panose="020B0604020202090204" charset="0"/>
                </a:rPr>
              </a:br>
              <a:r>
                <a:rPr lang="en-US" sz="1400" b="1" dirty="0">
                  <a:solidFill>
                    <a:schemeClr val="dk1"/>
                  </a:solidFill>
                  <a:latin typeface="Arial" panose="020B0604020202090204" pitchFamily="34" charset="0"/>
                  <a:ea typeface="+mn-ea"/>
                  <a:cs typeface="Arial" panose="020B0604020202090204" pitchFamily="34" charset="0"/>
                </a:rPr>
                <a:t>y</a:t>
              </a:r>
              <a:r>
                <a:rPr 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Upsampled acoustic conditioning features</a:t>
              </a:r>
              <a:r>
                <a:rPr lang="en-US" sz="1400" dirty="0">
                  <a:solidFill>
                    <a:schemeClr val="dk1"/>
                  </a:solidFill>
                  <a:latin typeface="Arial Regular" panose="020B0604020202090204" charset="0"/>
                  <a:ea typeface="+mn-ea"/>
                  <a:cs typeface="Arial Regular" panose="020B0604020202090204" charset="0"/>
                </a:rPr>
                <a:t>.</a:t>
              </a:r>
              <a:endParaRPr lang="en-US" sz="1400" dirty="0">
                <a:solidFill>
                  <a:schemeClr val="dk1"/>
                </a:solidFill>
                <a:latin typeface="Arial Regular" panose="020B0604020202090204" charset="0"/>
                <a:ea typeface="+mn-ea"/>
                <a:cs typeface="Arial Regular" panose="020B0604020202090204" charset="0"/>
              </a:endParaRPr>
            </a:p>
            <a:p>
              <a:pPr algn="l">
                <a:lnSpc>
                  <a:spcPts val="2025"/>
                </a:lnSpc>
              </a:pPr>
              <a:r>
                <a:rPr lang="en-US" altLang="zh-CN" sz="1400" b="1" i="1" dirty="0">
                  <a:solidFill>
                    <a:schemeClr val="dk1"/>
                  </a:solidFill>
                  <a:latin typeface="Arial" panose="020B0604020202090204" pitchFamily="34" charset="0"/>
                  <a:ea typeface="+mn-ea"/>
                  <a:cs typeface="Arial" panose="020B0604020202090204" pitchFamily="34" charset="0"/>
                </a:rPr>
                <a:t>W</a:t>
              </a:r>
              <a:r>
                <a:rPr lang="en-US" altLang="zh-CN" sz="1400" b="1" i="1" baseline="-25000" dirty="0">
                  <a:solidFill>
                    <a:schemeClr val="dk1"/>
                  </a:solidFill>
                  <a:latin typeface="Arial" panose="020B0604020202090204" pitchFamily="34" charset="0"/>
                  <a:ea typeface="+mn-ea"/>
                  <a:cs typeface="Arial" panose="020B0604020202090204" pitchFamily="34" charset="0"/>
                </a:rPr>
                <a:t>f,k</a:t>
              </a:r>
              <a:r>
                <a:rPr lang="en-US" altLang="zh-CN" sz="1400" b="1" i="1" dirty="0">
                  <a:solidFill>
                    <a:schemeClr val="dk1"/>
                  </a:solidFill>
                  <a:latin typeface="Arial" panose="020B0604020202090204" pitchFamily="34" charset="0"/>
                  <a:ea typeface="+mn-ea"/>
                  <a:cs typeface="Arial" panose="020B0604020202090204" pitchFamily="34" charset="0"/>
                </a:rPr>
                <a:t>, W</a:t>
              </a:r>
              <a:r>
                <a:rPr lang="en-US" altLang="zh-CN" sz="1400" b="1" i="1" baseline="-25000" dirty="0">
                  <a:solidFill>
                    <a:schemeClr val="dk1"/>
                  </a:solidFill>
                  <a:latin typeface="Arial" panose="020B0604020202090204" pitchFamily="34" charset="0"/>
                  <a:ea typeface="+mn-ea"/>
                  <a:cs typeface="Arial" panose="020B0604020202090204" pitchFamily="34" charset="0"/>
                </a:rPr>
                <a:t>g,k</a:t>
              </a:r>
              <a:r>
                <a:rPr lang="en-US" altLang="zh-CN" sz="1400" dirty="0">
                  <a:solidFill>
                    <a:schemeClr val="dk1"/>
                  </a:solidFill>
                  <a:latin typeface="Arial Regular" panose="020B0604020202090204" charset="0"/>
                  <a:ea typeface="+mn-ea"/>
                  <a:cs typeface="Arial Regular" panose="020B0604020202090204" charset="0"/>
                </a:rPr>
                <a:t>: Convolutional filter/gate weights for audio history.   </a:t>
              </a:r>
              <a:endParaRPr lang="en-US" altLang="zh-CN" sz="1400" dirty="0">
                <a:solidFill>
                  <a:schemeClr val="dk1"/>
                </a:solidFill>
                <a:latin typeface="Arial Regular" panose="020B0604020202090204" charset="0"/>
                <a:ea typeface="+mn-ea"/>
                <a:cs typeface="Arial Regular" panose="020B0604020202090204" charset="0"/>
              </a:endParaRPr>
            </a:p>
            <a:p>
              <a:pPr algn="l">
                <a:lnSpc>
                  <a:spcPts val="2025"/>
                </a:lnSpc>
              </a:pPr>
              <a:r>
                <a:rPr lang="en-US" altLang="zh-CN" sz="1400" b="1" i="1" dirty="0">
                  <a:solidFill>
                    <a:schemeClr val="dk1"/>
                  </a:solidFill>
                  <a:latin typeface="Arial" panose="020B0604020202090204" pitchFamily="34" charset="0"/>
                  <a:ea typeface="+mn-ea"/>
                  <a:cs typeface="Arial" panose="020B0604020202090204" pitchFamily="34" charset="0"/>
                </a:rPr>
                <a:t>V</a:t>
              </a:r>
              <a:r>
                <a:rPr lang="en-US" altLang="zh-CN" sz="1400" b="1" i="1" baseline="-25000" dirty="0">
                  <a:solidFill>
                    <a:schemeClr val="dk1"/>
                  </a:solidFill>
                  <a:latin typeface="Arial" panose="020B0604020202090204" pitchFamily="34" charset="0"/>
                  <a:ea typeface="+mn-ea"/>
                  <a:cs typeface="Arial" panose="020B0604020202090204" pitchFamily="34" charset="0"/>
                </a:rPr>
                <a:t>f,k</a:t>
              </a:r>
              <a:r>
                <a:rPr lang="en-US" altLang="zh-CN" sz="1400" b="1" i="1" dirty="0">
                  <a:solidFill>
                    <a:schemeClr val="dk1"/>
                  </a:solidFill>
                  <a:latin typeface="Arial" panose="020B0604020202090204" pitchFamily="34" charset="0"/>
                  <a:ea typeface="+mn-ea"/>
                  <a:cs typeface="Arial" panose="020B0604020202090204" pitchFamily="34" charset="0"/>
                </a:rPr>
                <a:t>, V</a:t>
              </a:r>
              <a:r>
                <a:rPr lang="en-US" altLang="zh-CN" sz="1400" b="1" i="1" baseline="-25000" dirty="0">
                  <a:solidFill>
                    <a:schemeClr val="dk1"/>
                  </a:solidFill>
                  <a:latin typeface="Arial" panose="020B0604020202090204" pitchFamily="34" charset="0"/>
                  <a:ea typeface="+mn-ea"/>
                  <a:cs typeface="Arial" panose="020B0604020202090204" pitchFamily="34" charset="0"/>
                </a:rPr>
                <a:t>g,k</a:t>
              </a:r>
              <a:r>
                <a:rPr lang="en-US" altLang="zh-CN" sz="1400" dirty="0">
                  <a:solidFill>
                    <a:schemeClr val="dk1"/>
                  </a:solidFill>
                  <a:latin typeface="Arial Regular" panose="020B0604020202090204" charset="0"/>
                  <a:ea typeface="+mn-ea"/>
                  <a:cs typeface="Arial Regular" panose="020B0604020202090204" charset="0"/>
                </a:rPr>
                <a:t>: Linear projection parameters for acoustic conditioning.</a:t>
              </a:r>
              <a:endParaRPr lang="en-US" altLang="zh-CN" sz="1400" dirty="0">
                <a:solidFill>
                  <a:schemeClr val="dk1"/>
                </a:solidFill>
                <a:latin typeface="Arial Regular" panose="020B0604020202090204" charset="0"/>
                <a:ea typeface="+mn-ea"/>
                <a:cs typeface="Arial Regular" panose="020B0604020202090204" charset="0"/>
              </a:endParaRPr>
            </a:p>
          </p:txBody>
        </p:sp>
      </p:grpSp>
      <p:sp>
        <p:nvSpPr>
          <p:cNvPr id="19" name="TextBox 1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grpSp>
        <p:nvGrpSpPr>
          <p:cNvPr id="22" name="Group 13"/>
          <p:cNvGrpSpPr/>
          <p:nvPr/>
        </p:nvGrpSpPr>
        <p:grpSpPr>
          <a:xfrm>
            <a:off x="407543" y="5316538"/>
            <a:ext cx="8564372" cy="757237"/>
            <a:chOff x="370713" y="4064318"/>
            <a:chExt cx="8564372" cy="757237"/>
          </a:xfrm>
        </p:grpSpPr>
        <p:sp>
          <p:nvSpPr>
            <p:cNvPr id="23" name="TextBox 11"/>
            <p:cNvSpPr txBox="1"/>
            <p:nvPr/>
          </p:nvSpPr>
          <p:spPr>
            <a:xfrm>
              <a:off x="370713" y="4064318"/>
              <a:ext cx="2461895" cy="245745"/>
            </a:xfrm>
            <a:prstGeom prst="rect">
              <a:avLst/>
            </a:prstGeom>
            <a:noFill/>
            <a:ln>
              <a:noFill/>
            </a:ln>
          </p:spPr>
          <p:txBody>
            <a:bodyPr wrap="none" lIns="0" tIns="0" rIns="0" bIns="0" anchor="t" anchorCtr="0">
              <a:spAutoFit/>
            </a:bodyPr>
            <a:lstStyle/>
            <a:p>
              <a:pPr algn="l"/>
              <a:r>
                <a:rPr lang="en-US" altLang="zh-CN" sz="1600" b="1" dirty="0">
                  <a:solidFill>
                    <a:schemeClr val="accent1"/>
                  </a:solidFill>
                  <a:latin typeface="Arial" panose="020B0604020202090204" pitchFamily="34" charset="0"/>
                  <a:ea typeface="+mn-ea"/>
                  <a:cs typeface="Arial" panose="020B0604020202090204" pitchFamily="34" charset="0"/>
                </a:rPr>
                <a:t>Dual-Branch Architecture</a:t>
              </a:r>
              <a:endParaRPr lang="en-US" altLang="zh-CN" sz="1600" b="1" dirty="0">
                <a:solidFill>
                  <a:schemeClr val="accent1"/>
                </a:solidFill>
                <a:latin typeface="Arial" panose="020B0604020202090204" pitchFamily="34" charset="0"/>
                <a:ea typeface="+mn-ea"/>
                <a:cs typeface="Arial" panose="020B0604020202090204" pitchFamily="34" charset="0"/>
              </a:endParaRPr>
            </a:p>
          </p:txBody>
        </p:sp>
        <p:sp>
          <p:nvSpPr>
            <p:cNvPr id="24" name="TextBox 12"/>
            <p:cNvSpPr txBox="1"/>
            <p:nvPr/>
          </p:nvSpPr>
          <p:spPr>
            <a:xfrm>
              <a:off x="479425" y="4302760"/>
              <a:ext cx="8455660" cy="518795"/>
            </a:xfrm>
            <a:prstGeom prst="rect">
              <a:avLst/>
            </a:prstGeom>
            <a:noFill/>
            <a:ln>
              <a:noFill/>
            </a:ln>
          </p:spPr>
          <p:txBody>
            <a:bodyPr wrap="none" lIns="0" tIns="0" rIns="0" bIns="0" anchor="t" anchorCtr="0">
              <a:spAutoFit/>
            </a:bodyPr>
            <a:lstStyle/>
            <a:p>
              <a:pPr algn="l">
                <a:lnSpc>
                  <a:spcPts val="2025"/>
                </a:lnSpc>
              </a:pPr>
              <a:r>
                <a:rPr lang="en-US" altLang="zh-CN" sz="1400" b="1" dirty="0">
                  <a:solidFill>
                    <a:schemeClr val="dk1"/>
                  </a:solidFill>
                  <a:latin typeface="Arial" panose="020B0604020202090204" pitchFamily="34" charset="0"/>
                  <a:ea typeface="+mn-ea"/>
                  <a:cs typeface="Arial" panose="020B0604020202090204" pitchFamily="34" charset="0"/>
                </a:rPr>
                <a:t>Filter Branch (tanh)</a:t>
              </a:r>
              <a:r>
                <a:rPr 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Captures non-linear feature representations and acoustic transformations.</a:t>
              </a:r>
              <a:br>
                <a:rPr lang="en-US" sz="1400" dirty="0">
                  <a:solidFill>
                    <a:schemeClr val="dk1"/>
                  </a:solidFill>
                  <a:latin typeface="Arial Regular" panose="020B0604020202090204" charset="0"/>
                  <a:ea typeface="+mn-ea"/>
                  <a:cs typeface="Arial Regular" panose="020B0604020202090204" charset="0"/>
                </a:rPr>
              </a:br>
              <a:r>
                <a:rPr lang="en-US" altLang="zh-CN" sz="1400" b="1" dirty="0">
                  <a:solidFill>
                    <a:schemeClr val="dk1"/>
                  </a:solidFill>
                  <a:latin typeface="Arial" panose="020B0604020202090204" pitchFamily="34" charset="0"/>
                  <a:ea typeface="+mn-ea"/>
                  <a:cs typeface="Arial" panose="020B0604020202090204" pitchFamily="34" charset="0"/>
                </a:rPr>
                <a:t>Gate Branch (sigma)</a:t>
              </a:r>
              <a:r>
                <a:rPr lang="en-US" sz="1400" dirty="0">
                  <a:solidFill>
                    <a:schemeClr val="dk1"/>
                  </a:solidFill>
                  <a:latin typeface="Arial Regular" panose="020B0604020202090204" charset="0"/>
                  <a:ea typeface="+mn-ea"/>
                  <a:cs typeface="Arial Regular" panose="020B0604020202090204" charset="0"/>
                </a:rPr>
                <a:t>: </a:t>
              </a:r>
              <a:r>
                <a:rPr lang="en-US" altLang="zh-CN" sz="1400" dirty="0">
                  <a:solidFill>
                    <a:schemeClr val="dk1"/>
                  </a:solidFill>
                  <a:latin typeface="Arial Regular" panose="020B0604020202090204" charset="0"/>
                  <a:ea typeface="+mn-ea"/>
                  <a:cs typeface="Arial Regular" panose="020B0604020202090204" charset="0"/>
                </a:rPr>
                <a:t>Acts as a learnable element-wise memory gate (0 → 1), regulating information flow. </a:t>
              </a:r>
              <a:endParaRPr lang="en-US" altLang="zh-CN" sz="1400" dirty="0">
                <a:solidFill>
                  <a:schemeClr val="dk1"/>
                </a:solidFill>
                <a:latin typeface="Arial Regular" panose="020B0604020202090204" charset="0"/>
                <a:ea typeface="+mn-ea"/>
                <a:cs typeface="Arial Regular" panose="020B0604020202090204" charset="0"/>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800" b="1" i="1">
                <a:solidFill>
                  <a:srgbClr val="0F172A"/>
                </a:solidFill>
                <a:latin typeface="Arial" panose="020B0604020202090204" pitchFamily="34" charset="0"/>
                <a:ea typeface="Arial" panose="020B0604020202090204"/>
                <a:cs typeface="Arial" panose="020B0604020202090204" pitchFamily="34" charset="0"/>
              </a:rPr>
              <a:t>μ</a:t>
            </a:r>
            <a:r>
              <a:rPr sz="2800" b="1" i="0">
                <a:solidFill>
                  <a:srgbClr val="0F172A"/>
                </a:solidFill>
                <a:latin typeface="Arial" panose="020B0604020202090204"/>
                <a:ea typeface="Arial" panose="020B0604020202090204"/>
                <a:cs typeface="Arial" panose="020B0604020202090204"/>
              </a:rPr>
              <a:t>-law </a:t>
            </a:r>
            <a:r>
              <a:rPr lang="en-US" sz="2800" b="1" i="0">
                <a:solidFill>
                  <a:srgbClr val="0F172A"/>
                </a:solidFill>
                <a:latin typeface="Arial" panose="020B0604020202090204"/>
                <a:ea typeface="Arial" panose="020B0604020202090204"/>
                <a:cs typeface="Arial" panose="020B0604020202090204"/>
              </a:rPr>
              <a:t>C</a:t>
            </a:r>
            <a:r>
              <a:rPr sz="2800" b="1" i="0">
                <a:solidFill>
                  <a:srgbClr val="0F172A"/>
                </a:solidFill>
                <a:latin typeface="Arial" panose="020B0604020202090204"/>
                <a:ea typeface="Arial" panose="020B0604020202090204"/>
                <a:cs typeface="Arial" panose="020B0604020202090204"/>
              </a:rPr>
              <a:t>ompanding</a:t>
            </a:r>
            <a:r>
              <a:rPr lang="en-US" sz="2800" b="1" i="0">
                <a:solidFill>
                  <a:srgbClr val="0F172A"/>
                </a:solidFill>
                <a:latin typeface="Arial" panose="020B0604020202090204"/>
                <a:ea typeface="Arial" panose="020B0604020202090204"/>
                <a:cs typeface="Arial" panose="020B0604020202090204"/>
              </a:rPr>
              <a:t>:</a:t>
            </a:r>
            <a:r>
              <a:rPr sz="2800" b="1" i="0">
                <a:solidFill>
                  <a:srgbClr val="0F172A"/>
                </a:solidFill>
                <a:latin typeface="Arial" panose="020B0604020202090204"/>
                <a:ea typeface="Arial" panose="020B0604020202090204"/>
                <a:cs typeface="Arial" panose="020B0604020202090204"/>
              </a:rPr>
              <a:t> </a:t>
            </a:r>
            <a:r>
              <a:rPr lang="en-US" altLang="zh-CN" sz="2800" b="1" i="0">
                <a:solidFill>
                  <a:srgbClr val="0F172A"/>
                </a:solidFill>
                <a:latin typeface="Arial" panose="020B0604020202090204"/>
                <a:ea typeface="Arial" panose="020B0604020202090204"/>
                <a:cs typeface="Arial" panose="020B0604020202090204"/>
              </a:rPr>
              <a:t>Making Waveform Classification Tractable</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5" name="图片 14"/>
          <p:cNvPicPr>
            <a:picLocks noChangeAspect="1"/>
          </p:cNvPicPr>
          <p:nvPr/>
        </p:nvPicPr>
        <p:blipFill>
          <a:blip r:embed="rId1"/>
          <a:stretch>
            <a:fillRect/>
          </a:stretch>
        </p:blipFill>
        <p:spPr>
          <a:xfrm>
            <a:off x="1343660" y="1734185"/>
            <a:ext cx="3287395" cy="628650"/>
          </a:xfrm>
          <a:prstGeom prst="rect">
            <a:avLst/>
          </a:prstGeom>
        </p:spPr>
      </p:pic>
      <p:pic>
        <p:nvPicPr>
          <p:cNvPr id="16" name="图片 15"/>
          <p:cNvPicPr>
            <a:picLocks noChangeAspect="1"/>
          </p:cNvPicPr>
          <p:nvPr/>
        </p:nvPicPr>
        <p:blipFill>
          <a:blip r:embed="rId2"/>
          <a:stretch>
            <a:fillRect/>
          </a:stretch>
        </p:blipFill>
        <p:spPr>
          <a:xfrm>
            <a:off x="7104380" y="1125386"/>
            <a:ext cx="4095750" cy="2850819"/>
          </a:xfrm>
          <a:prstGeom prst="rect">
            <a:avLst/>
          </a:prstGeom>
        </p:spPr>
      </p:pic>
      <p:sp>
        <p:nvSpPr>
          <p:cNvPr id="7" name="矩形 6"/>
          <p:cNvSpPr>
            <a:spLocks noGrp="1"/>
          </p:cNvSpPr>
          <p:nvPr/>
        </p:nvSpPr>
        <p:spPr>
          <a:xfrm>
            <a:off x="335280" y="3268980"/>
            <a:ext cx="3292475" cy="323850"/>
          </a:xfrm>
          <a:prstGeom prst="rect">
            <a:avLst/>
          </a:prstGeom>
          <a:noFill/>
          <a:ln w="0">
            <a:noFill/>
            <a:prstDash val="solid"/>
          </a:ln>
        </p:spPr>
        <p:txBody>
          <a:bodyPr wrap="square" lIns="0" tIns="0" rIns="0" bIns="0" anchor="t"/>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600" b="1" i="0">
                <a:solidFill>
                  <a:srgbClr val="1E40AF"/>
                </a:solidFill>
                <a:latin typeface="Arial" panose="020B0604020202090204"/>
                <a:ea typeface="Arial" panose="020B0604020202090204"/>
                <a:cs typeface="Arial" panose="020B0604020202090204"/>
              </a:rPr>
              <a:t>Why Quantize &amp; Compress?</a:t>
            </a:r>
            <a:endParaRPr lang="en-US" altLang="zh-CN" sz="1600" b="1" i="0">
              <a:solidFill>
                <a:srgbClr val="1E40AF"/>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23570" y="3716655"/>
            <a:ext cx="5582285" cy="2519045"/>
          </a:xfrm>
          <a:prstGeom prst="rect">
            <a:avLst/>
          </a:prstGeom>
          <a:noFill/>
          <a:ln w="0">
            <a:noFill/>
            <a:prstDash val="solid"/>
          </a:ln>
        </p:spPr>
        <p:txBody>
          <a:bodyPr wrap="square" lIns="0" tIns="0" rIns="0" bIns="0" anchor="t">
            <a:normAutofit fontScale="90000"/>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Feasibility Challenge: </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Standard 16-bit PCM WAV audio has 65,536 possible amplitude values per sample.</a:t>
            </a: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Tractable Classification:</a:t>
            </a:r>
            <a:r>
              <a:rPr lang="en-US" altLang="zh-CN" sz="1425" b="0" i="0">
                <a:solidFill>
                  <a:srgbClr val="334155"/>
                </a:solidFill>
                <a:latin typeface="Arial" panose="020B0604020202090204"/>
                <a:ea typeface="Arial" panose="020B0604020202090204"/>
                <a:cs typeface="Arial" panose="020B0604020202090204"/>
              </a:rPr>
              <a:t> </a:t>
            </a: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Training a 256-way Softmax layer is computationally tractable and converges far easier than a 65,536-way Softmax.</a:t>
            </a: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25"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Logarithmic Quantization:</a:t>
            </a:r>
            <a:r>
              <a:rPr lang="en-US" altLang="zh-CN" sz="1425" b="1" i="0">
                <a:solidFill>
                  <a:srgbClr val="334155"/>
                </a:solidFill>
                <a:latin typeface="Arial" panose="020B0604020202090204" pitchFamily="34" charset="0"/>
                <a:ea typeface="Arial" panose="020B0604020202090204"/>
                <a:cs typeface="Arial" panose="020B0604020202090204" pitchFamily="34" charset="0"/>
              </a:rPr>
              <a:t> </a:t>
            </a:r>
            <a:endParaRPr lang="en-US" altLang="zh-CN" sz="1425"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Reallocates dense quantization levels where human perception needs them most.</a:t>
            </a:r>
            <a:endParaRPr lang="en-US" altLang="zh-CN" sz="1425" b="0" i="0">
              <a:solidFill>
                <a:srgbClr val="334155"/>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816090" y="4149090"/>
            <a:ext cx="4598670" cy="363855"/>
          </a:xfrm>
          <a:prstGeom prst="rect">
            <a:avLst/>
          </a:prstGeom>
          <a:noFill/>
          <a:ln w="0">
            <a:noFill/>
            <a:prstDash val="solid"/>
          </a:ln>
        </p:spPr>
        <p:txBody>
          <a:bodyPr wrap="square" lIns="0" tIns="0" rIns="0" bIns="0" anchor="t">
            <a:normAutofit/>
          </a:bodyPr>
          <a:lstStyle/>
          <a:p>
            <a:pPr algn="l">
              <a:lnSpc>
                <a:spcPct val="110000"/>
              </a:lnSpc>
              <a:buNone/>
              <a:defRPr sz="1575" b="1" i="0">
                <a:solidFill>
                  <a:srgbClr val="D97706"/>
                </a:solidFill>
                <a:latin typeface="Arial" panose="020B0604020202090204"/>
                <a:ea typeface="Arial" panose="020B0604020202090204"/>
                <a:cs typeface="Arial" panose="020B0604020202090204"/>
              </a:defRPr>
            </a:pPr>
            <a:r>
              <a:rPr lang="en-US" altLang="zh-CN" sz="1575" b="1" i="0">
                <a:solidFill>
                  <a:srgbClr val="D97706"/>
                </a:solidFill>
                <a:latin typeface="Arial" panose="020B0604020202090204"/>
                <a:ea typeface="Arial" panose="020B0604020202090204"/>
                <a:cs typeface="Arial" panose="020B0604020202090204"/>
              </a:rPr>
              <a:t>Perceptual Link — Psychoacoustic Motivation</a:t>
            </a:r>
            <a:endParaRPr lang="en-US" altLang="zh-CN" sz="1575" b="1" i="0">
              <a:solidFill>
                <a:srgbClr val="D97706"/>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816090" y="4581525"/>
            <a:ext cx="4914265" cy="1536065"/>
          </a:xfrm>
          <a:prstGeom prst="rect">
            <a:avLst/>
          </a:prstGeom>
          <a:noFill/>
          <a:ln w="0">
            <a:noFill/>
            <a:prstDash val="solid"/>
          </a:ln>
        </p:spPr>
        <p:txBody>
          <a:bodyPr wrap="square" lIns="0" tIns="0" rIns="0" bIns="0" anchor="t"/>
          <a:lstStyle/>
          <a:p>
            <a:pPr algn="l">
              <a:lnSpc>
                <a:spcPct val="110000"/>
              </a:lnSpc>
              <a:buNone/>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High Resolution for Low Amplitudes: </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a:p>
            <a:pPr marL="171450" indent="-1714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300" b="0" i="0">
                <a:solidFill>
                  <a:srgbClr val="334155"/>
                </a:solidFill>
                <a:latin typeface="Arial" panose="020B0604020202090204"/>
                <a:ea typeface="Arial" panose="020B0604020202090204"/>
                <a:cs typeface="Arial" panose="020B0604020202090204"/>
              </a:rPr>
              <a:t>Human hearing is non-linear and far more sensitive to small amplitude variations in quiet sound segments.</a:t>
            </a:r>
            <a:endParaRPr lang="en-US" altLang="zh-CN" sz="1300" b="0" i="0">
              <a:solidFill>
                <a:srgbClr val="334155"/>
              </a:solidFill>
              <a:latin typeface="Arial" panose="020B0604020202090204"/>
              <a:ea typeface="Arial" panose="020B0604020202090204"/>
              <a:cs typeface="Arial" panose="020B0604020202090204"/>
            </a:endParaRPr>
          </a:p>
          <a:p>
            <a:pPr marL="171450" indent="-1714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300" b="0" i="0">
              <a:solidFill>
                <a:srgbClr val="334155"/>
              </a:solidFill>
              <a:latin typeface="Arial" panose="020B0604020202090204"/>
              <a:ea typeface="Arial" panose="020B0604020202090204"/>
              <a:cs typeface="Arial" panose="020B0604020202090204"/>
            </a:endParaRPr>
          </a:p>
          <a:p>
            <a:pPr indent="0" algn="l">
              <a:lnSpc>
                <a:spcPct val="110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Coarser Quantization for Loud Peaks:</a:t>
            </a:r>
            <a:endParaRPr lang="en-US" altLang="zh-CN" sz="1400" b="1" i="0">
              <a:solidFill>
                <a:srgbClr val="334155"/>
              </a:solidFill>
              <a:latin typeface="Arial" panose="020B0604020202090204" pitchFamily="34" charset="0"/>
              <a:ea typeface="Arial" panose="020B0604020202090204"/>
              <a:cs typeface="Arial" panose="020B0604020202090204" pitchFamily="34" charset="0"/>
            </a:endParaRPr>
          </a:p>
          <a:p>
            <a:pPr marL="171450" indent="-1714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300" b="0" i="0">
                <a:solidFill>
                  <a:srgbClr val="334155"/>
                </a:solidFill>
                <a:latin typeface="Arial" panose="020B0604020202090204"/>
                <a:ea typeface="Arial" panose="020B0604020202090204"/>
                <a:cs typeface="Arial" panose="020B0604020202090204"/>
              </a:rPr>
              <a:t>High-amplitude peaks mask quantization noise, allowing coarser binning without perceptual degradation.</a:t>
            </a:r>
            <a:endParaRPr lang="en-US" altLang="zh-CN" sz="1300" b="0" i="0">
              <a:solidFill>
                <a:srgbClr val="334155"/>
              </a:solidFill>
              <a:latin typeface="Arial" panose="020B0604020202090204"/>
              <a:ea typeface="Arial" panose="020B0604020202090204"/>
              <a:cs typeface="Arial" panose="020B0604020202090204"/>
            </a:endParaRPr>
          </a:p>
        </p:txBody>
      </p:sp>
      <p:sp>
        <p:nvSpPr>
          <p:cNvPr id="5" name="矩形 4"/>
          <p:cNvSpPr>
            <a:spLocks noGrp="1"/>
          </p:cNvSpPr>
          <p:nvPr/>
        </p:nvSpPr>
        <p:spPr>
          <a:xfrm>
            <a:off x="442595" y="1123950"/>
            <a:ext cx="2381250" cy="323850"/>
          </a:xfrm>
          <a:prstGeom prst="rect">
            <a:avLst/>
          </a:prstGeom>
          <a:noFill/>
          <a:ln w="0">
            <a:noFill/>
            <a:prstDash val="solid"/>
          </a:ln>
        </p:spPr>
        <p:txBody>
          <a:bodyPr wrap="square" lIns="0" tIns="0" rIns="0" bIns="0" anchor="t"/>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600" b="1" i="0">
                <a:solidFill>
                  <a:srgbClr val="1E40AF"/>
                </a:solidFill>
                <a:latin typeface="Arial" panose="020B0604020202090204"/>
                <a:ea typeface="Arial" panose="020B0604020202090204"/>
                <a:cs typeface="Arial" panose="020B0604020202090204"/>
              </a:rPr>
              <a:t>Mathematical Definition</a:t>
            </a:r>
            <a:endParaRPr lang="en-US" altLang="zh-CN" sz="1600" b="1" i="0">
              <a:solidFill>
                <a:srgbClr val="1E40AF"/>
              </a:solidFill>
              <a:latin typeface="Arial" panose="020B0604020202090204"/>
              <a:ea typeface="Arial" panose="020B0604020202090204"/>
              <a:cs typeface="Arial" panose="020B0604020202090204"/>
            </a:endParaRPr>
          </a:p>
        </p:txBody>
      </p:sp>
      <p:sp>
        <p:nvSpPr>
          <p:cNvPr id="6" name="文本框 5"/>
          <p:cNvSpPr txBox="1"/>
          <p:nvPr/>
        </p:nvSpPr>
        <p:spPr>
          <a:xfrm>
            <a:off x="335280" y="2488565"/>
            <a:ext cx="6500495" cy="306705"/>
          </a:xfrm>
          <a:prstGeom prst="rect">
            <a:avLst/>
          </a:prstGeom>
          <a:noFill/>
        </p:spPr>
        <p:txBody>
          <a:bodyPr wrap="square" rtlCol="0">
            <a:spAutoFit/>
          </a:bodyPr>
          <a:p>
            <a:r>
              <a:rPr lang="en-US" altLang="zh-CN" sz="1400">
                <a:latin typeface="Arial" panose="020B0604020202090204" pitchFamily="34" charset="0"/>
                <a:cs typeface="Arial" panose="020B0604020202090204" pitchFamily="34" charset="0"/>
              </a:rPr>
              <a:t>(Where </a:t>
            </a:r>
            <a:r>
              <a:rPr sz="1400" b="1" i="1">
                <a:solidFill>
                  <a:srgbClr val="0F172A"/>
                </a:solidFill>
                <a:latin typeface="Arial" panose="020B0604020202090204" pitchFamily="34" charset="0"/>
                <a:ea typeface="Arial" panose="020B0604020202090204"/>
                <a:cs typeface="Arial" panose="020B0604020202090204" pitchFamily="34" charset="0"/>
                <a:sym typeface="+mn-ea"/>
              </a:rPr>
              <a:t>μ</a:t>
            </a:r>
            <a:r>
              <a:rPr lang="en-US" altLang="zh-CN" sz="1400" b="1">
                <a:latin typeface="Arial" panose="020B0604020202090204" pitchFamily="34" charset="0"/>
                <a:cs typeface="Arial" panose="020B0604020202090204" pitchFamily="34" charset="0"/>
              </a:rPr>
              <a:t> = 255</a:t>
            </a:r>
            <a:r>
              <a:rPr lang="en-US" altLang="zh-CN" sz="1400">
                <a:latin typeface="Arial" panose="020B0604020202090204" pitchFamily="34" charset="0"/>
                <a:cs typeface="Arial" panose="020B0604020202090204" pitchFamily="34" charset="0"/>
              </a:rPr>
              <a:t> to compress continuous amplitudes into 256 quantization bins).</a:t>
            </a:r>
            <a:endParaRPr lang="en-US" altLang="zh-CN" sz="1400">
              <a:latin typeface="Arial" panose="020B0604020202090204" pitchFamily="34" charset="0"/>
              <a:cs typeface="Arial" panose="020B060402020209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452755"/>
            <a:ext cx="11125200" cy="476250"/>
          </a:xfrm>
          <a:prstGeom prst="rect">
            <a:avLst/>
          </a:prstGeom>
          <a:noFill/>
          <a:ln w="0">
            <a:noFill/>
            <a:prstDash val="solid"/>
          </a:ln>
        </p:spPr>
        <p:txBody>
          <a:bodyPr wrap="square" lIns="0" tIns="0" rIns="0" bIns="0" anchor="t"/>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400" b="1" i="0">
                <a:solidFill>
                  <a:srgbClr val="0F172A"/>
                </a:solidFill>
                <a:latin typeface="Arial" panose="020B0604020202090204"/>
                <a:ea typeface="Arial" panose="020B0604020202090204"/>
                <a:cs typeface="Arial" panose="020B0604020202090204"/>
              </a:rPr>
              <a:t>Vocoder Evolution : Improving Quality, Eliminating Serial Bottlenecks</a:t>
            </a:r>
            <a:endParaRPr lang="en-US" altLang="zh-CN" sz="24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39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graphicFrame>
        <p:nvGraphicFramePr>
          <p:cNvPr id="11" name="表格 10"/>
          <p:cNvGraphicFramePr/>
          <p:nvPr/>
        </p:nvGraphicFramePr>
        <p:xfrm>
          <a:off x="428625" y="1572260"/>
          <a:ext cx="11334750" cy="3143250"/>
        </p:xfrm>
        <a:graphic>
          <a:graphicData uri="http://schemas.openxmlformats.org/drawingml/2006/table">
            <a:tbl>
              <a:tblPr firstRow="1"/>
              <a:tblGrid>
                <a:gridCol w="2266950"/>
                <a:gridCol w="2266950"/>
                <a:gridCol w="2266950"/>
                <a:gridCol w="2266950"/>
                <a:gridCol w="2266950"/>
              </a:tblGrid>
              <a:tr h="628650">
                <a:tc>
                  <a:txBody>
                    <a:bodyPr>
                      <a:spAutoFit/>
                    </a:bodyPr>
                    <a:lstStyle/>
                    <a:p>
                      <a:r>
                        <a:rPr sz="1400" b="1">
                          <a:solidFill>
                            <a:srgbClr val="111827"/>
                          </a:solidFill>
                          <a:latin typeface="Arial" panose="020B0604020202090204"/>
                          <a:ea typeface="Arial" panose="020B0604020202090204"/>
                          <a:cs typeface="Arial" panose="020B0604020202090204"/>
                        </a:rPr>
                        <a:t>Generation</a:t>
                      </a:r>
                      <a:endParaRPr sz="1400" b="1">
                        <a:solidFill>
                          <a:srgbClr val="111827"/>
                        </a:solidFill>
                        <a:latin typeface="Arial" panose="020B0604020202090204"/>
                        <a:ea typeface="Arial" panose="020B0604020202090204"/>
                        <a:cs typeface="Arial" panose="020B0604020202090204"/>
                      </a:endParaRPr>
                    </a:p>
                  </a:txBody>
                  <a:tcPr anchor="ctr">
                    <a:solidFill>
                      <a:schemeClr val="tx2">
                        <a:lumMod val="25000"/>
                        <a:lumOff val="75000"/>
                      </a:schemeClr>
                    </a:solidFill>
                  </a:tcPr>
                </a:tc>
                <a:tc>
                  <a:txBody>
                    <a:bodyPr>
                      <a:spAutoFit/>
                    </a:bodyPr>
                    <a:lstStyle/>
                    <a:p>
                      <a:r>
                        <a:rPr sz="1400" b="1">
                          <a:solidFill>
                            <a:srgbClr val="111827"/>
                          </a:solidFill>
                          <a:latin typeface="Arial" panose="020B0604020202090204"/>
                          <a:ea typeface="Arial" panose="020B0604020202090204"/>
                          <a:cs typeface="Arial" panose="020B0604020202090204"/>
                        </a:rPr>
                        <a:t>Model</a:t>
                      </a:r>
                      <a:endParaRPr sz="1400" b="1">
                        <a:solidFill>
                          <a:srgbClr val="111827"/>
                        </a:solidFill>
                        <a:latin typeface="Arial" panose="020B0604020202090204"/>
                        <a:ea typeface="Arial" panose="020B0604020202090204"/>
                        <a:cs typeface="Arial" panose="020B0604020202090204"/>
                      </a:endParaRPr>
                    </a:p>
                  </a:txBody>
                  <a:tcPr anchor="ctr">
                    <a:solidFill>
                      <a:schemeClr val="tx2">
                        <a:lumMod val="25000"/>
                        <a:lumOff val="75000"/>
                      </a:schemeClr>
                    </a:solidFill>
                  </a:tcPr>
                </a:tc>
                <a:tc>
                  <a:txBody>
                    <a:bodyPr>
                      <a:spAutoFit/>
                    </a:bodyPr>
                    <a:lstStyle/>
                    <a:p>
                      <a:r>
                        <a:rPr sz="1400" b="1">
                          <a:solidFill>
                            <a:srgbClr val="111827"/>
                          </a:solidFill>
                          <a:latin typeface="Arial" panose="020B0604020202090204"/>
                          <a:ea typeface="Arial" panose="020B0604020202090204"/>
                          <a:cs typeface="Arial" panose="020B0604020202090204"/>
                        </a:rPr>
                        <a:t>Conditioning</a:t>
                      </a:r>
                      <a:endParaRPr sz="1400" b="1">
                        <a:solidFill>
                          <a:srgbClr val="111827"/>
                        </a:solidFill>
                        <a:latin typeface="Arial" panose="020B0604020202090204"/>
                        <a:ea typeface="Arial" panose="020B0604020202090204"/>
                        <a:cs typeface="Arial" panose="020B0604020202090204"/>
                      </a:endParaRPr>
                    </a:p>
                  </a:txBody>
                  <a:tcPr anchor="ctr">
                    <a:solidFill>
                      <a:schemeClr val="tx2">
                        <a:lumMod val="25000"/>
                        <a:lumOff val="75000"/>
                      </a:schemeClr>
                    </a:solidFill>
                  </a:tcPr>
                </a:tc>
                <a:tc>
                  <a:txBody>
                    <a:bodyPr>
                      <a:spAutoFit/>
                    </a:bodyPr>
                    <a:lstStyle/>
                    <a:p>
                      <a:r>
                        <a:rPr sz="1400" b="1">
                          <a:solidFill>
                            <a:srgbClr val="111827"/>
                          </a:solidFill>
                          <a:latin typeface="Arial" panose="020B0604020202090204"/>
                          <a:ea typeface="Arial" panose="020B0604020202090204"/>
                          <a:cs typeface="Arial" panose="020B0604020202090204"/>
                        </a:rPr>
                        <a:t>Speed profile</a:t>
                      </a:r>
                      <a:endParaRPr sz="1400" b="1">
                        <a:solidFill>
                          <a:srgbClr val="111827"/>
                        </a:solidFill>
                        <a:latin typeface="Arial" panose="020B0604020202090204"/>
                        <a:ea typeface="Arial" panose="020B0604020202090204"/>
                        <a:cs typeface="Arial" panose="020B0604020202090204"/>
                      </a:endParaRPr>
                    </a:p>
                  </a:txBody>
                  <a:tcPr anchor="ctr">
                    <a:solidFill>
                      <a:schemeClr val="tx2">
                        <a:lumMod val="25000"/>
                        <a:lumOff val="75000"/>
                      </a:schemeClr>
                    </a:solidFill>
                  </a:tcPr>
                </a:tc>
                <a:tc>
                  <a:txBody>
                    <a:bodyPr>
                      <a:spAutoFit/>
                    </a:bodyPr>
                    <a:lstStyle/>
                    <a:p>
                      <a:r>
                        <a:rPr sz="1400" b="1">
                          <a:solidFill>
                            <a:srgbClr val="111827"/>
                          </a:solidFill>
                          <a:latin typeface="Arial" panose="020B0604020202090204"/>
                          <a:ea typeface="Arial" panose="020B0604020202090204"/>
                          <a:cs typeface="Arial" panose="020B0604020202090204"/>
                        </a:rPr>
                        <a:t>Key idea</a:t>
                      </a:r>
                      <a:endParaRPr sz="1400" b="1">
                        <a:solidFill>
                          <a:srgbClr val="111827"/>
                        </a:solidFill>
                        <a:latin typeface="Arial" panose="020B0604020202090204"/>
                        <a:ea typeface="Arial" panose="020B0604020202090204"/>
                        <a:cs typeface="Arial" panose="020B0604020202090204"/>
                      </a:endParaRPr>
                    </a:p>
                  </a:txBody>
                  <a:tcPr anchor="ctr">
                    <a:solidFill>
                      <a:schemeClr val="tx2">
                        <a:lumMod val="25000"/>
                        <a:lumOff val="75000"/>
                      </a:schemeClr>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1</a:t>
                      </a:r>
                      <a:endParaRPr sz="1200"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200" b="1">
                          <a:solidFill>
                            <a:srgbClr val="111827"/>
                          </a:solidFill>
                          <a:latin typeface="Arial" panose="020B0604020202090204" pitchFamily="34" charset="0"/>
                          <a:ea typeface="Arial" panose="020B0604020202090204"/>
                          <a:cs typeface="Arial" panose="020B0604020202090204" pitchFamily="34" charset="0"/>
                        </a:rPr>
                        <a:t>WaveNet</a:t>
                      </a:r>
                      <a:endParaRPr sz="12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Past waveform</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Very slow</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Autoregressive waveform modeling</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2</a:t>
                      </a:r>
                      <a:endParaRPr sz="1200"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200" b="1">
                          <a:solidFill>
                            <a:srgbClr val="111827"/>
                          </a:solidFill>
                          <a:latin typeface="Arial" panose="020B0604020202090204" pitchFamily="34" charset="0"/>
                          <a:ea typeface="Arial" panose="020B0604020202090204"/>
                          <a:cs typeface="Arial" panose="020B0604020202090204" pitchFamily="34" charset="0"/>
                        </a:rPr>
                        <a:t>Conditional WaveNet</a:t>
                      </a:r>
                      <a:endParaRPr sz="12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Past waveform + mel</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Very slow</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Content-controlled vocoding</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3</a:t>
                      </a:r>
                      <a:endParaRPr sz="1200"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200" b="1">
                          <a:solidFill>
                            <a:srgbClr val="111827"/>
                          </a:solidFill>
                          <a:latin typeface="Arial" panose="020B0604020202090204" pitchFamily="34" charset="0"/>
                          <a:ea typeface="Arial" panose="020B0604020202090204"/>
                          <a:cs typeface="Arial" panose="020B0604020202090204" pitchFamily="34" charset="0"/>
                        </a:rPr>
                        <a:t>Parallel WaveGAN</a:t>
                      </a:r>
                      <a:endParaRPr sz="12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Noise + mel</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Fast</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GAN + multi-resolution STFT</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4</a:t>
                      </a:r>
                      <a:endParaRPr sz="1200"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200" b="1">
                          <a:solidFill>
                            <a:srgbClr val="111827"/>
                          </a:solidFill>
                          <a:latin typeface="Arial" panose="020B0604020202090204" pitchFamily="34" charset="0"/>
                          <a:ea typeface="Arial" panose="020B0604020202090204"/>
                          <a:cs typeface="Arial" panose="020B0604020202090204" pitchFamily="34" charset="0"/>
                        </a:rPr>
                        <a:t>MelGAN / HiFi-GAN</a:t>
                      </a:r>
                      <a:endParaRPr sz="12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Mel</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Very fast</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Multi-scale / multi-period discrimination</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bl>
          </a:graphicData>
        </a:graphic>
      </p:graphicFrame>
      <p:sp>
        <p:nvSpPr>
          <p:cNvPr id="6" name="矩形 5"/>
          <p:cNvSpPr>
            <a:spLocks noGrp="1"/>
          </p:cNvSpPr>
          <p:nvPr/>
        </p:nvSpPr>
        <p:spPr>
          <a:xfrm>
            <a:off x="428625" y="5805170"/>
            <a:ext cx="10561320" cy="328930"/>
          </a:xfrm>
          <a:prstGeom prst="rect">
            <a:avLst/>
          </a:prstGeom>
          <a:noFill/>
          <a:ln w="0">
            <a:noFill/>
            <a:prstDash val="solid"/>
          </a:ln>
        </p:spPr>
        <p:txBody>
          <a:bodyPr wrap="square" lIns="0" tIns="0" rIns="0" bIns="0" anchor="t">
            <a:normAutofit/>
          </a:bodyPr>
          <a:lstStyle/>
          <a:p>
            <a:pPr algn="l">
              <a:lnSpc>
                <a:spcPct val="110000"/>
              </a:lnSpc>
              <a:buNone/>
              <a:defRPr sz="1650" b="0" i="1">
                <a:solidFill>
                  <a:srgbClr val="64748B"/>
                </a:solidFill>
                <a:latin typeface="Arial" panose="020B0604020202090204"/>
                <a:ea typeface="Arial" panose="020B0604020202090204"/>
                <a:cs typeface="Arial" panose="020B0604020202090204"/>
              </a:defRPr>
            </a:pPr>
            <a:r>
              <a:rPr lang="en-US" altLang="zh-CN" sz="1400" b="0" i="1">
                <a:solidFill>
                  <a:srgbClr val="64748B"/>
                </a:solidFill>
                <a:latin typeface="Arial" panose="020B0604020202090204"/>
                <a:ea typeface="Arial" panose="020B0604020202090204"/>
                <a:cs typeface="Arial" panose="020B0604020202090204"/>
              </a:rPr>
              <a:t>Core Transition: Shifted from Autoregressive (Sample-by-Sample) modeling to Non-Autoregressive GAN-based Parallel Generation.</a:t>
            </a:r>
            <a:endParaRPr lang="en-US" altLang="zh-CN" sz="1400" b="0" i="1">
              <a:solidFill>
                <a:srgbClr val="64748B"/>
              </a:solidFill>
              <a:latin typeface="Arial" panose="020B0604020202090204"/>
              <a:ea typeface="Arial" panose="020B0604020202090204"/>
              <a:cs typeface="Arial" panose="020B060402020209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Parallel WaveGAN : Non-Autoregressive Waveform Generation</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6383655" y="1669711"/>
            <a:ext cx="5143500" cy="3883068"/>
          </a:xfrm>
          <a:prstGeom prst="rect">
            <a:avLst/>
          </a:prstGeom>
        </p:spPr>
      </p:pic>
      <p:sp>
        <p:nvSpPr>
          <p:cNvPr id="6" name="矩形 5"/>
          <p:cNvSpPr>
            <a:spLocks noGrp="1"/>
          </p:cNvSpPr>
          <p:nvPr/>
        </p:nvSpPr>
        <p:spPr>
          <a:xfrm>
            <a:off x="479425" y="1700530"/>
            <a:ext cx="5782945" cy="323850"/>
          </a:xfrm>
          <a:prstGeom prst="rect">
            <a:avLst/>
          </a:prstGeom>
          <a:noFill/>
          <a:ln w="0">
            <a:noFill/>
            <a:prstDash val="solid"/>
          </a:ln>
        </p:spPr>
        <p:txBody>
          <a:bodyPr wrap="square" lIns="0" tIns="0" rIns="0" bIns="0" anchor="t"/>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1. WaveNet-based Non-Autoregressive Generator</a:t>
            </a:r>
            <a:endParaRPr lang="en-US" altLang="zh-CN" sz="18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481965" y="2204085"/>
            <a:ext cx="5711190" cy="138112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Receives random noise and an auxiliary mel condition.</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Outputs the whole waveform in parallel.</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Uses a WaveNet-like stack without autoregressive sampling.</a:t>
            </a:r>
            <a:endParaRPr sz="16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479425" y="3883025"/>
            <a:ext cx="4406265" cy="509905"/>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lang="en-US" altLang="zh-CN" sz="1650" b="1" i="0">
                <a:solidFill>
                  <a:srgbClr val="059669"/>
                </a:solidFill>
                <a:latin typeface="Arial" panose="020B0604020202090204"/>
                <a:ea typeface="Arial" panose="020B0604020202090204"/>
                <a:cs typeface="Arial" panose="020B0604020202090204"/>
              </a:rPr>
              <a:t>2. Additionally use Multi-STFT loss</a:t>
            </a:r>
            <a:endParaRPr lang="en-US" altLang="zh-CN" sz="1650" b="1" i="0">
              <a:solidFill>
                <a:srgbClr val="059669"/>
              </a:solidFill>
              <a:latin typeface="Arial" panose="020B0604020202090204"/>
              <a:ea typeface="Arial" panose="020B0604020202090204"/>
              <a:cs typeface="Arial" panose="020B0604020202090204"/>
            </a:endParaRPr>
          </a:p>
        </p:txBody>
      </p:sp>
      <p:sp>
        <p:nvSpPr>
          <p:cNvPr id="5" name="文本框 4"/>
          <p:cNvSpPr txBox="1"/>
          <p:nvPr/>
        </p:nvSpPr>
        <p:spPr>
          <a:xfrm>
            <a:off x="410210" y="1021715"/>
            <a:ext cx="10554335" cy="368300"/>
          </a:xfrm>
          <a:prstGeom prst="rect">
            <a:avLst/>
          </a:prstGeom>
          <a:noFill/>
        </p:spPr>
        <p:txBody>
          <a:bodyPr wrap="square" rtlCol="0">
            <a:spAutoFit/>
          </a:bodyPr>
          <a:p>
            <a:r>
              <a:rPr lang="en-US" altLang="zh-CN" b="1">
                <a:latin typeface="Arial" panose="020B0604020202090204" pitchFamily="34" charset="0"/>
                <a:cs typeface="Arial" panose="020B0604020202090204" pitchFamily="34" charset="0"/>
              </a:rPr>
              <a:t>Primary Problem Solved:</a:t>
            </a:r>
            <a:r>
              <a:rPr lang="en-US" altLang="zh-CN">
                <a:latin typeface="Arial" panose="020B0604020202090204" pitchFamily="34" charset="0"/>
                <a:cs typeface="Arial" panose="020B0604020202090204" pitchFamily="34" charset="0"/>
              </a:rPr>
              <a:t> Traditional WaveNet suffers from severe serial bottlenecks.</a:t>
            </a:r>
            <a:endParaRPr lang="en-US" altLang="zh-CN">
              <a:latin typeface="Arial" panose="020B0604020202090204" pitchFamily="34" charset="0"/>
              <a:cs typeface="Arial" panose="020B0604020202090204" pitchFamily="34" charset="0"/>
            </a:endParaRPr>
          </a:p>
        </p:txBody>
      </p:sp>
      <p:sp>
        <p:nvSpPr>
          <p:cNvPr id="12" name="文本框 11"/>
          <p:cNvSpPr txBox="1"/>
          <p:nvPr/>
        </p:nvSpPr>
        <p:spPr>
          <a:xfrm>
            <a:off x="410210" y="4425950"/>
            <a:ext cx="5782945" cy="1076325"/>
          </a:xfrm>
          <a:prstGeom prst="rect">
            <a:avLst/>
          </a:prstGeom>
          <a:noFill/>
        </p:spPr>
        <p:txBody>
          <a:bodyPr wrap="square" rtlCol="0">
            <a:spAutoFit/>
          </a:bodyPr>
          <a:p>
            <a:r>
              <a:rPr sz="1600">
                <a:solidFill>
                  <a:srgbClr val="334155"/>
                </a:solidFill>
                <a:latin typeface="Arial" panose="020B0604020202090204"/>
                <a:ea typeface="Arial" panose="020B0604020202090204"/>
                <a:cs typeface="Arial" panose="020B0604020202090204"/>
                <a:sym typeface="+mn-ea"/>
              </a:rPr>
              <a:t>• </a:t>
            </a:r>
            <a:r>
              <a:rPr lang="en-US" altLang="zh-CN" sz="1600">
                <a:latin typeface="Arial" panose="020B0604020202090204" pitchFamily="34" charset="0"/>
                <a:cs typeface="Arial" panose="020B0604020202090204" pitchFamily="34" charset="0"/>
              </a:rPr>
              <a:t>Remove the autoregressive mechanism</a:t>
            </a:r>
            <a:endParaRPr lang="en-US" altLang="zh-CN" sz="1600">
              <a:latin typeface="Arial" panose="020B0604020202090204" pitchFamily="34" charset="0"/>
              <a:cs typeface="Arial" panose="020B0604020202090204" pitchFamily="34" charset="0"/>
            </a:endParaRPr>
          </a:p>
          <a:p>
            <a:endParaRPr sz="1600">
              <a:solidFill>
                <a:srgbClr val="334155"/>
              </a:solidFill>
              <a:latin typeface="Arial" panose="020B0604020202090204"/>
              <a:ea typeface="Arial" panose="020B0604020202090204"/>
              <a:cs typeface="Arial" panose="020B0604020202090204"/>
              <a:sym typeface="+mn-ea"/>
            </a:endParaRPr>
          </a:p>
          <a:p>
            <a:r>
              <a:rPr sz="1600">
                <a:solidFill>
                  <a:srgbClr val="334155"/>
                </a:solidFill>
                <a:latin typeface="Arial" panose="020B0604020202090204"/>
                <a:ea typeface="Arial" panose="020B0604020202090204"/>
                <a:cs typeface="Arial" panose="020B0604020202090204"/>
                <a:sym typeface="+mn-ea"/>
              </a:rPr>
              <a:t>• </a:t>
            </a:r>
            <a:r>
              <a:rPr lang="en-US" sz="1600">
                <a:solidFill>
                  <a:srgbClr val="334155"/>
                </a:solidFill>
                <a:latin typeface="Arial" panose="020B0604020202090204"/>
                <a:ea typeface="Arial" panose="020B0604020202090204"/>
                <a:cs typeface="Arial" panose="020B0604020202090204"/>
                <a:sym typeface="+mn-ea"/>
              </a:rPr>
              <a:t>A</a:t>
            </a:r>
            <a:r>
              <a:rPr lang="en-US" altLang="zh-CN" sz="1600">
                <a:latin typeface="Arial" panose="020B0604020202090204" pitchFamily="34" charset="0"/>
                <a:cs typeface="Arial" panose="020B0604020202090204" pitchFamily="34" charset="0"/>
                <a:sym typeface="+mn-ea"/>
              </a:rPr>
              <a:t>dopt GAN + STFT loss to ensure stable training and sound quality.</a:t>
            </a:r>
            <a:endParaRPr lang="en-US" altLang="zh-CN" sz="1600">
              <a:latin typeface="Arial" panose="020B0604020202090204" pitchFamily="34" charset="0"/>
              <a:cs typeface="Arial" panose="020B0604020202090204" pitchFamily="34" charset="0"/>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48030" cy="114935"/>
          </a:xfrm>
          <a:prstGeom prst="rect">
            <a:avLst/>
          </a:prstGeom>
          <a:noFill/>
          <a:ln>
            <a:noFill/>
          </a:ln>
        </p:spPr>
        <p:txBody>
          <a:bodyPr wrap="none" lIns="0" tIns="0" rIns="0" bIns="0" anchor="t" anchorCtr="0">
            <a:spAutoFit/>
          </a:bodyPr>
          <a:lstStyle/>
          <a:p>
            <a:pPr algn="l"/>
            <a:r>
              <a:rPr lang="en-US" sz="750" dirty="0">
                <a:solidFill>
                  <a:srgbClr val="64748B"/>
                </a:solidFill>
                <a:latin typeface="Arial Regular" panose="020B0604020202090204" charset="0"/>
                <a:ea typeface="+mn-ea"/>
                <a:cs typeface="Arial Regular" panose="020B0604020202090204" charset="0"/>
              </a:rPr>
              <a:t>VOCODER          </a:t>
            </a:r>
            <a:endParaRPr lang="en-US" sz="750" dirty="0">
              <a:solidFill>
                <a:srgbClr val="64748B"/>
              </a:solidFill>
              <a:latin typeface="Arial Regular" panose="020B0604020202090204" charset="0"/>
              <a:ea typeface="+mn-ea"/>
              <a:cs typeface="Arial Regular" panose="020B0604020202090204" charset="0"/>
            </a:endParaRPr>
          </a:p>
        </p:txBody>
      </p:sp>
      <p:sp>
        <p:nvSpPr>
          <p:cNvPr id="3" name="TextBox 3"/>
          <p:cNvSpPr txBox="1"/>
          <p:nvPr/>
        </p:nvSpPr>
        <p:spPr>
          <a:xfrm>
            <a:off x="501396" y="467678"/>
            <a:ext cx="922337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Multi-Resolution STFT Loss : Time-Frequency Balance</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grpSp>
        <p:nvGrpSpPr>
          <p:cNvPr id="6" name="Group 6"/>
          <p:cNvGrpSpPr/>
          <p:nvPr/>
        </p:nvGrpSpPr>
        <p:grpSpPr>
          <a:xfrm>
            <a:off x="514350" y="1152525"/>
            <a:ext cx="5715000" cy="2352675"/>
            <a:chOff x="514350" y="1152525"/>
            <a:chExt cx="5715000" cy="2352675"/>
          </a:xfrm>
        </p:grpSpPr>
        <p:pic>
          <p:nvPicPr>
            <p:cNvPr id="5" name="Image 5"/>
            <p:cNvPicPr>
              <a:picLocks noChangeAspect="1"/>
            </p:cNvPicPr>
            <p:nvPr/>
          </p:nvPicPr>
          <p:blipFill>
            <a:blip r:embed="rId1"/>
            <a:stretch>
              <a:fillRect/>
            </a:stretch>
          </p:blipFill>
          <p:spPr>
            <a:xfrm>
              <a:off x="514350" y="1152525"/>
              <a:ext cx="5715000" cy="2352675"/>
            </a:xfrm>
            <a:prstGeom prst="rect">
              <a:avLst/>
            </a:prstGeom>
          </p:spPr>
        </p:pic>
      </p:grpSp>
      <p:grpSp>
        <p:nvGrpSpPr>
          <p:cNvPr id="8" name="Group 8"/>
          <p:cNvGrpSpPr/>
          <p:nvPr/>
        </p:nvGrpSpPr>
        <p:grpSpPr>
          <a:xfrm>
            <a:off x="514350" y="3781425"/>
            <a:ext cx="5715000" cy="1857375"/>
            <a:chOff x="514350" y="3781425"/>
            <a:chExt cx="5715000" cy="1857375"/>
          </a:xfrm>
        </p:grpSpPr>
        <p:pic>
          <p:nvPicPr>
            <p:cNvPr id="7" name="Image 7"/>
            <p:cNvPicPr>
              <a:picLocks noChangeAspect="1"/>
            </p:cNvPicPr>
            <p:nvPr/>
          </p:nvPicPr>
          <p:blipFill>
            <a:blip r:embed="rId2"/>
            <a:stretch>
              <a:fillRect/>
            </a:stretch>
          </p:blipFill>
          <p:spPr>
            <a:xfrm>
              <a:off x="514350" y="3781425"/>
              <a:ext cx="5715000" cy="1857375"/>
            </a:xfrm>
            <a:prstGeom prst="rect">
              <a:avLst/>
            </a:prstGeom>
          </p:spPr>
        </p:pic>
      </p:grpSp>
      <p:grpSp>
        <p:nvGrpSpPr>
          <p:cNvPr id="11" name="Group 11"/>
          <p:cNvGrpSpPr/>
          <p:nvPr/>
        </p:nvGrpSpPr>
        <p:grpSpPr>
          <a:xfrm>
            <a:off x="6640068" y="1241108"/>
            <a:ext cx="4625975" cy="1137285"/>
            <a:chOff x="6640068" y="1241108"/>
            <a:chExt cx="4625975" cy="1137285"/>
          </a:xfrm>
        </p:grpSpPr>
        <p:sp>
          <p:nvSpPr>
            <p:cNvPr id="9" name="TextBox 9"/>
            <p:cNvSpPr txBox="1"/>
            <p:nvPr/>
          </p:nvSpPr>
          <p:spPr>
            <a:xfrm>
              <a:off x="6640068" y="1241108"/>
              <a:ext cx="3962400" cy="276860"/>
            </a:xfrm>
            <a:prstGeom prst="rect">
              <a:avLst/>
            </a:prstGeom>
            <a:noFill/>
            <a:ln>
              <a:noFill/>
            </a:ln>
          </p:spPr>
          <p:txBody>
            <a:bodyPr wrap="none" lIns="0" tIns="0" rIns="0" bIns="0" anchor="t" anchorCtr="0">
              <a:spAutoFit/>
            </a:bodyPr>
            <a:lstStyle/>
            <a:p>
              <a:pPr algn="l"/>
              <a:r>
                <a:rPr lang="en-US" b="1" dirty="0">
                  <a:solidFill>
                    <a:schemeClr val="accent1"/>
                  </a:solidFill>
                  <a:latin typeface="Arial" panose="020B0604020202090204" pitchFamily="34" charset="0"/>
                  <a:ea typeface="+mn-ea"/>
                  <a:cs typeface="Arial" panose="020B0604020202090204" pitchFamily="34" charset="0"/>
                </a:rPr>
                <a:t>Several views of the same waveform</a:t>
              </a:r>
              <a:endParaRPr lang="en-US" b="1" dirty="0">
                <a:solidFill>
                  <a:schemeClr val="accent1"/>
                </a:solidFill>
                <a:latin typeface="Arial" panose="020B0604020202090204" pitchFamily="34" charset="0"/>
                <a:ea typeface="+mn-ea"/>
                <a:cs typeface="Arial" panose="020B0604020202090204" pitchFamily="34" charset="0"/>
              </a:endParaRPr>
            </a:p>
          </p:txBody>
        </p:sp>
        <p:sp>
          <p:nvSpPr>
            <p:cNvPr id="10" name="TextBox 10"/>
            <p:cNvSpPr txBox="1"/>
            <p:nvPr/>
          </p:nvSpPr>
          <p:spPr>
            <a:xfrm>
              <a:off x="6640703" y="1599883"/>
              <a:ext cx="4625340" cy="778510"/>
            </a:xfrm>
            <a:prstGeom prst="rect">
              <a:avLst/>
            </a:prstGeom>
            <a:noFill/>
            <a:ln>
              <a:noFill/>
            </a:ln>
          </p:spPr>
          <p:txBody>
            <a:bodyPr wrap="square" lIns="0" tIns="0" rIns="0" bIns="0" anchor="t" anchorCtr="0">
              <a:spAutoFit/>
            </a:bodyPr>
            <a:lstStyle/>
            <a:p>
              <a:pPr marL="285750" indent="-285750" algn="l">
                <a:lnSpc>
                  <a:spcPts val="2025"/>
                </a:lnSpc>
                <a:buFont typeface="Arial" panose="020B0604020202090204" pitchFamily="34" charset="0"/>
                <a:buChar char="•"/>
              </a:pPr>
              <a:r>
                <a:rPr lang="en-US" sz="1500" b="1" dirty="0">
                  <a:solidFill>
                    <a:schemeClr val="dk1"/>
                  </a:solidFill>
                  <a:latin typeface="Arial" panose="020B0604020202090204" pitchFamily="34" charset="0"/>
                  <a:ea typeface="+mn-ea"/>
                  <a:cs typeface="Arial" panose="020B0604020202090204" pitchFamily="34" charset="0"/>
                </a:rPr>
                <a:t>Short windows</a:t>
              </a:r>
              <a:r>
                <a:rPr lang="en-US" sz="1500" dirty="0">
                  <a:solidFill>
                    <a:schemeClr val="dk1"/>
                  </a:solidFill>
                  <a:latin typeface="Arial Regular" panose="020B0604020202090204" charset="0"/>
                  <a:ea typeface="+mn-ea"/>
                  <a:cs typeface="Arial Regular" panose="020B0604020202090204" charset="0"/>
                </a:rPr>
                <a:t> emphasize temporal detail.</a:t>
              </a:r>
              <a:endParaRPr lang="en-US" sz="1500" dirty="0">
                <a:solidFill>
                  <a:schemeClr val="dk1"/>
                </a:solidFill>
                <a:latin typeface="Arial Regular" panose="020B0604020202090204" charset="0"/>
                <a:ea typeface="+mn-ea"/>
                <a:cs typeface="Arial Regular" panose="020B0604020202090204" charset="0"/>
              </a:endParaRPr>
            </a:p>
            <a:p>
              <a:pPr marL="285750" indent="-285750" algn="l">
                <a:lnSpc>
                  <a:spcPts val="2025"/>
                </a:lnSpc>
                <a:buFont typeface="Arial" panose="020B0604020202090204" pitchFamily="34" charset="0"/>
                <a:buChar char="•"/>
              </a:pPr>
              <a:r>
                <a:rPr lang="en-US" sz="1500" b="1" dirty="0">
                  <a:solidFill>
                    <a:schemeClr val="dk1"/>
                  </a:solidFill>
                  <a:latin typeface="Arial" panose="020B0604020202090204" pitchFamily="34" charset="0"/>
                  <a:ea typeface="+mn-ea"/>
                  <a:cs typeface="Arial" panose="020B0604020202090204" pitchFamily="34" charset="0"/>
                </a:rPr>
                <a:t>Long windows</a:t>
              </a:r>
              <a:r>
                <a:rPr lang="en-US" sz="1500" dirty="0">
                  <a:solidFill>
                    <a:schemeClr val="dk1"/>
                  </a:solidFill>
                  <a:latin typeface="Arial Regular" panose="020B0604020202090204" charset="0"/>
                  <a:ea typeface="+mn-ea"/>
                  <a:cs typeface="Arial Regular" panose="020B0604020202090204" charset="0"/>
                </a:rPr>
                <a:t> emphasize frequency detail.</a:t>
              </a:r>
              <a:endParaRPr lang="en-US" sz="1500" dirty="0">
                <a:solidFill>
                  <a:schemeClr val="dk1"/>
                </a:solidFill>
                <a:latin typeface="Arial Regular" panose="020B0604020202090204" charset="0"/>
                <a:ea typeface="+mn-ea"/>
                <a:cs typeface="Arial Regular" panose="020B0604020202090204" charset="0"/>
              </a:endParaRPr>
            </a:p>
            <a:p>
              <a:pPr marL="285750" indent="-285750" algn="l">
                <a:lnSpc>
                  <a:spcPts val="2025"/>
                </a:lnSpc>
                <a:buFont typeface="Arial" panose="020B0604020202090204" pitchFamily="34" charset="0"/>
                <a:buChar char="•"/>
              </a:pPr>
              <a:r>
                <a:rPr lang="en-US" sz="1500" dirty="0">
                  <a:solidFill>
                    <a:schemeClr val="dk1"/>
                  </a:solidFill>
                  <a:latin typeface="Arial Regular" panose="020B0604020202090204" charset="0"/>
                  <a:ea typeface="+mn-ea"/>
                  <a:cs typeface="Arial Regular" panose="020B0604020202090204" charset="0"/>
                </a:rPr>
                <a:t>Average both loss terms across resolutions.</a:t>
              </a:r>
              <a:endParaRPr lang="en-US" sz="1500" dirty="0">
                <a:solidFill>
                  <a:schemeClr val="dk1"/>
                </a:solidFill>
                <a:latin typeface="Arial Regular" panose="020B0604020202090204" charset="0"/>
                <a:ea typeface="+mn-ea"/>
                <a:cs typeface="Arial Regular" panose="020B0604020202090204" charset="0"/>
              </a:endParaRPr>
            </a:p>
          </p:txBody>
        </p:sp>
      </p:grpSp>
      <mc:AlternateContent xmlns:mc="http://schemas.openxmlformats.org/markup-compatibility/2006">
        <mc:Choice xmlns:a14="http://schemas.microsoft.com/office/drawing/2010/main" Requires="a14">
          <p:sp>
            <p:nvSpPr>
              <p:cNvPr id="12" name="spectral-convergence"/>
              <p:cNvSpPr txBox="1">
                <a:spLocks noGrp="1"/>
              </p:cNvSpPr>
              <p:nvPr/>
            </p:nvSpPr>
            <p:spPr>
              <a:xfrm>
                <a:off x="7429500" y="2581910"/>
                <a:ext cx="2419350" cy="89535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a:latin typeface="DejaVu Math TeX Gyre" panose="02000503000000000000" charset="0"/>
                              <a:cs typeface="DejaVu Math TeX Gyre" panose="02000503000000000000" charset="0"/>
                            </a:rPr>
                          </m:ctrlPr>
                        </m:sSubPr>
                        <m:e>
                          <m:r>
                            <a:rPr lang="en-US" sz="1650" dirty="0">
                              <a:solidFill>
                                <a:srgbClr val="334155"/>
                              </a:solidFill>
                              <a:latin typeface="DejaVu Math TeX Gyre" panose="02000503000000000000" charset="0"/>
                              <a:ea typeface="Cambria Math"/>
                              <a:cs typeface="DejaVu Math TeX Gyre" panose="02000503000000000000" charset="0"/>
                            </a:rPr>
                            <m:t>𝐿</m:t>
                          </m:r>
                        </m:e>
                        <m:sub>
                          <m:r>
                            <a:rPr lang="en-US" sz="1650" dirty="0">
                              <a:solidFill>
                                <a:srgbClr val="334155"/>
                              </a:solidFill>
                              <a:latin typeface="DejaVu Math TeX Gyre" panose="02000503000000000000" charset="0"/>
                              <a:ea typeface="Cambria Math"/>
                              <a:cs typeface="DejaVu Math TeX Gyre" panose="02000503000000000000" charset="0"/>
                            </a:rPr>
                            <m:t>𝑠𝑐</m:t>
                          </m:r>
                        </m:sub>
                      </m:sSub>
                      <m:r>
                        <a:rPr lang="en-US" sz="1650" dirty="0">
                          <a:solidFill>
                            <a:srgbClr val="334155"/>
                          </a:solidFill>
                          <a:latin typeface="DejaVu Math TeX Gyre" panose="02000503000000000000" charset="0"/>
                          <a:ea typeface="宋体" charset="0"/>
                          <a:cs typeface="DejaVu Math TeX Gyre" panose="02000503000000000000" charset="0"/>
                        </a:rPr>
                        <m:t>=</m:t>
                      </m:r>
                      <m:f>
                        <m:fPr>
                          <m:ctrlPr>
                            <a:rPr lang="en-US" sz="1650" dirty="0">
                              <a:solidFill>
                                <a:srgbClr val="334155"/>
                              </a:solidFill>
                              <a:latin typeface="DejaVu Math TeX Gyre" panose="02000503000000000000" charset="0"/>
                              <a:ea typeface="Cambria Math"/>
                              <a:cs typeface="DejaVu Math TeX Gyre" panose="02000503000000000000" charset="0"/>
                            </a:rPr>
                          </m:ctrlPr>
                        </m:fPr>
                        <m:num>
                          <m:sSub>
                            <m:sSubPr>
                              <m:ctrlPr>
                                <a:rPr>
                                  <a:latin typeface="DejaVu Math TeX Gyre" panose="02000503000000000000" charset="0"/>
                                  <a:cs typeface="DejaVu Math TeX Gyre" panose="02000503000000000000" charset="0"/>
                                </a:rPr>
                              </m:ctrlPr>
                            </m:sSubPr>
                            <m:e>
                              <m:d>
                                <m:dPr>
                                  <m:begChr m:val="‖"/>
                                  <m:sepChr m:val=""/>
                                  <m:endChr m:val="‖"/>
                                  <m:ctrlPr>
                                    <a:rPr lang="en-US" sz="1650" dirty="0">
                                      <a:solidFill>
                                        <a:srgbClr val="334155"/>
                                      </a:solidFill>
                                      <a:latin typeface="DejaVu Math TeX Gyre" panose="02000503000000000000" charset="0"/>
                                      <a:ea typeface="Cambria Math"/>
                                      <a:cs typeface="DejaVu Math TeX Gyre" panose="02000503000000000000" charset="0"/>
                                    </a:rPr>
                                  </m:ctrlPr>
                                </m:dPr>
                                <m:e>
                                  <m:r>
                                    <a:rPr lang="en-US" sz="1650" dirty="0">
                                      <a:solidFill>
                                        <a:srgbClr val="334155"/>
                                      </a:solidFill>
                                      <a:latin typeface="DejaVu Math TeX Gyre" panose="02000503000000000000" charset="0"/>
                                      <a:ea typeface="Cambria Math"/>
                                      <a:cs typeface="DejaVu Math TeX Gyre" panose="02000503000000000000" charset="0"/>
                                    </a:rPr>
                                    <m:t>𝑆</m:t>
                                  </m:r>
                                  <m:r>
                                    <a:rPr lang="en-US" sz="1650" dirty="0">
                                      <a:solidFill>
                                        <a:srgbClr val="334155"/>
                                      </a:solidFill>
                                      <a:latin typeface="DejaVu Math TeX Gyre" panose="02000503000000000000" charset="0"/>
                                      <a:ea typeface="宋体" charset="0"/>
                                      <a:cs typeface="DejaVu Math TeX Gyre" panose="02000503000000000000" charset="0"/>
                                    </a:rPr>
                                    <m:t>−</m:t>
                                  </m:r>
                                  <m:acc>
                                    <m:accPr>
                                      <m:chr m:val="ˆ"/>
                                      <m:ctrlPr>
                                        <a:rPr lang="en-US" sz="1650" dirty="0">
                                          <a:solidFill>
                                            <a:srgbClr val="334155"/>
                                          </a:solidFill>
                                          <a:latin typeface="DejaVu Math TeX Gyre" panose="02000503000000000000" charset="0"/>
                                          <a:ea typeface="Cambria Math"/>
                                          <a:cs typeface="DejaVu Math TeX Gyre" panose="02000503000000000000" charset="0"/>
                                        </a:rPr>
                                      </m:ctrlPr>
                                    </m:accPr>
                                    <m:e>
                                      <m:r>
                                        <a:rPr lang="en-US" sz="1650" dirty="0">
                                          <a:solidFill>
                                            <a:srgbClr val="334155"/>
                                          </a:solidFill>
                                          <a:latin typeface="DejaVu Math TeX Gyre" panose="02000503000000000000" charset="0"/>
                                          <a:ea typeface="Cambria Math"/>
                                          <a:cs typeface="DejaVu Math TeX Gyre" panose="02000503000000000000" charset="0"/>
                                        </a:rPr>
                                        <m:t>𝑆</m:t>
                                      </m:r>
                                    </m:e>
                                  </m:acc>
                                </m:e>
                              </m:d>
                            </m:e>
                            <m:sub>
                              <m:r>
                                <a:rPr lang="en-US" sz="1650" dirty="0">
                                  <a:solidFill>
                                    <a:srgbClr val="334155"/>
                                  </a:solidFill>
                                  <a:latin typeface="DejaVu Math TeX Gyre" panose="02000503000000000000" charset="0"/>
                                  <a:ea typeface="Cambria Math"/>
                                  <a:cs typeface="DejaVu Math TeX Gyre" panose="02000503000000000000" charset="0"/>
                                </a:rPr>
                                <m:t>𝐹</m:t>
                              </m:r>
                            </m:sub>
                          </m:sSub>
                        </m:num>
                        <m:den>
                          <m:sSub>
                            <m:sSubPr>
                              <m:ctrlPr>
                                <a:rPr>
                                  <a:latin typeface="DejaVu Math TeX Gyre" panose="02000503000000000000" charset="0"/>
                                  <a:cs typeface="DejaVu Math TeX Gyre" panose="02000503000000000000" charset="0"/>
                                </a:rPr>
                              </m:ctrlPr>
                            </m:sSubPr>
                            <m:e>
                              <m:d>
                                <m:dPr>
                                  <m:begChr m:val="‖"/>
                                  <m:sepChr m:val=""/>
                                  <m:endChr m:val="‖"/>
                                  <m:ctrlPr>
                                    <a:rPr lang="en-US" sz="1650" dirty="0">
                                      <a:solidFill>
                                        <a:srgbClr val="334155"/>
                                      </a:solidFill>
                                      <a:latin typeface="DejaVu Math TeX Gyre" panose="02000503000000000000" charset="0"/>
                                      <a:ea typeface="Cambria Math"/>
                                      <a:cs typeface="DejaVu Math TeX Gyre" panose="02000503000000000000" charset="0"/>
                                    </a:rPr>
                                  </m:ctrlPr>
                                </m:dPr>
                                <m:e>
                                  <m:r>
                                    <a:rPr lang="en-US" sz="1650" dirty="0">
                                      <a:solidFill>
                                        <a:srgbClr val="334155"/>
                                      </a:solidFill>
                                      <a:latin typeface="DejaVu Math TeX Gyre" panose="02000503000000000000" charset="0"/>
                                      <a:ea typeface="Cambria Math"/>
                                      <a:cs typeface="DejaVu Math TeX Gyre" panose="02000503000000000000" charset="0"/>
                                    </a:rPr>
                                    <m:t>𝑆</m:t>
                                  </m:r>
                                </m:e>
                              </m:d>
                            </m:e>
                            <m:sub>
                              <m:r>
                                <a:rPr lang="en-US" sz="1650" dirty="0">
                                  <a:solidFill>
                                    <a:srgbClr val="334155"/>
                                  </a:solidFill>
                                  <a:latin typeface="DejaVu Math TeX Gyre" panose="02000503000000000000" charset="0"/>
                                  <a:ea typeface="Cambria Math"/>
                                  <a:cs typeface="DejaVu Math TeX Gyre" panose="02000503000000000000" charset="0"/>
                                </a:rPr>
                                <m:t>𝐹</m:t>
                              </m:r>
                            </m:sub>
                          </m:sSub>
                        </m:den>
                      </m:f>
                    </m:oMath>
                  </m:oMathPara>
                </a14:m>
                <a:endParaRPr>
                  <a:latin typeface="Arial Regular" panose="020B0604020202090204" charset="0"/>
                  <a:cs typeface="Arial Regular" panose="020B0604020202090204" charset="0"/>
                </a:endParaRPr>
              </a:p>
            </p:txBody>
          </p:sp>
        </mc:Choice>
        <mc:Fallback>
          <p:sp>
            <p:nvSpPr>
              <p:cNvPr id="12" name="spectral-convergence"/>
              <p:cNvSpPr txBox="1">
                <a:spLocks noRot="1" noChangeAspect="1" noMove="1" noResize="1" noEditPoints="1" noAdjustHandles="1" noChangeArrowheads="1" noChangeShapeType="1" noTextEdit="1"/>
              </p:cNvSpPr>
              <p:nvPr/>
            </p:nvSpPr>
            <p:spPr>
              <a:xfrm>
                <a:off x="7429500" y="2581910"/>
                <a:ext cx="2419350" cy="895350"/>
              </a:xfrm>
              <a:prstGeom prst="rect">
                <a:avLst/>
              </a:prstGeom>
              <a:blipFill rotWithShape="1">
                <a:blip r:embed="rId3"/>
                <a:stretch>
                  <a:fillRect/>
                </a:stretch>
              </a:blipFill>
              <a:ln>
                <a:noFill/>
              </a:ln>
            </p:spPr>
            <p:txBody>
              <a:bodyPr/>
              <a:lstStyle/>
              <a:p>
                <a:r>
                  <a:rPr lang="zh-CN" altLang="en-US">
                    <a:noFill/>
                  </a:rPr>
                  <a:t> </a:t>
                </a:r>
              </a:p>
            </p:txBody>
          </p:sp>
        </mc:Fallback>
      </mc:AlternateContent>
      <p:grpSp>
        <p:nvGrpSpPr>
          <p:cNvPr id="16" name="Group 16"/>
          <p:cNvGrpSpPr/>
          <p:nvPr/>
        </p:nvGrpSpPr>
        <p:grpSpPr>
          <a:xfrm>
            <a:off x="6640068" y="3937952"/>
            <a:ext cx="4800600" cy="1649730"/>
            <a:chOff x="6640068" y="3650932"/>
            <a:chExt cx="4800600" cy="1649730"/>
          </a:xfrm>
        </p:grpSpPr>
        <p:sp>
          <p:nvSpPr>
            <p:cNvPr id="13" name="TextBox 13"/>
            <p:cNvSpPr txBox="1"/>
            <p:nvPr/>
          </p:nvSpPr>
          <p:spPr>
            <a:xfrm>
              <a:off x="6640068" y="3650932"/>
              <a:ext cx="3873500" cy="276860"/>
            </a:xfrm>
            <a:prstGeom prst="rect">
              <a:avLst/>
            </a:prstGeom>
            <a:noFill/>
            <a:ln>
              <a:noFill/>
            </a:ln>
          </p:spPr>
          <p:txBody>
            <a:bodyPr wrap="none" lIns="0" tIns="0" rIns="0" bIns="0" anchor="t" anchorCtr="0">
              <a:spAutoFit/>
            </a:bodyPr>
            <a:lstStyle/>
            <a:p>
              <a:pPr algn="l"/>
              <a:r>
                <a:rPr lang="en-US" b="1" dirty="0">
                  <a:solidFill>
                    <a:schemeClr val="accent2"/>
                  </a:solidFill>
                  <a:latin typeface="Arial" panose="020B0604020202090204" pitchFamily="34" charset="0"/>
                  <a:ea typeface="+mn-ea"/>
                  <a:cs typeface="Arial" panose="020B0604020202090204" pitchFamily="34" charset="0"/>
                </a:rPr>
                <a:t>Two complementary spectral errors</a:t>
              </a:r>
              <a:endParaRPr lang="en-US" b="1" dirty="0">
                <a:solidFill>
                  <a:schemeClr val="accent2"/>
                </a:solidFill>
                <a:latin typeface="Arial" panose="020B0604020202090204" pitchFamily="34" charset="0"/>
                <a:ea typeface="+mn-ea"/>
                <a:cs typeface="Arial" panose="020B0604020202090204" pitchFamily="34" charset="0"/>
              </a:endParaRPr>
            </a:p>
          </p:txBody>
        </p:sp>
        <p:sp>
          <p:nvSpPr>
            <p:cNvPr id="14" name="TextBox 14"/>
            <p:cNvSpPr txBox="1"/>
            <p:nvPr/>
          </p:nvSpPr>
          <p:spPr>
            <a:xfrm>
              <a:off x="6640703" y="4038917"/>
              <a:ext cx="4799965" cy="518795"/>
            </a:xfrm>
            <a:prstGeom prst="rect">
              <a:avLst/>
            </a:prstGeom>
            <a:noFill/>
            <a:ln>
              <a:noFill/>
            </a:ln>
          </p:spPr>
          <p:txBody>
            <a:bodyPr wrap="square" lIns="0" tIns="0" rIns="0" bIns="0" anchor="t" anchorCtr="0">
              <a:spAutoFit/>
            </a:bodyPr>
            <a:lstStyle/>
            <a:p>
              <a:pPr marL="285750" indent="-285750" algn="l">
                <a:lnSpc>
                  <a:spcPts val="2025"/>
                </a:lnSpc>
                <a:buFont typeface="Arial" panose="020B0604020202090204" pitchFamily="34" charset="0"/>
                <a:buChar char="•"/>
              </a:pPr>
              <a:r>
                <a:rPr lang="en-US" sz="1500" dirty="0">
                  <a:solidFill>
                    <a:schemeClr val="dk1"/>
                  </a:solidFill>
                  <a:latin typeface="Arial Regular" panose="020B0604020202090204" charset="0"/>
                  <a:ea typeface="+mn-ea"/>
                  <a:cs typeface="Arial Regular" panose="020B0604020202090204" charset="0"/>
                </a:rPr>
                <a:t>Spectral convergence measures normalized overall Frobenius error.</a:t>
              </a:r>
              <a:endParaRPr lang="en-US" sz="1500" dirty="0">
                <a:solidFill>
                  <a:schemeClr val="dk1"/>
                </a:solidFill>
                <a:latin typeface="Arial Regular" panose="020B0604020202090204" charset="0"/>
                <a:ea typeface="+mn-ea"/>
                <a:cs typeface="Arial Regular" panose="020B0604020202090204" charset="0"/>
              </a:endParaRPr>
            </a:p>
          </p:txBody>
        </p:sp>
        <p:sp>
          <p:nvSpPr>
            <p:cNvPr id="15" name="TextBox 15"/>
            <p:cNvSpPr txBox="1"/>
            <p:nvPr/>
          </p:nvSpPr>
          <p:spPr>
            <a:xfrm>
              <a:off x="6640703" y="4781867"/>
              <a:ext cx="4731385" cy="518795"/>
            </a:xfrm>
            <a:prstGeom prst="rect">
              <a:avLst/>
            </a:prstGeom>
            <a:noFill/>
            <a:ln>
              <a:noFill/>
            </a:ln>
          </p:spPr>
          <p:txBody>
            <a:bodyPr wrap="square" lIns="0" tIns="0" rIns="0" bIns="0" anchor="t" anchorCtr="0">
              <a:spAutoFit/>
            </a:bodyPr>
            <a:lstStyle/>
            <a:p>
              <a:pPr marL="285750" indent="-285750" algn="l">
                <a:lnSpc>
                  <a:spcPts val="2025"/>
                </a:lnSpc>
                <a:buFont typeface="Arial" panose="020B0604020202090204" pitchFamily="34" charset="0"/>
                <a:buChar char="•"/>
              </a:pPr>
              <a:r>
                <a:rPr lang="en-US" sz="1500" dirty="0">
                  <a:solidFill>
                    <a:schemeClr val="dk1"/>
                  </a:solidFill>
                  <a:latin typeface="Arial Regular" panose="020B0604020202090204" charset="0"/>
                  <a:ea typeface="+mn-ea"/>
                  <a:cs typeface="Arial Regular" panose="020B0604020202090204" charset="0"/>
                </a:rPr>
                <a:t>Log-magnitude distance emphasizes relative differences in low-amplitude regions.</a:t>
              </a:r>
              <a:endParaRPr lang="en-US" sz="1500" dirty="0">
                <a:solidFill>
                  <a:schemeClr val="dk1"/>
                </a:solidFill>
                <a:latin typeface="Arial Regular" panose="020B0604020202090204" charset="0"/>
                <a:ea typeface="+mn-ea"/>
                <a:cs typeface="Arial Regular" panose="020B0604020202090204" charset="0"/>
              </a:endParaRPr>
            </a:p>
          </p:txBody>
        </p:sp>
      </p:grpSp>
      <p:sp>
        <p:nvSpPr>
          <p:cNvPr id="17" name="TextBox 17"/>
          <p:cNvSpPr txBox="1"/>
          <p:nvPr/>
        </p:nvSpPr>
        <p:spPr>
          <a:xfrm>
            <a:off x="507873" y="6093619"/>
            <a:ext cx="6118610" cy="249364"/>
          </a:xfrm>
          <a:prstGeom prst="rect">
            <a:avLst/>
          </a:prstGeom>
          <a:noFill/>
          <a:ln>
            <a:noFill/>
          </a:ln>
        </p:spPr>
        <p:txBody>
          <a:bodyPr wrap="none" lIns="0" tIns="0" rIns="0" bIns="0" anchor="t" anchorCtr="0">
            <a:spAutoFit/>
          </a:bodyPr>
          <a:lstStyle/>
          <a:p>
            <a:pPr algn="l"/>
            <a:r>
              <a:rPr lang="en-US" sz="1280" dirty="0">
                <a:solidFill>
                  <a:schemeClr val="accent3"/>
                </a:solidFill>
                <a:latin typeface="Arial Regular" panose="020B0604020202090204" charset="0"/>
                <a:ea typeface="+mn-ea"/>
                <a:cs typeface="Arial Regular" panose="020B0604020202090204" charset="0"/>
              </a:rPr>
              <a:t>Numerical clamps prevent log-zero; analysis settings must be disclosed.</a:t>
            </a:r>
            <a:endParaRPr lang="en-US" sz="1280" dirty="0">
              <a:solidFill>
                <a:schemeClr val="accent3"/>
              </a:solidFill>
              <a:latin typeface="Arial Regular" panose="020B0604020202090204" charset="0"/>
              <a:ea typeface="+mn-ea"/>
              <a:cs typeface="Arial Regular" panose="020B0604020202090204" charset="0"/>
            </a:endParaRPr>
          </a:p>
        </p:txBody>
      </p:sp>
      <p:sp>
        <p:nvSpPr>
          <p:cNvPr id="19" name="TextBox 19"/>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809688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Code : Multi-Resolution STFT Loss Aggregation</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845086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Predicted and target audio -&gt; two averaged scalars. Several analysis scales, not synthesized clips.</a:t>
            </a:r>
            <a:endParaRPr lang="en-US" sz="1280" dirty="0">
              <a:solidFill>
                <a:schemeClr val="dk1"/>
              </a:solidFill>
              <a:latin typeface="+mn-lt"/>
              <a:ea typeface="+mn-ea"/>
              <a:cs typeface="+mn-cs"/>
            </a:endParaRPr>
          </a:p>
        </p:txBody>
      </p:sp>
      <p:sp>
        <p:nvSpPr>
          <p:cNvPr id="7" name="TextBox 7"/>
          <p:cNvSpPr txBox="1"/>
          <p:nvPr/>
        </p:nvSpPr>
        <p:spPr>
          <a:xfrm>
            <a:off x="509588" y="6141720"/>
            <a:ext cx="6108010"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Tomoki Hayashi · kan-bayashi/ParallelWaveGAN · MIT · stft_loss.py L158-170 · 86740373ec · unofficial</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i="0">
                <a:solidFill>
                  <a:srgbClr val="0F172A"/>
                </a:solidFill>
                <a:latin typeface="Arial" panose="020B0604020202090204" pitchFamily="34" charset="0"/>
                <a:ea typeface="Arial" panose="020B0604020202090204"/>
                <a:cs typeface="Arial" panose="020B0604020202090204" pitchFamily="34" charset="0"/>
              </a:rPr>
              <a:t>MelGAN : Pure GAN-Based Non-Autoregressive Vocoder</a:t>
            </a:r>
            <a:endParaRPr lang="en-US" altLang="zh-CN" sz="2800" i="0">
              <a:solidFill>
                <a:srgbClr val="0F172A"/>
              </a:solidFill>
              <a:latin typeface="Arial" panose="020B0604020202090204" pitchFamily="34" charset="0"/>
              <a:ea typeface="Arial" panose="020B0604020202090204"/>
              <a:cs typeface="Arial" panose="020B0604020202090204" pitchFamily="34" charset="0"/>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14350" y="1052195"/>
            <a:ext cx="368046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2000" b="1" i="0">
                <a:solidFill>
                  <a:srgbClr val="1E40AF"/>
                </a:solidFill>
                <a:latin typeface="Arial" panose="020B0604020202090204"/>
                <a:ea typeface="Arial" panose="020B0604020202090204"/>
                <a:cs typeface="Arial" panose="020B0604020202090204"/>
              </a:rPr>
              <a:t>Core Architectural Features</a:t>
            </a:r>
            <a:endParaRPr lang="en-US" altLang="zh-CN" sz="20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479425" y="1570990"/>
            <a:ext cx="6466840" cy="79692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solidFill>
                <a:latin typeface="Arial" panose="020B0604020202090204" pitchFamily="34" charset="0"/>
                <a:ea typeface="Arial" panose="020B0604020202090204"/>
                <a:cs typeface="Arial" panose="020B0604020202090204" pitchFamily="34" charset="0"/>
              </a:rPr>
              <a:t>1. Fully Non-Autoregressive Synthesis</a:t>
            </a:r>
            <a:endParaRPr lang="en-US" altLang="zh-CN" sz="1600" b="1" i="0">
              <a:solidFill>
                <a:schemeClr val="tx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chemeClr val="tx2"/>
                </a:solidFill>
                <a:latin typeface="Arial" panose="020B0604020202090204"/>
                <a:ea typeface="Arial" panose="020B0604020202090204"/>
                <a:cs typeface="Arial" panose="020B0604020202090204"/>
              </a:rPr>
              <a:t>Synthesizes audio in a single forward pass without autoregressive loops or sequential bottleneck.</a:t>
            </a:r>
            <a:endParaRPr lang="en-US" altLang="zh-CN" sz="1400" b="0" i="0">
              <a:solidFill>
                <a:schemeClr val="tx2"/>
              </a:solidFill>
              <a:latin typeface="Arial" panose="020B0604020202090204"/>
              <a:ea typeface="Arial" panose="020B0604020202090204"/>
              <a:cs typeface="Arial" panose="020B0604020202090204"/>
            </a:endParaRPr>
          </a:p>
        </p:txBody>
      </p:sp>
      <p:pic>
        <p:nvPicPr>
          <p:cNvPr id="320" name="Google Shape;320;p49"/>
          <p:cNvPicPr preferRelativeResize="0"/>
          <p:nvPr/>
        </p:nvPicPr>
        <p:blipFill rotWithShape="1">
          <a:blip r:embed="rId1"/>
          <a:srcRect r="50000"/>
          <a:stretch>
            <a:fillRect/>
          </a:stretch>
        </p:blipFill>
        <p:spPr>
          <a:xfrm>
            <a:off x="7392035" y="1700530"/>
            <a:ext cx="4132580" cy="4435475"/>
          </a:xfrm>
          <a:prstGeom prst="rect">
            <a:avLst/>
          </a:prstGeom>
          <a:noFill/>
          <a:ln>
            <a:noFill/>
          </a:ln>
        </p:spPr>
      </p:pic>
      <p:pic>
        <p:nvPicPr>
          <p:cNvPr id="321" name="Google Shape;321;p49"/>
          <p:cNvPicPr preferRelativeResize="0"/>
          <p:nvPr/>
        </p:nvPicPr>
        <p:blipFill rotWithShape="1">
          <a:blip r:embed="rId2"/>
          <a:srcRect l="7727" t="4082" r="2635" b="10170"/>
          <a:stretch>
            <a:fillRect/>
          </a:stretch>
        </p:blipFill>
        <p:spPr>
          <a:xfrm>
            <a:off x="7896225" y="904875"/>
            <a:ext cx="1141095" cy="796925"/>
          </a:xfrm>
          <a:prstGeom prst="rect">
            <a:avLst/>
          </a:prstGeom>
          <a:noFill/>
          <a:ln>
            <a:noFill/>
          </a:ln>
        </p:spPr>
      </p:pic>
      <p:pic>
        <p:nvPicPr>
          <p:cNvPr id="323" name="Google Shape;323;p49"/>
          <p:cNvPicPr preferRelativeResize="0"/>
          <p:nvPr/>
        </p:nvPicPr>
        <p:blipFill rotWithShape="1">
          <a:blip r:embed="rId3"/>
          <a:srcRect l="11201" t="5524" r="3620" b="10400"/>
          <a:stretch>
            <a:fillRect/>
          </a:stretch>
        </p:blipFill>
        <p:spPr>
          <a:xfrm>
            <a:off x="7896225" y="6021705"/>
            <a:ext cx="1344295" cy="733425"/>
          </a:xfrm>
          <a:prstGeom prst="rect">
            <a:avLst/>
          </a:prstGeom>
          <a:noFill/>
          <a:ln>
            <a:noFill/>
          </a:ln>
        </p:spPr>
      </p:pic>
      <p:sp>
        <p:nvSpPr>
          <p:cNvPr id="11" name="矩形 10"/>
          <p:cNvSpPr>
            <a:spLocks noGrp="1"/>
          </p:cNvSpPr>
          <p:nvPr/>
        </p:nvSpPr>
        <p:spPr>
          <a:xfrm>
            <a:off x="480695" y="2602230"/>
            <a:ext cx="6466840" cy="79692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solidFill>
                <a:latin typeface="Arial" panose="020B0604020202090204" pitchFamily="34" charset="0"/>
                <a:ea typeface="Arial" panose="020B0604020202090204"/>
                <a:cs typeface="Arial" panose="020B0604020202090204" pitchFamily="34" charset="0"/>
              </a:rPr>
              <a:t>2. End-to-End Upsampling Pipeline</a:t>
            </a:r>
            <a:endParaRPr lang="en-US" altLang="zh-CN" sz="1600" b="1" i="0">
              <a:solidFill>
                <a:schemeClr val="tx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chemeClr val="tx2"/>
                </a:solidFill>
                <a:latin typeface="Arial" panose="020B0604020202090204"/>
                <a:ea typeface="Arial" panose="020B0604020202090204"/>
                <a:cs typeface="Arial" panose="020B0604020202090204"/>
              </a:rPr>
              <a:t>Uses transposed convolutions (upsampling layers) to bridge the time-resolution gap between low-frequency Mel frames and high-frequency audio waveforms.</a:t>
            </a:r>
            <a:endParaRPr lang="en-US" altLang="zh-CN" sz="1400" b="0" i="0">
              <a:solidFill>
                <a:schemeClr val="tx2"/>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481965" y="3776980"/>
            <a:ext cx="6466840" cy="79692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solidFill>
                <a:latin typeface="Arial" panose="020B0604020202090204" pitchFamily="34" charset="0"/>
                <a:ea typeface="Arial" panose="020B0604020202090204"/>
                <a:cs typeface="Arial" panose="020B0604020202090204" pitchFamily="34" charset="0"/>
              </a:rPr>
              <a:t>3. Receptive Field Expansion</a:t>
            </a:r>
            <a:endParaRPr lang="en-US" altLang="zh-CN" sz="1600" b="1" i="0">
              <a:solidFill>
                <a:schemeClr val="tx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chemeClr val="tx2"/>
                </a:solidFill>
                <a:latin typeface="Arial" panose="020B0604020202090204"/>
                <a:ea typeface="Arial" panose="020B0604020202090204"/>
                <a:cs typeface="Arial" panose="020B0604020202090204"/>
              </a:rPr>
              <a:t>Integrates Residual Stacks with Dilated Convolutions after upsampling to expand effective receptive fields and capture long-range temporal context.</a:t>
            </a:r>
            <a:endParaRPr lang="en-US" altLang="zh-CN" sz="1400" b="0" i="0">
              <a:solidFill>
                <a:schemeClr val="tx2"/>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483235" y="4879975"/>
            <a:ext cx="6466840" cy="796925"/>
          </a:xfrm>
          <a:prstGeom prst="rect">
            <a:avLst/>
          </a:prstGeom>
          <a:noFill/>
          <a:ln w="0">
            <a:noFill/>
            <a:prstDash val="solid"/>
          </a:ln>
        </p:spPr>
        <p:txBody>
          <a:bodyPr wrap="square" lIns="0" tIns="0" rIns="0" bIns="0" anchor="t">
            <a:no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solidFill>
                <a:latin typeface="Arial" panose="020B0604020202090204" pitchFamily="34" charset="0"/>
                <a:ea typeface="Arial" panose="020B0604020202090204"/>
                <a:cs typeface="Arial" panose="020B0604020202090204" pitchFamily="34" charset="0"/>
              </a:rPr>
              <a:t>4. No Distillation Required</a:t>
            </a:r>
            <a:endParaRPr lang="en-US" altLang="zh-CN" sz="1600" b="1" i="0">
              <a:solidFill>
                <a:schemeClr val="tx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chemeClr val="tx2"/>
                </a:solidFill>
                <a:latin typeface="Arial" panose="020B0604020202090204"/>
                <a:ea typeface="Arial" panose="020B0604020202090204"/>
                <a:cs typeface="Arial" panose="020B0604020202090204"/>
              </a:rPr>
              <a:t>Directly trained end-to-end without needing teacher-student knowledge distillation or complex pre-training steps.</a:t>
            </a:r>
            <a:endParaRPr lang="en-US" altLang="zh-CN" sz="1400" b="0" i="0">
              <a:solidFill>
                <a:schemeClr val="tx2"/>
              </a:solidFill>
              <a:latin typeface="Arial" panose="020B0604020202090204"/>
              <a:ea typeface="Arial" panose="020B0604020202090204"/>
              <a:cs typeface="Arial" panose="020B060402020209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矩形 11"/>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VOCODERS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MelGAN : Multi-Scale Discriminator &amp; Feature Matching</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p:spPr>
        <p:style>
          <a:lnRef idx="3">
            <a:schemeClr val="accent1"/>
          </a:lnRef>
          <a:fillRef idx="0">
            <a:srgbClr val="FFFFFF"/>
          </a:fillRef>
          <a:effectRef idx="0">
            <a:srgbClr val="FFFFFF"/>
          </a:effectRef>
          <a:fontRef idx="minor">
            <a:schemeClr val="tx1"/>
          </a:fontRef>
        </p:style>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7" name="图片 16"/>
          <p:cNvPicPr>
            <a:picLocks noChangeAspect="1"/>
          </p:cNvPicPr>
          <p:nvPr/>
        </p:nvPicPr>
        <p:blipFill>
          <a:blip r:embed="rId1"/>
          <a:stretch>
            <a:fillRect/>
          </a:stretch>
        </p:blipFill>
        <p:spPr>
          <a:xfrm>
            <a:off x="5376545" y="2132965"/>
            <a:ext cx="3450590" cy="421005"/>
          </a:xfrm>
          <a:prstGeom prst="rect">
            <a:avLst/>
          </a:prstGeom>
        </p:spPr>
      </p:pic>
      <p:pic>
        <p:nvPicPr>
          <p:cNvPr id="18" name="图片 17"/>
          <p:cNvPicPr>
            <a:picLocks noChangeAspect="1"/>
          </p:cNvPicPr>
          <p:nvPr/>
        </p:nvPicPr>
        <p:blipFill>
          <a:blip r:embed="rId2"/>
          <a:stretch>
            <a:fillRect/>
          </a:stretch>
        </p:blipFill>
        <p:spPr>
          <a:xfrm>
            <a:off x="8976995" y="2077243"/>
            <a:ext cx="2857500" cy="661355"/>
          </a:xfrm>
          <a:prstGeom prst="rect">
            <a:avLst/>
          </a:prstGeom>
        </p:spPr>
      </p:pic>
      <p:sp>
        <p:nvSpPr>
          <p:cNvPr id="8" name="矩形 7"/>
          <p:cNvSpPr>
            <a:spLocks noGrp="1"/>
          </p:cNvSpPr>
          <p:nvPr/>
        </p:nvSpPr>
        <p:spPr>
          <a:xfrm>
            <a:off x="5435600" y="3284855"/>
            <a:ext cx="32385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1800" b="1" i="0">
                <a:solidFill>
                  <a:srgbClr val="1E40AF"/>
                </a:solidFill>
                <a:latin typeface="Arial" panose="020B0604020202090204"/>
                <a:ea typeface="Arial" panose="020B0604020202090204"/>
                <a:cs typeface="Arial" panose="020B0604020202090204"/>
              </a:rPr>
              <a:t>Multi-scale discriminator</a:t>
            </a:r>
            <a:endParaRPr sz="1800" b="1" i="0">
              <a:solidFill>
                <a:srgbClr val="1E40AF"/>
              </a:solidFill>
              <a:latin typeface="Arial" panose="020B0604020202090204"/>
              <a:ea typeface="Arial" panose="020B0604020202090204"/>
              <a:cs typeface="Arial" panose="020B0604020202090204"/>
            </a:endParaRPr>
          </a:p>
        </p:txBody>
      </p:sp>
      <p:sp>
        <p:nvSpPr>
          <p:cNvPr id="9" name="矩形 8"/>
          <p:cNvSpPr>
            <a:spLocks noGrp="1"/>
          </p:cNvSpPr>
          <p:nvPr/>
        </p:nvSpPr>
        <p:spPr>
          <a:xfrm>
            <a:off x="5626100" y="3858260"/>
            <a:ext cx="2889250" cy="1560830"/>
          </a:xfrm>
          <a:prstGeom prst="rect">
            <a:avLst/>
          </a:prstGeom>
          <a:noFill/>
          <a:ln w="0">
            <a:noFill/>
            <a:prstDash val="solid"/>
          </a:ln>
        </p:spPr>
        <p:txBody>
          <a:bodyPr wrap="square" lIns="0" tIns="0" rIns="0" bIns="0" anchor="t">
            <a:normAutofit lnSpcReduction="10000"/>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Different pooling scales inspect different temporal structure.</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The generator cannot win by matching only one resolution.</a:t>
            </a:r>
            <a:endParaRPr sz="1600" b="0" i="0">
              <a:solidFill>
                <a:srgbClr val="334155"/>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8827135" y="3284855"/>
            <a:ext cx="24765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1800" b="1" i="0">
                <a:solidFill>
                  <a:srgbClr val="059669"/>
                </a:solidFill>
                <a:latin typeface="Arial" panose="020B0604020202090204"/>
                <a:ea typeface="Arial" panose="020B0604020202090204"/>
                <a:cs typeface="Arial" panose="020B0604020202090204"/>
              </a:rPr>
              <a:t>Feature matching</a:t>
            </a:r>
            <a:endParaRPr sz="1800" b="1" i="0">
              <a:solidFill>
                <a:srgbClr val="059669"/>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8904605" y="3858260"/>
            <a:ext cx="3142615" cy="199644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Match intermediate discriminator features.</a:t>
            </a: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sz="1600" b="0" i="0">
                <a:solidFill>
                  <a:srgbClr val="334155"/>
                </a:solidFill>
                <a:latin typeface="Arial" panose="020B0604020202090204"/>
                <a:ea typeface="Arial" panose="020B0604020202090204"/>
                <a:cs typeface="Arial" panose="020B0604020202090204"/>
              </a:rPr>
              <a:t>• Reduces mechanical artifacts and unstable training.</a:t>
            </a:r>
            <a:endParaRPr sz="1600" b="0" i="0">
              <a:solidFill>
                <a:srgbClr val="334155"/>
              </a:solidFill>
              <a:latin typeface="Arial" panose="020B0604020202090204"/>
              <a:ea typeface="Arial" panose="020B0604020202090204"/>
              <a:cs typeface="Arial" panose="020B0604020202090204"/>
            </a:endParaRPr>
          </a:p>
        </p:txBody>
      </p:sp>
      <p:pic>
        <p:nvPicPr>
          <p:cNvPr id="331" name="Google Shape;331;p50"/>
          <p:cNvPicPr preferRelativeResize="0"/>
          <p:nvPr/>
        </p:nvPicPr>
        <p:blipFill rotWithShape="1">
          <a:blip r:embed="rId3"/>
          <a:srcRect l="50000"/>
          <a:stretch>
            <a:fillRect/>
          </a:stretch>
        </p:blipFill>
        <p:spPr>
          <a:xfrm>
            <a:off x="479425" y="1124585"/>
            <a:ext cx="4773295" cy="54514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395923"/>
            <a:ext cx="9617710"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HiFi-GAN Generator : Multi-Receptive Field Fusion (MRF)</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tretch>
            <a:fillRect/>
          </a:stretch>
        </p:blipFill>
        <p:spPr>
          <a:xfrm>
            <a:off x="2063750" y="980440"/>
            <a:ext cx="7710805" cy="2600325"/>
          </a:xfrm>
          <a:prstGeom prst="rect">
            <a:avLst/>
          </a:prstGeom>
        </p:spPr>
      </p:pic>
      <p:sp>
        <p:nvSpPr>
          <p:cNvPr id="10" name="TextBox 10"/>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335915" y="4004945"/>
            <a:ext cx="5238115"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Overall Generator Pipeline &amp; Innovation</a:t>
            </a:r>
            <a:endParaRPr lang="en-US" altLang="zh-CN" sz="1800" b="1" i="0">
              <a:solidFill>
                <a:srgbClr val="1E40AF"/>
              </a:solidFill>
              <a:latin typeface="Arial" panose="020B0604020202090204"/>
              <a:ea typeface="Arial" panose="020B0604020202090204"/>
              <a:cs typeface="Arial" panose="020B0604020202090204"/>
            </a:endParaRPr>
          </a:p>
        </p:txBody>
      </p:sp>
      <p:sp>
        <p:nvSpPr>
          <p:cNvPr id="13" name="文本框 12"/>
          <p:cNvSpPr txBox="1"/>
          <p:nvPr/>
        </p:nvSpPr>
        <p:spPr>
          <a:xfrm>
            <a:off x="335915" y="4344670"/>
            <a:ext cx="5759450" cy="768350"/>
          </a:xfrm>
          <a:prstGeom prst="rect">
            <a:avLst/>
          </a:prstGeom>
          <a:noFill/>
        </p:spPr>
        <p:txBody>
          <a:bodyPr wrap="square" rtlCol="0">
            <a:spAutoFit/>
          </a:bodyPr>
          <a:p>
            <a:pPr indent="0">
              <a:buFont typeface="Arial" panose="020B0604020202090204" pitchFamily="34" charset="0"/>
              <a:buNone/>
            </a:pPr>
            <a:r>
              <a:rPr lang="en-US" altLang="zh-CN" sz="1600" b="1">
                <a:latin typeface="Arial" panose="020B0604020202090204" pitchFamily="34" charset="0"/>
                <a:cs typeface="Arial" panose="020B0604020202090204" pitchFamily="34" charset="0"/>
              </a:rPr>
              <a:t>Transposed Convolution Upsampling</a:t>
            </a:r>
            <a:endParaRPr lang="en-US" altLang="zh-CN" sz="1600" b="1">
              <a:latin typeface="Arial" panose="020B0604020202090204" pitchFamily="34" charset="0"/>
              <a:cs typeface="Arial" panose="020B0604020202090204" pitchFamily="34" charset="0"/>
            </a:endParaRPr>
          </a:p>
          <a:p>
            <a:pPr marL="285750" indent="-285750">
              <a:buFont typeface="Arial" panose="020B0604020202090204" pitchFamily="34" charset="0"/>
              <a:buChar char="•"/>
            </a:pPr>
            <a:r>
              <a:rPr lang="en-US" altLang="zh-CN" sz="1400">
                <a:latin typeface="Arial" panose="020B0604020202090204" pitchFamily="34" charset="0"/>
                <a:cs typeface="Arial" panose="020B0604020202090204" pitchFamily="34" charset="0"/>
              </a:rPr>
              <a:t>Progressive upsampling via </a:t>
            </a:r>
            <a:r>
              <a:rPr lang="en-US" altLang="zh-CN" sz="1400" i="1">
                <a:latin typeface="Arial" panose="020B0604020202090204" pitchFamily="34" charset="0"/>
                <a:cs typeface="Arial" panose="020B0604020202090204" pitchFamily="34" charset="0"/>
              </a:rPr>
              <a:t>k</a:t>
            </a:r>
            <a:r>
              <a:rPr lang="en-US" altLang="zh-CN" sz="1400" i="1" baseline="-25000">
                <a:latin typeface="Arial" panose="020B0604020202090204" pitchFamily="34" charset="0"/>
                <a:cs typeface="Arial" panose="020B0604020202090204" pitchFamily="34" charset="0"/>
              </a:rPr>
              <a:t>u</a:t>
            </a:r>
            <a:r>
              <a:rPr lang="en-US" altLang="zh-CN" sz="1400" baseline="-25000">
                <a:latin typeface="Arial" panose="020B0604020202090204" pitchFamily="34" charset="0"/>
                <a:cs typeface="Arial" panose="020B0604020202090204" pitchFamily="34" charset="0"/>
              </a:rPr>
              <a:t> </a:t>
            </a:r>
            <a:r>
              <a:rPr lang="en-US" altLang="zh-CN" sz="1400">
                <a:latin typeface="Arial" panose="020B0604020202090204" pitchFamily="34" charset="0"/>
                <a:cs typeface="Arial" panose="020B0604020202090204" pitchFamily="34" charset="0"/>
              </a:rPr>
              <a:t>= [16, 16, 4, 4] layers to match the target sample rate.</a:t>
            </a:r>
            <a:endParaRPr lang="en-US" altLang="zh-CN" sz="1400">
              <a:latin typeface="Arial" panose="020B0604020202090204" pitchFamily="34" charset="0"/>
              <a:cs typeface="Arial" panose="020B0604020202090204" pitchFamily="34" charset="0"/>
            </a:endParaRPr>
          </a:p>
        </p:txBody>
      </p:sp>
      <p:pic>
        <p:nvPicPr>
          <p:cNvPr id="15" name="Google Shape;340;p51"/>
          <p:cNvPicPr preferRelativeResize="0"/>
          <p:nvPr/>
        </p:nvPicPr>
        <p:blipFill>
          <a:blip r:embed="rId2"/>
          <a:stretch>
            <a:fillRect/>
          </a:stretch>
        </p:blipFill>
        <p:spPr>
          <a:xfrm>
            <a:off x="3071495" y="3500755"/>
            <a:ext cx="5943600" cy="431165"/>
          </a:xfrm>
          <a:prstGeom prst="rect">
            <a:avLst/>
          </a:prstGeom>
          <a:noFill/>
          <a:ln>
            <a:noFill/>
          </a:ln>
        </p:spPr>
      </p:pic>
      <p:sp>
        <p:nvSpPr>
          <p:cNvPr id="16" name="文本框 15"/>
          <p:cNvSpPr txBox="1"/>
          <p:nvPr/>
        </p:nvSpPr>
        <p:spPr>
          <a:xfrm>
            <a:off x="6960235" y="4725035"/>
            <a:ext cx="4698365" cy="1383665"/>
          </a:xfrm>
          <a:prstGeom prst="rect">
            <a:avLst/>
          </a:prstGeom>
          <a:noFill/>
        </p:spPr>
        <p:txBody>
          <a:bodyPr wrap="square" rtlCol="0">
            <a:spAutoFit/>
          </a:bodyPr>
          <a:p>
            <a:pPr marL="285750" indent="-285750">
              <a:buFont typeface="Arial" panose="020B0604020202090204" pitchFamily="34" charset="0"/>
              <a:buChar char="•"/>
            </a:pPr>
            <a:r>
              <a:rPr lang="en-US" altLang="zh-CN" sz="1400" b="1" i="1">
                <a:latin typeface="Arial" panose="020B0604020202090204" pitchFamily="34" charset="0"/>
                <a:cs typeface="Arial" panose="020B0604020202090204" pitchFamily="34" charset="0"/>
              </a:rPr>
              <a:t>h</a:t>
            </a:r>
            <a:r>
              <a:rPr lang="en-US" altLang="zh-CN" sz="1400" b="1" i="1" baseline="-25000">
                <a:latin typeface="Arial" panose="020B0604020202090204" pitchFamily="34" charset="0"/>
                <a:cs typeface="Arial" panose="020B0604020202090204" pitchFamily="34" charset="0"/>
              </a:rPr>
              <a:t>u</a:t>
            </a:r>
            <a:r>
              <a:rPr lang="en-US" altLang="zh-CN" sz="1400">
                <a:latin typeface="Arial Regular" panose="020B0604020202090204" charset="0"/>
                <a:cs typeface="Arial Regular" panose="020B0604020202090204" charset="0"/>
              </a:rPr>
              <a:t>= 512: Initial hidden feature dimension.</a:t>
            </a:r>
            <a:endParaRPr lang="zh-CN" altLang="en-US" sz="1400">
              <a:latin typeface="Arial Regular" panose="020B0604020202090204" charset="0"/>
              <a:cs typeface="Arial Regular" panose="020B0604020202090204" charset="0"/>
            </a:endParaRPr>
          </a:p>
          <a:p>
            <a:pPr marL="285750" indent="-285750">
              <a:buFont typeface="Arial" panose="020B0604020202090204" pitchFamily="34" charset="0"/>
              <a:buChar char="•"/>
            </a:pPr>
            <a:r>
              <a:rPr lang="en-US" altLang="zh-CN" sz="1400" b="1" i="1">
                <a:latin typeface="Arial" panose="020B0604020202090204" pitchFamily="34" charset="0"/>
                <a:cs typeface="Arial" panose="020B0604020202090204" pitchFamily="34" charset="0"/>
              </a:rPr>
              <a:t>k</a:t>
            </a:r>
            <a:r>
              <a:rPr lang="en-US" altLang="zh-CN" sz="1400" b="1" i="1" baseline="-25000">
                <a:latin typeface="Arial" panose="020B0604020202090204" pitchFamily="34" charset="0"/>
                <a:cs typeface="Arial" panose="020B0604020202090204" pitchFamily="34" charset="0"/>
              </a:rPr>
              <a:t>u</a:t>
            </a:r>
            <a:r>
              <a:rPr lang="en-US" altLang="zh-CN" sz="1400">
                <a:latin typeface="Arial Regular" panose="020B0604020202090204" charset="0"/>
                <a:cs typeface="Arial Regular" panose="020B0604020202090204" charset="0"/>
              </a:rPr>
              <a:t>: kernel size of upsampling</a:t>
            </a:r>
            <a:endParaRPr lang="en-US" altLang="zh-CN" sz="1400">
              <a:latin typeface="Arial Regular" panose="020B0604020202090204" charset="0"/>
              <a:cs typeface="Arial Regular" panose="020B0604020202090204" charset="0"/>
            </a:endParaRPr>
          </a:p>
          <a:p>
            <a:pPr marL="285750" indent="-285750">
              <a:buFont typeface="Arial" panose="020B0604020202090204" pitchFamily="34" charset="0"/>
              <a:buChar char="•"/>
            </a:pPr>
            <a:r>
              <a:rPr lang="en-US" altLang="zh-CN" sz="1400" b="1" i="1">
                <a:latin typeface="Arial" panose="020B0604020202090204" pitchFamily="34" charset="0"/>
                <a:cs typeface="Arial" panose="020B0604020202090204" pitchFamily="34" charset="0"/>
              </a:rPr>
              <a:t>k</a:t>
            </a:r>
            <a:r>
              <a:rPr lang="en-US" altLang="zh-CN" sz="1400" b="1" i="1" baseline="-25000">
                <a:latin typeface="Arial" panose="020B0604020202090204" pitchFamily="34" charset="0"/>
                <a:cs typeface="Arial" panose="020B0604020202090204" pitchFamily="34" charset="0"/>
              </a:rPr>
              <a:t>r</a:t>
            </a:r>
            <a:r>
              <a:rPr lang="en-US" altLang="zh-CN" sz="1400">
                <a:latin typeface="Arial Regular" panose="020B0604020202090204" charset="0"/>
                <a:cs typeface="Arial Regular" panose="020B0604020202090204" charset="0"/>
              </a:rPr>
              <a:t>= [3, 7, 11]: Parallel ResBlock kernel sizes (small, medium, large receptive fields).</a:t>
            </a:r>
            <a:endParaRPr lang="en-US" altLang="zh-CN" sz="1400">
              <a:latin typeface="Arial Regular" panose="020B0604020202090204" charset="0"/>
              <a:cs typeface="Arial Regular" panose="020B0604020202090204" charset="0"/>
            </a:endParaRPr>
          </a:p>
          <a:p>
            <a:pPr marL="285750" indent="-285750">
              <a:buFont typeface="Arial" panose="020B0604020202090204" pitchFamily="34" charset="0"/>
              <a:buChar char="•"/>
            </a:pPr>
            <a:r>
              <a:rPr lang="en-US" altLang="zh-CN" sz="1400" b="1" i="1">
                <a:latin typeface="Arial" panose="020B0604020202090204" pitchFamily="34" charset="0"/>
                <a:cs typeface="Arial" panose="020B0604020202090204" pitchFamily="34" charset="0"/>
              </a:rPr>
              <a:t>D</a:t>
            </a:r>
            <a:r>
              <a:rPr lang="en-US" altLang="zh-CN" sz="1400" b="1" i="1" baseline="-25000">
                <a:latin typeface="Arial" panose="020B0604020202090204" pitchFamily="34" charset="0"/>
                <a:cs typeface="Arial" panose="020B0604020202090204" pitchFamily="34" charset="0"/>
              </a:rPr>
              <a:t>r</a:t>
            </a:r>
            <a:r>
              <a:rPr lang="en-US" altLang="zh-CN" sz="1400">
                <a:latin typeface="Arial Regular" panose="020B0604020202090204" charset="0"/>
                <a:cs typeface="Arial Regular" panose="020B0604020202090204" charset="0"/>
              </a:rPr>
              <a:t>= [[1, 1], [3, 1], [5, 1]] </a:t>
            </a:r>
            <a:r>
              <a:rPr lang="en-US" altLang="zh-CN" sz="1400">
                <a:latin typeface="Arial Regular" panose="020B0604020202090204" charset="0"/>
                <a:cs typeface="Arial Regular" panose="020B0604020202090204" charset="0"/>
              </a:rPr>
              <a:t>x 3: Layered dilation rates expanding temporal fields without sparse holes.</a:t>
            </a:r>
            <a:endParaRPr lang="en-US" altLang="zh-CN" sz="1400">
              <a:latin typeface="Arial Regular" panose="020B0604020202090204" charset="0"/>
              <a:cs typeface="Arial Regular" panose="020B0604020202090204" charset="0"/>
            </a:endParaRPr>
          </a:p>
        </p:txBody>
      </p:sp>
      <p:sp>
        <p:nvSpPr>
          <p:cNvPr id="17" name="文本框 16"/>
          <p:cNvSpPr txBox="1"/>
          <p:nvPr/>
        </p:nvSpPr>
        <p:spPr>
          <a:xfrm>
            <a:off x="335280" y="5200650"/>
            <a:ext cx="5760720" cy="1630045"/>
          </a:xfrm>
          <a:prstGeom prst="rect">
            <a:avLst/>
          </a:prstGeom>
          <a:noFill/>
        </p:spPr>
        <p:txBody>
          <a:bodyPr wrap="square" rtlCol="0">
            <a:spAutoFit/>
          </a:bodyPr>
          <a:p>
            <a:pPr indent="0">
              <a:buFont typeface="Arial" panose="020B0604020202090204" pitchFamily="34" charset="0"/>
              <a:buNone/>
            </a:pPr>
            <a:r>
              <a:rPr lang="en-US" altLang="zh-CN" sz="1600" b="1">
                <a:latin typeface="Arial" panose="020B0604020202090204" pitchFamily="34" charset="0"/>
                <a:cs typeface="Arial" panose="020B0604020202090204" pitchFamily="34" charset="0"/>
              </a:rPr>
              <a:t>Multi-Receptive Field Integration (MRF)</a:t>
            </a:r>
            <a:endParaRPr lang="en-US" altLang="zh-CN" sz="1600" b="1">
              <a:latin typeface="Arial" panose="020B0604020202090204" pitchFamily="34" charset="0"/>
              <a:cs typeface="Arial" panose="020B0604020202090204" pitchFamily="34" charset="0"/>
            </a:endParaRPr>
          </a:p>
          <a:p>
            <a:pPr marL="285750" indent="-285750">
              <a:buFont typeface="Arial" panose="020B0604020202090204" pitchFamily="34" charset="0"/>
              <a:buChar char="•"/>
            </a:pPr>
            <a:r>
              <a:rPr lang="en-US" altLang="zh-CN" sz="1400">
                <a:latin typeface="Arial" panose="020B0604020202090204" pitchFamily="34" charset="0"/>
                <a:cs typeface="Arial" panose="020B0604020202090204" pitchFamily="34" charset="0"/>
              </a:rPr>
              <a:t>Instead of a single residual chain, HiFi-GAN processes features through multiple parallel ResBlocks with different kernel sizes (k</a:t>
            </a:r>
            <a:r>
              <a:rPr lang="en-US" altLang="zh-CN" sz="1400" baseline="-25000">
                <a:latin typeface="Arial" panose="020B0604020202090204" pitchFamily="34" charset="0"/>
                <a:cs typeface="Arial" panose="020B0604020202090204" pitchFamily="34" charset="0"/>
              </a:rPr>
              <a:t>r</a:t>
            </a:r>
            <a:r>
              <a:rPr lang="en-US" altLang="zh-CN" sz="1400">
                <a:latin typeface="Arial" panose="020B0604020202090204" pitchFamily="34" charset="0"/>
                <a:cs typeface="Arial" panose="020B0604020202090204" pitchFamily="34" charset="0"/>
              </a:rPr>
              <a:t>)and dilation rates</a:t>
            </a:r>
            <a:r>
              <a:rPr lang="en-US" altLang="zh-CN" sz="1400">
                <a:latin typeface="Arial" panose="020B0604020202090204" pitchFamily="34" charset="0"/>
                <a:cs typeface="Arial" panose="020B0604020202090204" pitchFamily="34" charset="0"/>
                <a:sym typeface="+mn-ea"/>
              </a:rPr>
              <a:t>(D</a:t>
            </a:r>
            <a:r>
              <a:rPr lang="en-US" altLang="zh-CN" sz="1400" baseline="-25000">
                <a:latin typeface="Arial" panose="020B0604020202090204" pitchFamily="34" charset="0"/>
                <a:cs typeface="Arial" panose="020B0604020202090204" pitchFamily="34" charset="0"/>
                <a:sym typeface="+mn-ea"/>
              </a:rPr>
              <a:t>r</a:t>
            </a:r>
            <a:r>
              <a:rPr lang="en-US" altLang="zh-CN" sz="1400">
                <a:latin typeface="Arial" panose="020B0604020202090204" pitchFamily="34" charset="0"/>
                <a:cs typeface="Arial" panose="020B0604020202090204" pitchFamily="34" charset="0"/>
                <a:sym typeface="+mn-ea"/>
              </a:rPr>
              <a:t>)</a:t>
            </a:r>
            <a:r>
              <a:rPr lang="en-US" altLang="zh-CN" sz="1400">
                <a:latin typeface="Arial" panose="020B0604020202090204" pitchFamily="34" charset="0"/>
                <a:cs typeface="Arial" panose="020B0604020202090204" pitchFamily="34" charset="0"/>
              </a:rPr>
              <a:t>.</a:t>
            </a:r>
            <a:endParaRPr lang="en-US" altLang="zh-CN" sz="1400">
              <a:latin typeface="Arial" panose="020B0604020202090204" pitchFamily="34" charset="0"/>
              <a:cs typeface="Arial" panose="020B0604020202090204" pitchFamily="34" charset="0"/>
            </a:endParaRPr>
          </a:p>
          <a:p>
            <a:pPr marL="285750" indent="-285750">
              <a:buFont typeface="Arial" panose="020B0604020202090204" pitchFamily="34" charset="0"/>
              <a:buChar char="•"/>
            </a:pPr>
            <a:endParaRPr lang="en-US" altLang="zh-CN" sz="1400">
              <a:latin typeface="Arial" panose="020B0604020202090204" pitchFamily="34" charset="0"/>
              <a:cs typeface="Arial" panose="020B0604020202090204" pitchFamily="34" charset="0"/>
            </a:endParaRPr>
          </a:p>
          <a:p>
            <a:pPr marL="285750" indent="-285750">
              <a:buFont typeface="Arial" panose="020B0604020202090204" pitchFamily="34" charset="0"/>
              <a:buChar char="•"/>
            </a:pPr>
            <a:r>
              <a:rPr lang="en-US" altLang="zh-CN" sz="1400">
                <a:latin typeface="Arial" panose="020B0604020202090204" pitchFamily="34" charset="0"/>
                <a:cs typeface="Arial" panose="020B0604020202090204" pitchFamily="34" charset="0"/>
              </a:rPr>
              <a:t>Sums the outputs of all parallel ResBlocks to synthesize rich harmonic patterns.</a:t>
            </a:r>
            <a:endParaRPr lang="en-US" altLang="zh-CN" sz="1400">
              <a:latin typeface="Arial" panose="020B0604020202090204" pitchFamily="34" charset="0"/>
              <a:cs typeface="Arial" panose="020B0604020202090204" pitchFamily="34" charset="0"/>
            </a:endParaRPr>
          </a:p>
        </p:txBody>
      </p:sp>
      <p:sp>
        <p:nvSpPr>
          <p:cNvPr id="18" name="矩形 17"/>
          <p:cNvSpPr>
            <a:spLocks noGrp="1"/>
          </p:cNvSpPr>
          <p:nvPr/>
        </p:nvSpPr>
        <p:spPr>
          <a:xfrm>
            <a:off x="7031990" y="4032250"/>
            <a:ext cx="394208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MRF ResBlock Architecture Details</a:t>
            </a:r>
            <a:endParaRPr lang="en-US" altLang="zh-CN" sz="1800" b="1" i="0">
              <a:solidFill>
                <a:srgbClr val="1E40AF"/>
              </a:solidFill>
              <a:latin typeface="Arial" panose="020B0604020202090204"/>
              <a:ea typeface="Arial" panose="020B0604020202090204"/>
              <a:cs typeface="Arial" panose="020B0604020202090204"/>
            </a:endParaRPr>
          </a:p>
        </p:txBody>
      </p:sp>
      <p:sp>
        <p:nvSpPr>
          <p:cNvPr id="19" name="文本框 18"/>
          <p:cNvSpPr txBox="1"/>
          <p:nvPr/>
        </p:nvSpPr>
        <p:spPr>
          <a:xfrm>
            <a:off x="6960235" y="4344670"/>
            <a:ext cx="4064000" cy="337185"/>
          </a:xfrm>
          <a:prstGeom prst="rect">
            <a:avLst/>
          </a:prstGeom>
          <a:noFill/>
        </p:spPr>
        <p:txBody>
          <a:bodyPr wrap="square" rtlCol="0">
            <a:spAutoFit/>
          </a:bodyPr>
          <a:p>
            <a:r>
              <a:rPr lang="en-US" altLang="zh-CN" sz="1600" b="1">
                <a:latin typeface="Arial" panose="020B0604020202090204" pitchFamily="34" charset="0"/>
                <a:cs typeface="Arial" panose="020B0604020202090204" pitchFamily="34" charset="0"/>
              </a:rPr>
              <a:t>Hyperparameter Configuration:</a:t>
            </a:r>
            <a:endParaRPr lang="en-US" altLang="zh-CN" sz="1600" b="1">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643953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Code: upsampling kernels and strides</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949363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Mel features -&gt; longer hidden sequence. Stride sets expansion; kernel sets support; padding sets exact length.</a:t>
            </a:r>
            <a:endParaRPr lang="en-US" sz="1280" dirty="0">
              <a:solidFill>
                <a:schemeClr val="dk1"/>
              </a:solidFill>
              <a:latin typeface="+mn-lt"/>
              <a:ea typeface="+mn-ea"/>
              <a:cs typeface="+mn-cs"/>
            </a:endParaRPr>
          </a:p>
        </p:txBody>
      </p:sp>
      <p:sp>
        <p:nvSpPr>
          <p:cNvPr id="7" name="TextBox 7"/>
          <p:cNvSpPr txBox="1"/>
          <p:nvPr/>
        </p:nvSpPr>
        <p:spPr>
          <a:xfrm>
            <a:off x="509588" y="6141720"/>
            <a:ext cx="4857488"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Jungil Kong · jik876/hifi-gan · MIT · models.py L84-96 · 4769534d45 · author code</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5647690"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Code: multi-receptive-field fusion</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928714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Shared upsampled features -&gt; averaged residual branches -&gt; bounded mono waveform. Not mixed speech clips.</a:t>
            </a:r>
            <a:endParaRPr lang="en-US" sz="1280" dirty="0">
              <a:solidFill>
                <a:schemeClr val="dk1"/>
              </a:solidFill>
              <a:latin typeface="+mn-lt"/>
              <a:ea typeface="+mn-ea"/>
              <a:cs typeface="+mn-cs"/>
            </a:endParaRPr>
          </a:p>
        </p:txBody>
      </p:sp>
      <p:sp>
        <p:nvSpPr>
          <p:cNvPr id="7" name="TextBox 7"/>
          <p:cNvSpPr txBox="1"/>
          <p:nvPr/>
        </p:nvSpPr>
        <p:spPr>
          <a:xfrm>
            <a:off x="509588" y="6141720"/>
            <a:ext cx="4991814"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Jungil Kong · jik876/hifi-gan · MIT · models.py L100-116 · 4769534d45 · author code</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395923"/>
            <a:ext cx="9461500"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Multi-Scale (MSD) vs. Multi-Period (MPD) Discriminators</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pic>
        <p:nvPicPr>
          <p:cNvPr id="5" name="Image 5"/>
          <p:cNvPicPr>
            <a:picLocks noChangeAspect="1"/>
          </p:cNvPicPr>
          <p:nvPr/>
        </p:nvPicPr>
        <p:blipFill>
          <a:blip r:embed="rId1"/>
          <a:srcRect t="5514"/>
          <a:stretch>
            <a:fillRect/>
          </a:stretch>
        </p:blipFill>
        <p:spPr>
          <a:xfrm>
            <a:off x="1559560" y="981075"/>
            <a:ext cx="8720455" cy="3253740"/>
          </a:xfrm>
          <a:prstGeom prst="rect">
            <a:avLst/>
          </a:prstGeom>
        </p:spPr>
      </p:pic>
      <p:sp>
        <p:nvSpPr>
          <p:cNvPr id="11" name="TextBox 11"/>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1055370" y="4294505"/>
            <a:ext cx="4557395" cy="106108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lumMod val="75000"/>
                    <a:lumOff val="25000"/>
                  </a:schemeClr>
                </a:solidFill>
                <a:latin typeface="Arial" panose="020B0604020202090204" pitchFamily="34" charset="0"/>
                <a:ea typeface="Arial" panose="020B0604020202090204"/>
                <a:cs typeface="Arial" panose="020B0604020202090204" pitchFamily="34" charset="0"/>
              </a:rPr>
              <a:t>Temporal Resolution View</a:t>
            </a:r>
            <a:endParaRPr lang="en-US" altLang="zh-CN" sz="1600" b="1" i="0">
              <a:solidFill>
                <a:schemeClr val="tx2">
                  <a:lumMod val="75000"/>
                  <a:lumOff val="25000"/>
                </a:schemeClr>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Downsamples raw 1D audio via Average Pooling.</a:t>
            </a: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Uses 1D Conv to inspect consecutive audio samples at coarse, medium, and fine scales.</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1055370" y="5481955"/>
            <a:ext cx="4557395" cy="81153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tx2">
                    <a:lumMod val="75000"/>
                    <a:lumOff val="25000"/>
                  </a:schemeClr>
                </a:solidFill>
                <a:latin typeface="Arial" panose="020B0604020202090204" pitchFamily="34" charset="0"/>
                <a:ea typeface="Arial" panose="020B0604020202090204"/>
                <a:cs typeface="Arial" panose="020B0604020202090204" pitchFamily="34" charset="0"/>
              </a:rPr>
              <a:t>Primary Objective</a:t>
            </a:r>
            <a:endParaRPr lang="en-US" altLang="zh-CN" sz="1600" b="1" i="0">
              <a:solidFill>
                <a:schemeClr val="tx2">
                  <a:lumMod val="75000"/>
                  <a:lumOff val="25000"/>
                </a:schemeClr>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Evaluates temporal smoothness, long-term trends, and phase consistency across raw waveforms.</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6163310" y="4294505"/>
            <a:ext cx="4557395" cy="1061085"/>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accent2"/>
                </a:solidFill>
                <a:latin typeface="Arial" panose="020B0604020202090204" pitchFamily="34" charset="0"/>
                <a:ea typeface="Arial" panose="020B0604020202090204"/>
                <a:cs typeface="Arial" panose="020B0604020202090204" pitchFamily="34" charset="0"/>
              </a:rPr>
              <a:t>Harmonic Pitch Periodicity View</a:t>
            </a:r>
            <a:endParaRPr lang="en-US" altLang="zh-CN" sz="1600" b="1" i="0">
              <a:solidFill>
                <a:schemeClr val="accent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Folds 1D audio into 2D tensor of shape [T/p, p].</a:t>
            </a: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Uses 2D Conv with </a:t>
            </a:r>
            <a:r>
              <a:rPr lang="en-US" altLang="zh-CN" sz="1400" b="1" i="1">
                <a:solidFill>
                  <a:srgbClr val="334155"/>
                </a:solidFill>
                <a:latin typeface="Arial" panose="020B0604020202090204" pitchFamily="34" charset="0"/>
                <a:ea typeface="Arial" panose="020B0604020202090204"/>
                <a:cs typeface="Arial" panose="020B0604020202090204" pitchFamily="34" charset="0"/>
              </a:rPr>
              <a:t>k x 1</a:t>
            </a:r>
            <a:r>
              <a:rPr lang="en-US" altLang="zh-CN" sz="1400" b="0" i="0">
                <a:solidFill>
                  <a:srgbClr val="334155"/>
                </a:solidFill>
                <a:latin typeface="Arial" panose="020B0604020202090204"/>
                <a:ea typeface="Arial" panose="020B0604020202090204"/>
                <a:cs typeface="Arial" panose="020B0604020202090204"/>
              </a:rPr>
              <a:t> kernels along the period dimension </a:t>
            </a:r>
            <a:r>
              <a:rPr lang="en-US" altLang="zh-CN" sz="1400" b="1" i="1">
                <a:solidFill>
                  <a:srgbClr val="334155"/>
                </a:solidFill>
                <a:latin typeface="Arial" panose="020B0604020202090204" pitchFamily="34" charset="0"/>
                <a:ea typeface="Arial" panose="020B0604020202090204"/>
                <a:cs typeface="Arial" panose="020B0604020202090204" pitchFamily="34" charset="0"/>
              </a:rPr>
              <a:t>p</a:t>
            </a:r>
            <a:r>
              <a:rPr lang="en-US" altLang="zh-CN" sz="1400" b="0" i="0">
                <a:solidFill>
                  <a:srgbClr val="334155"/>
                </a:solidFill>
                <a:latin typeface="Arial" panose="020B0604020202090204"/>
                <a:ea typeface="Arial" panose="020B0604020202090204"/>
                <a:cs typeface="Arial" panose="020B0604020202090204"/>
              </a:rPr>
              <a:t>.</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6163310" y="5481955"/>
            <a:ext cx="4557395" cy="811530"/>
          </a:xfrm>
          <a:prstGeom prst="rect">
            <a:avLst/>
          </a:prstGeom>
          <a:noFill/>
          <a:ln w="0">
            <a:noFill/>
            <a:prstDash val="solid"/>
          </a:ln>
        </p:spPr>
        <p:txBody>
          <a:bodyPr wrap="square" lIns="0" tIns="0" rIns="0" bIns="0" anchor="t">
            <a:normAutofit/>
          </a:bodyPr>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chemeClr val="accent2"/>
                </a:solidFill>
                <a:latin typeface="Arial" panose="020B0604020202090204" pitchFamily="34" charset="0"/>
                <a:ea typeface="Arial" panose="020B0604020202090204"/>
                <a:cs typeface="Arial" panose="020B0604020202090204" pitchFamily="34" charset="0"/>
              </a:rPr>
              <a:t>Primary Objective</a:t>
            </a:r>
            <a:endParaRPr lang="en-US" altLang="zh-CN" sz="1600" b="1" i="0">
              <a:solidFill>
                <a:schemeClr val="accent2"/>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Captures pitch, fundamental frequencies (F0), and disjoint harmonic structures associated with period </a:t>
            </a:r>
            <a:r>
              <a:rPr lang="en-US" altLang="zh-CN" sz="1400" b="1" i="1">
                <a:solidFill>
                  <a:srgbClr val="334155"/>
                </a:solidFill>
                <a:latin typeface="Arial" panose="020B0604020202090204" pitchFamily="34" charset="0"/>
                <a:ea typeface="Arial" panose="020B0604020202090204"/>
                <a:cs typeface="Arial" panose="020B0604020202090204" pitchFamily="34" charset="0"/>
              </a:rPr>
              <a:t>p</a:t>
            </a:r>
            <a:r>
              <a:rPr lang="en-US" altLang="zh-CN" sz="1400" b="0" i="0">
                <a:solidFill>
                  <a:srgbClr val="334155"/>
                </a:solidFill>
                <a:latin typeface="Arial" panose="020B0604020202090204"/>
                <a:ea typeface="Arial" panose="020B0604020202090204"/>
                <a:cs typeface="Arial" panose="020B0604020202090204"/>
              </a:rPr>
              <a:t>.</a:t>
            </a:r>
            <a:endParaRPr lang="en-US" altLang="zh-CN" sz="14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551116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Code: folding samples by period</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880239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 1, T] -&gt; padded [B, 1, T/p, p]. For p = 3: [x0,x1,x2], [x3,x4,x5]. Fixed periods, not pitch labels.</a:t>
            </a:r>
            <a:endParaRPr lang="en-US" sz="1280" dirty="0">
              <a:solidFill>
                <a:schemeClr val="dk1"/>
              </a:solidFill>
              <a:latin typeface="+mn-lt"/>
              <a:ea typeface="+mn-ea"/>
              <a:cs typeface="+mn-cs"/>
            </a:endParaRPr>
          </a:p>
        </p:txBody>
      </p:sp>
      <p:sp>
        <p:nvSpPr>
          <p:cNvPr id="7" name="TextBox 7"/>
          <p:cNvSpPr txBox="1"/>
          <p:nvPr/>
        </p:nvSpPr>
        <p:spPr>
          <a:xfrm>
            <a:off x="509588" y="6141720"/>
            <a:ext cx="4991814"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Jungil Kong · jik876/hifi-gan · MIT · models.py L142-156 · 4769534d45 · author code</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49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3575050"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HiFi-GAN : Criterions</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grpSp>
        <p:nvGrpSpPr>
          <p:cNvPr id="6" name="Group 6"/>
          <p:cNvGrpSpPr/>
          <p:nvPr/>
        </p:nvGrpSpPr>
        <p:grpSpPr>
          <a:xfrm>
            <a:off x="3791585" y="3068320"/>
            <a:ext cx="4500880" cy="593090"/>
            <a:chOff x="800100" y="1162050"/>
            <a:chExt cx="10096500" cy="1400175"/>
          </a:xfrm>
        </p:grpSpPr>
        <p:pic>
          <p:nvPicPr>
            <p:cNvPr id="5" name="Image 5"/>
            <p:cNvPicPr>
              <a:picLocks noChangeAspect="1"/>
            </p:cNvPicPr>
            <p:nvPr/>
          </p:nvPicPr>
          <p:blipFill>
            <a:blip r:embed="rId1"/>
            <a:stretch>
              <a:fillRect/>
            </a:stretch>
          </p:blipFill>
          <p:spPr>
            <a:xfrm>
              <a:off x="800100" y="1162050"/>
              <a:ext cx="10096500" cy="1400175"/>
            </a:xfrm>
            <a:prstGeom prst="rect">
              <a:avLst/>
            </a:prstGeom>
          </p:spPr>
        </p:pic>
      </p:grpSp>
      <p:grpSp>
        <p:nvGrpSpPr>
          <p:cNvPr id="11" name="Group 11"/>
          <p:cNvGrpSpPr/>
          <p:nvPr/>
        </p:nvGrpSpPr>
        <p:grpSpPr>
          <a:xfrm>
            <a:off x="829183" y="2309813"/>
            <a:ext cx="9039457" cy="652462"/>
            <a:chOff x="505968" y="2841308"/>
            <a:chExt cx="9039457" cy="652462"/>
          </a:xfrm>
        </p:grpSpPr>
        <p:sp>
          <p:nvSpPr>
            <p:cNvPr id="7" name="TextBox 7"/>
            <p:cNvSpPr txBox="1"/>
            <p:nvPr/>
          </p:nvSpPr>
          <p:spPr>
            <a:xfrm>
              <a:off x="505968" y="2841308"/>
              <a:ext cx="4332605" cy="276860"/>
            </a:xfrm>
            <a:prstGeom prst="rect">
              <a:avLst/>
            </a:prstGeom>
            <a:noFill/>
            <a:ln>
              <a:noFill/>
            </a:ln>
          </p:spPr>
          <p:txBody>
            <a:bodyPr wrap="none" lIns="0" tIns="0" rIns="0" bIns="0" anchor="t" anchorCtr="0">
              <a:spAutoFit/>
            </a:bodyPr>
            <a:lstStyle/>
            <a:p>
              <a:pPr algn="l"/>
              <a:r>
                <a:rPr lang="en-US" altLang="zh-CN" b="1" dirty="0">
                  <a:solidFill>
                    <a:schemeClr val="accent1"/>
                  </a:solidFill>
                  <a:latin typeface="Arial" panose="020B0604020202090204" pitchFamily="34" charset="0"/>
                  <a:ea typeface="+mn-ea"/>
                  <a:cs typeface="Arial" panose="020B0604020202090204" pitchFamily="34" charset="0"/>
                </a:rPr>
                <a:t>1. Least Squares Adversarial Loss (</a:t>
              </a:r>
              <a:r>
                <a:rPr lang="en-US" altLang="zh-CN" b="1" i="1" dirty="0">
                  <a:solidFill>
                    <a:schemeClr val="accent1"/>
                  </a:solidFill>
                  <a:latin typeface="Arial" panose="020B0604020202090204" pitchFamily="34" charset="0"/>
                  <a:ea typeface="+mn-ea"/>
                  <a:cs typeface="Arial" panose="020B0604020202090204" pitchFamily="34" charset="0"/>
                </a:rPr>
                <a:t>L</a:t>
              </a:r>
              <a:r>
                <a:rPr lang="en-US" altLang="zh-CN" b="1" i="1" baseline="-25000" dirty="0">
                  <a:solidFill>
                    <a:schemeClr val="accent1"/>
                  </a:solidFill>
                  <a:latin typeface="Arial" panose="020B0604020202090204" pitchFamily="34" charset="0"/>
                  <a:ea typeface="+mn-ea"/>
                  <a:cs typeface="Arial" panose="020B0604020202090204" pitchFamily="34" charset="0"/>
                </a:rPr>
                <a:t>adv</a:t>
              </a:r>
              <a:r>
                <a:rPr lang="en-US" altLang="zh-CN" b="1" dirty="0">
                  <a:solidFill>
                    <a:schemeClr val="accent1"/>
                  </a:solidFill>
                  <a:latin typeface="Arial" panose="020B0604020202090204" pitchFamily="34" charset="0"/>
                  <a:ea typeface="+mn-ea"/>
                  <a:cs typeface="Arial" panose="020B0604020202090204" pitchFamily="34" charset="0"/>
                </a:rPr>
                <a:t>)</a:t>
              </a:r>
              <a:endParaRPr lang="en-US" altLang="zh-CN" b="1" dirty="0">
                <a:solidFill>
                  <a:schemeClr val="accent1"/>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06730" y="3200400"/>
              <a:ext cx="539399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Real scores approach 1; generated scores approach 0.</a:t>
              </a:r>
              <a:endParaRPr lang="en-US" sz="1500" dirty="0">
                <a:solidFill>
                  <a:schemeClr val="dk1"/>
                </a:solidFill>
                <a:latin typeface="+mn-lt"/>
                <a:ea typeface="+mn-ea"/>
                <a:cs typeface="+mn-cs"/>
              </a:endParaRPr>
            </a:p>
          </p:txBody>
        </p:sp>
        <p:sp>
          <p:nvSpPr>
            <p:cNvPr id="9" name="TextBox 9"/>
            <p:cNvSpPr txBox="1"/>
            <p:nvPr/>
          </p:nvSpPr>
          <p:spPr>
            <a:xfrm>
              <a:off x="6563868" y="2841308"/>
              <a:ext cx="1092200" cy="276860"/>
            </a:xfrm>
            <a:prstGeom prst="rect">
              <a:avLst/>
            </a:prstGeom>
            <a:noFill/>
            <a:ln>
              <a:noFill/>
            </a:ln>
          </p:spPr>
          <p:txBody>
            <a:bodyPr wrap="none" lIns="0" tIns="0" rIns="0" bIns="0" anchor="t" anchorCtr="0">
              <a:spAutoFit/>
            </a:bodyPr>
            <a:lstStyle/>
            <a:p>
              <a:pPr algn="l"/>
              <a:r>
                <a:rPr lang="en-US" b="1" dirty="0">
                  <a:solidFill>
                    <a:schemeClr val="accent2"/>
                  </a:solidFill>
                  <a:latin typeface="Arial" panose="020B0604020202090204" pitchFamily="34" charset="0"/>
                  <a:ea typeface="+mn-ea"/>
                  <a:cs typeface="Arial" panose="020B0604020202090204" pitchFamily="34" charset="0"/>
                </a:rPr>
                <a:t>Generator</a:t>
              </a:r>
              <a:endParaRPr lang="en-US" b="1" dirty="0">
                <a:solidFill>
                  <a:schemeClr val="accent2"/>
                </a:solidFill>
                <a:latin typeface="Arial" panose="020B0604020202090204" pitchFamily="34" charset="0"/>
                <a:ea typeface="+mn-ea"/>
                <a:cs typeface="Arial" panose="020B0604020202090204" pitchFamily="34" charset="0"/>
              </a:endParaRPr>
            </a:p>
          </p:txBody>
        </p:sp>
        <p:sp>
          <p:nvSpPr>
            <p:cNvPr id="10" name="TextBox 10"/>
            <p:cNvSpPr txBox="1"/>
            <p:nvPr/>
          </p:nvSpPr>
          <p:spPr>
            <a:xfrm>
              <a:off x="6564630" y="3200400"/>
              <a:ext cx="298079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Generated scores approach 1.</a:t>
              </a:r>
              <a:endParaRPr lang="en-US" sz="1500" dirty="0">
                <a:solidFill>
                  <a:schemeClr val="dk1"/>
                </a:solidFill>
                <a:latin typeface="+mn-lt"/>
                <a:ea typeface="+mn-ea"/>
                <a:cs typeface="+mn-cs"/>
              </a:endParaRPr>
            </a:p>
          </p:txBody>
        </p:sp>
      </p:grpSp>
      <mc:AlternateContent xmlns:mc="http://schemas.openxmlformats.org/markup-compatibility/2006">
        <mc:Choice xmlns:a14="http://schemas.microsoft.com/office/drawing/2010/main" Requires="a14">
          <p:sp>
            <p:nvSpPr>
              <p:cNvPr id="12" name="generator-loss"/>
              <p:cNvSpPr txBox="1">
                <a:spLocks noGrp="1"/>
              </p:cNvSpPr>
              <p:nvPr/>
            </p:nvSpPr>
            <p:spPr>
              <a:xfrm>
                <a:off x="4224020" y="1143000"/>
                <a:ext cx="3265170" cy="85725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𝐿</m:t>
                          </m:r>
                        </m:e>
                        <m:sub>
                          <m:r>
                            <a:rPr lang="en-US" sz="1650" i="1" dirty="0">
                              <a:solidFill>
                                <a:srgbClr val="334155"/>
                              </a:solidFill>
                              <a:latin typeface="DejaVu Math TeX Gyre" panose="02000503000000000000" charset="0"/>
                              <a:ea typeface="Cambria Math"/>
                              <a:cs typeface="DejaVu Math TeX Gyre" panose="02000503000000000000" charset="0"/>
                            </a:rPr>
                            <m:t>𝐺</m:t>
                          </m:r>
                        </m:sub>
                      </m:sSub>
                      <m:r>
                        <a:rPr lang="en-US" sz="1650" i="1" dirty="0">
                          <a:solidFill>
                            <a:srgbClr val="334155"/>
                          </a:solidFill>
                          <a:latin typeface="DejaVu Math TeX Gyre" panose="02000503000000000000" charset="0"/>
                          <a:ea typeface="宋体" charset="0"/>
                          <a:cs typeface="DejaVu Math TeX Gyre" panose="02000503000000000000" charset="0"/>
                        </a:rPr>
                        <m:t>=</m:t>
                      </m:r>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𝐿</m:t>
                          </m:r>
                        </m:e>
                        <m:sub>
                          <m:r>
                            <a:rPr lang="en-US" sz="1650" i="1" dirty="0">
                              <a:solidFill>
                                <a:srgbClr val="334155"/>
                              </a:solidFill>
                              <a:latin typeface="DejaVu Math TeX Gyre" panose="02000503000000000000" charset="0"/>
                              <a:ea typeface="Cambria Math"/>
                              <a:cs typeface="DejaVu Math TeX Gyre" panose="02000503000000000000" charset="0"/>
                            </a:rPr>
                            <m:t>𝑎𝑑𝑣</m:t>
                          </m:r>
                        </m:sub>
                      </m:sSub>
                      <m:r>
                        <a:rPr lang="en-US" sz="1650" i="1" dirty="0">
                          <a:solidFill>
                            <a:srgbClr val="334155"/>
                          </a:solidFill>
                          <a:latin typeface="DejaVu Math TeX Gyre" panose="02000503000000000000" charset="0"/>
                          <a:ea typeface="宋体" charset="0"/>
                          <a:cs typeface="DejaVu Math TeX Gyre" panose="02000503000000000000" charset="0"/>
                        </a:rPr>
                        <m:t>+</m:t>
                      </m:r>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宋体" charset="0"/>
                              <a:cs typeface="DejaVu Math TeX Gyre" panose="02000503000000000000" charset="0"/>
                            </a:rPr>
                            <m:t>𝜆</m:t>
                          </m:r>
                        </m:e>
                        <m:sub>
                          <m:r>
                            <a:rPr lang="en-US" sz="1650" i="1" dirty="0">
                              <a:solidFill>
                                <a:srgbClr val="334155"/>
                              </a:solidFill>
                              <a:latin typeface="DejaVu Math TeX Gyre" panose="02000503000000000000" charset="0"/>
                              <a:ea typeface="Cambria Math"/>
                              <a:cs typeface="DejaVu Math TeX Gyre" panose="02000503000000000000" charset="0"/>
                            </a:rPr>
                            <m:t>𝑚𝑒𝑙</m:t>
                          </m:r>
                        </m:sub>
                      </m:sSub>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𝐿</m:t>
                          </m:r>
                        </m:e>
                        <m:sub>
                          <m:r>
                            <a:rPr lang="en-US" sz="1650" i="1" dirty="0">
                              <a:solidFill>
                                <a:srgbClr val="334155"/>
                              </a:solidFill>
                              <a:latin typeface="DejaVu Math TeX Gyre" panose="02000503000000000000" charset="0"/>
                              <a:ea typeface="Cambria Math"/>
                              <a:cs typeface="DejaVu Math TeX Gyre" panose="02000503000000000000" charset="0"/>
                            </a:rPr>
                            <m:t>𝑚𝑒𝑙</m:t>
                          </m:r>
                        </m:sub>
                      </m:sSub>
                      <m:r>
                        <a:rPr lang="en-US" sz="1650" i="1" dirty="0">
                          <a:solidFill>
                            <a:srgbClr val="334155"/>
                          </a:solidFill>
                          <a:latin typeface="DejaVu Math TeX Gyre" panose="02000503000000000000" charset="0"/>
                          <a:ea typeface="宋体" charset="0"/>
                          <a:cs typeface="DejaVu Math TeX Gyre" panose="02000503000000000000" charset="0"/>
                        </a:rPr>
                        <m:t>+</m:t>
                      </m:r>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宋体" charset="0"/>
                              <a:cs typeface="DejaVu Math TeX Gyre" panose="02000503000000000000" charset="0"/>
                            </a:rPr>
                            <m:t>𝜆</m:t>
                          </m:r>
                        </m:e>
                        <m:sub>
                          <m:r>
                            <a:rPr lang="en-US" sz="1650" i="1" dirty="0">
                              <a:solidFill>
                                <a:srgbClr val="334155"/>
                              </a:solidFill>
                              <a:latin typeface="DejaVu Math TeX Gyre" panose="02000503000000000000" charset="0"/>
                              <a:ea typeface="Cambria Math"/>
                              <a:cs typeface="DejaVu Math TeX Gyre" panose="02000503000000000000" charset="0"/>
                            </a:rPr>
                            <m:t>𝑓𝑚</m:t>
                          </m:r>
                        </m:sub>
                      </m:sSub>
                      <m:sSub>
                        <m:sSubPr>
                          <m:ctrlPr>
                            <a:rPr i="1">
                              <a:latin typeface="DejaVu Math TeX Gyre" panose="02000503000000000000" charset="0"/>
                              <a:cs typeface="DejaVu Math TeX Gyre" panose="02000503000000000000" charset="0"/>
                            </a:rPr>
                          </m:ctrlPr>
                        </m:sSubPr>
                        <m:e>
                          <m:r>
                            <a:rPr lang="en-US" sz="1650" i="1" dirty="0">
                              <a:solidFill>
                                <a:srgbClr val="334155"/>
                              </a:solidFill>
                              <a:latin typeface="DejaVu Math TeX Gyre" panose="02000503000000000000" charset="0"/>
                              <a:ea typeface="Cambria Math"/>
                              <a:cs typeface="DejaVu Math TeX Gyre" panose="02000503000000000000" charset="0"/>
                            </a:rPr>
                            <m:t>𝐿</m:t>
                          </m:r>
                        </m:e>
                        <m:sub>
                          <m:r>
                            <a:rPr lang="en-US" sz="1650" i="1" dirty="0">
                              <a:solidFill>
                                <a:srgbClr val="334155"/>
                              </a:solidFill>
                              <a:latin typeface="DejaVu Math TeX Gyre" panose="02000503000000000000" charset="0"/>
                              <a:ea typeface="Cambria Math"/>
                              <a:cs typeface="DejaVu Math TeX Gyre" panose="02000503000000000000" charset="0"/>
                            </a:rPr>
                            <m:t>𝑓𝑚</m:t>
                          </m:r>
                        </m:sub>
                      </m:sSub>
                    </m:oMath>
                  </m:oMathPara>
                </a14:m>
                <a:endParaRPr i="1">
                  <a:latin typeface="Times New Roman" panose="02020503050405090304" charset="0"/>
                  <a:cs typeface="Times New Roman" panose="02020503050405090304" charset="0"/>
                </a:endParaRPr>
              </a:p>
            </p:txBody>
          </p:sp>
        </mc:Choice>
        <mc:Fallback>
          <p:sp>
            <p:nvSpPr>
              <p:cNvPr id="12" name="generator-loss"/>
              <p:cNvSpPr txBox="1">
                <a:spLocks noRot="1" noChangeAspect="1" noMove="1" noResize="1" noEditPoints="1" noAdjustHandles="1" noChangeArrowheads="1" noChangeShapeType="1" noTextEdit="1"/>
              </p:cNvSpPr>
              <p:nvPr/>
            </p:nvSpPr>
            <p:spPr>
              <a:xfrm>
                <a:off x="4224020" y="1143000"/>
                <a:ext cx="3265170" cy="857250"/>
              </a:xfrm>
              <a:prstGeom prst="rect">
                <a:avLst/>
              </a:prstGeom>
              <a:blipFill rotWithShape="1">
                <a:blip r:embed="rId2"/>
                <a:stretch>
                  <a:fillRect r="-13205"/>
                </a:stretch>
              </a:blipFill>
              <a:ln>
                <a:noFill/>
              </a:ln>
            </p:spPr>
            <p:txBody>
              <a:bodyPr/>
              <a:lstStyle/>
              <a:p>
                <a:r>
                  <a:rPr lang="zh-CN" altLang="en-US">
                    <a:noFill/>
                  </a:rPr>
                  <a:t> </a:t>
                </a:r>
              </a:p>
            </p:txBody>
          </p:sp>
        </mc:Fallback>
      </mc:AlternateContent>
      <p:grpSp>
        <p:nvGrpSpPr>
          <p:cNvPr id="17" name="Group 17"/>
          <p:cNvGrpSpPr/>
          <p:nvPr/>
        </p:nvGrpSpPr>
        <p:grpSpPr>
          <a:xfrm>
            <a:off x="829183" y="3926523"/>
            <a:ext cx="4990388" cy="1715452"/>
            <a:chOff x="495808" y="4765358"/>
            <a:chExt cx="4990388" cy="1715452"/>
          </a:xfrm>
        </p:grpSpPr>
        <p:sp>
          <p:nvSpPr>
            <p:cNvPr id="13" name="TextBox 13"/>
            <p:cNvSpPr txBox="1"/>
            <p:nvPr/>
          </p:nvSpPr>
          <p:spPr>
            <a:xfrm>
              <a:off x="505968" y="4765358"/>
              <a:ext cx="3321050" cy="276860"/>
            </a:xfrm>
            <a:prstGeom prst="rect">
              <a:avLst/>
            </a:prstGeom>
            <a:noFill/>
            <a:ln>
              <a:noFill/>
            </a:ln>
          </p:spPr>
          <p:txBody>
            <a:bodyPr wrap="none" lIns="0" tIns="0" rIns="0" bIns="0" anchor="t" anchorCtr="0">
              <a:spAutoFit/>
            </a:bodyPr>
            <a:lstStyle/>
            <a:p>
              <a:pPr algn="l"/>
              <a:r>
                <a:rPr lang="en-US" b="1" dirty="0">
                  <a:solidFill>
                    <a:schemeClr val="accent1"/>
                  </a:solidFill>
                  <a:latin typeface="Arial" panose="020B0604020202090204" pitchFamily="34" charset="0"/>
                  <a:ea typeface="+mn-ea"/>
                  <a:cs typeface="Arial" panose="020B0604020202090204" pitchFamily="34" charset="0"/>
                </a:rPr>
                <a:t>2. </a:t>
              </a:r>
              <a:r>
                <a:rPr lang="en-US" altLang="zh-CN" b="1" dirty="0">
                  <a:solidFill>
                    <a:schemeClr val="accent1"/>
                  </a:solidFill>
                  <a:latin typeface="Arial" panose="020B0604020202090204" pitchFamily="34" charset="0"/>
                  <a:ea typeface="+mn-ea"/>
                  <a:cs typeface="Arial" panose="020B0604020202090204" pitchFamily="34" charset="0"/>
                </a:rPr>
                <a:t>Mel-Spectrogram Loss (</a:t>
              </a:r>
              <a:r>
                <a:rPr lang="en-US" altLang="zh-CN" b="1" i="1" dirty="0">
                  <a:solidFill>
                    <a:schemeClr val="accent1"/>
                  </a:solidFill>
                  <a:latin typeface="Arial" panose="020B0604020202090204" pitchFamily="34" charset="0"/>
                  <a:ea typeface="+mn-ea"/>
                  <a:cs typeface="Arial" panose="020B0604020202090204" pitchFamily="34" charset="0"/>
                </a:rPr>
                <a:t>L</a:t>
              </a:r>
              <a:r>
                <a:rPr lang="en-US" b="1" i="1" baseline="-25000" dirty="0">
                  <a:solidFill>
                    <a:schemeClr val="accent1"/>
                  </a:solidFill>
                  <a:latin typeface="Arial" panose="020B0604020202090204" pitchFamily="34" charset="0"/>
                  <a:ea typeface="+mn-ea"/>
                  <a:cs typeface="Arial" panose="020B0604020202090204" pitchFamily="34" charset="0"/>
                </a:rPr>
                <a:t>Mel</a:t>
              </a:r>
              <a:r>
                <a:rPr lang="en-US" b="1" dirty="0">
                  <a:solidFill>
                    <a:schemeClr val="accent1"/>
                  </a:solidFill>
                  <a:latin typeface="Arial" panose="020B0604020202090204" pitchFamily="34" charset="0"/>
                  <a:ea typeface="+mn-ea"/>
                  <a:cs typeface="Arial" panose="020B0604020202090204" pitchFamily="34" charset="0"/>
                </a:rPr>
                <a:t>)</a:t>
              </a:r>
              <a:endParaRPr lang="en-US" b="1" dirty="0">
                <a:solidFill>
                  <a:schemeClr val="accent1"/>
                </a:solidFill>
                <a:latin typeface="Arial" panose="020B0604020202090204" pitchFamily="34" charset="0"/>
                <a:ea typeface="+mn-ea"/>
                <a:cs typeface="Arial" panose="020B0604020202090204" pitchFamily="34" charset="0"/>
              </a:endParaRPr>
            </a:p>
          </p:txBody>
        </p:sp>
        <p:sp>
          <p:nvSpPr>
            <p:cNvPr id="14" name="TextBox 14"/>
            <p:cNvSpPr txBox="1"/>
            <p:nvPr/>
          </p:nvSpPr>
          <p:spPr>
            <a:xfrm>
              <a:off x="506730" y="5114925"/>
              <a:ext cx="49794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Compare target and generated spectral features.</a:t>
              </a:r>
              <a:endParaRPr lang="en-US" sz="1500" dirty="0">
                <a:solidFill>
                  <a:schemeClr val="dk1"/>
                </a:solidFill>
                <a:latin typeface="+mn-lt"/>
                <a:ea typeface="+mn-ea"/>
                <a:cs typeface="+mn-cs"/>
              </a:endParaRPr>
            </a:p>
          </p:txBody>
        </p:sp>
        <p:sp>
          <p:nvSpPr>
            <p:cNvPr id="15" name="TextBox 15"/>
            <p:cNvSpPr txBox="1"/>
            <p:nvPr/>
          </p:nvSpPr>
          <p:spPr>
            <a:xfrm>
              <a:off x="495808" y="5827078"/>
              <a:ext cx="3280410" cy="276860"/>
            </a:xfrm>
            <a:prstGeom prst="rect">
              <a:avLst/>
            </a:prstGeom>
            <a:noFill/>
            <a:ln>
              <a:noFill/>
            </a:ln>
          </p:spPr>
          <p:txBody>
            <a:bodyPr wrap="none" lIns="0" tIns="0" rIns="0" bIns="0" anchor="t" anchorCtr="0">
              <a:spAutoFit/>
            </a:bodyPr>
            <a:lstStyle/>
            <a:p>
              <a:pPr algn="l"/>
              <a:r>
                <a:rPr lang="en-US" b="1" dirty="0">
                  <a:solidFill>
                    <a:schemeClr val="accent2"/>
                  </a:solidFill>
                  <a:latin typeface="Arial" panose="020B0604020202090204" pitchFamily="34" charset="0"/>
                  <a:ea typeface="+mn-ea"/>
                  <a:cs typeface="Arial" panose="020B0604020202090204" pitchFamily="34" charset="0"/>
                </a:rPr>
                <a:t>3. </a:t>
              </a:r>
              <a:r>
                <a:rPr lang="en-US" altLang="zh-CN" b="1" dirty="0">
                  <a:solidFill>
                    <a:schemeClr val="accent2"/>
                  </a:solidFill>
                  <a:latin typeface="Arial" panose="020B0604020202090204" pitchFamily="34" charset="0"/>
                  <a:ea typeface="+mn-ea"/>
                  <a:cs typeface="Arial" panose="020B0604020202090204" pitchFamily="34" charset="0"/>
                </a:rPr>
                <a:t>Feature Matching Loss (</a:t>
              </a:r>
              <a:r>
                <a:rPr lang="en-US" altLang="zh-CN" b="1" i="1" dirty="0">
                  <a:solidFill>
                    <a:schemeClr val="accent2"/>
                  </a:solidFill>
                  <a:latin typeface="Arial" panose="020B0604020202090204" pitchFamily="34" charset="0"/>
                  <a:ea typeface="+mn-ea"/>
                  <a:cs typeface="Arial" panose="020B0604020202090204" pitchFamily="34" charset="0"/>
                </a:rPr>
                <a:t>L</a:t>
              </a:r>
              <a:r>
                <a:rPr lang="en-US" altLang="zh-CN" b="1" i="1" baseline="-25000" dirty="0">
                  <a:solidFill>
                    <a:schemeClr val="accent2"/>
                  </a:solidFill>
                  <a:latin typeface="Arial" panose="020B0604020202090204" pitchFamily="34" charset="0"/>
                  <a:ea typeface="+mn-ea"/>
                  <a:cs typeface="Arial" panose="020B0604020202090204" pitchFamily="34" charset="0"/>
                </a:rPr>
                <a:t>fm</a:t>
              </a:r>
              <a:r>
                <a:rPr lang="en-US" altLang="zh-CN" b="1" dirty="0">
                  <a:solidFill>
                    <a:schemeClr val="accent2"/>
                  </a:solidFill>
                  <a:latin typeface="Arial" panose="020B0604020202090204" pitchFamily="34" charset="0"/>
                  <a:ea typeface="+mn-ea"/>
                  <a:cs typeface="Arial" panose="020B0604020202090204" pitchFamily="34" charset="0"/>
                </a:rPr>
                <a:t>)</a:t>
              </a:r>
              <a:endParaRPr lang="en-US" altLang="zh-CN" b="1" dirty="0">
                <a:solidFill>
                  <a:schemeClr val="accent2"/>
                </a:solidFill>
                <a:latin typeface="Arial" panose="020B0604020202090204" pitchFamily="34" charset="0"/>
                <a:ea typeface="+mn-ea"/>
                <a:cs typeface="Arial" panose="020B0604020202090204" pitchFamily="34" charset="0"/>
              </a:endParaRPr>
            </a:p>
          </p:txBody>
        </p:sp>
        <p:sp>
          <p:nvSpPr>
            <p:cNvPr id="16" name="TextBox 16"/>
            <p:cNvSpPr txBox="1"/>
            <p:nvPr/>
          </p:nvSpPr>
          <p:spPr>
            <a:xfrm>
              <a:off x="495935" y="6187440"/>
              <a:ext cx="48578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Compare intermediate discriminator activations.</a:t>
              </a:r>
              <a:endParaRPr lang="en-US" sz="1500" dirty="0">
                <a:solidFill>
                  <a:schemeClr val="dk1"/>
                </a:solidFill>
                <a:latin typeface="+mn-lt"/>
                <a:ea typeface="+mn-ea"/>
                <a:cs typeface="+mn-cs"/>
              </a:endParaRPr>
            </a:p>
          </p:txBody>
        </p:sp>
      </p:grpSp>
      <p:sp>
        <p:nvSpPr>
          <p:cNvPr id="21" name="TextBox 21"/>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467678"/>
            <a:ext cx="746569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Code : Discriminator Feature Matching Loss</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txBody>
          <a:bodyPr/>
          <a:p>
            <a:endParaRPr lang="zh-CN" altLang="en-US"/>
          </a:p>
        </p:txBody>
      </p:sp>
      <p:pic>
        <p:nvPicPr>
          <p:cNvPr id="5" name="Image 5"/>
          <p:cNvPicPr>
            <a:picLocks noChangeAspect="1"/>
          </p:cNvPicPr>
          <p:nvPr/>
        </p:nvPicPr>
        <p:blipFill>
          <a:blip r:embed="rId1"/>
          <a:stretch>
            <a:fillRect/>
          </a:stretch>
        </p:blipFill>
        <p:spPr>
          <a:xfrm>
            <a:off x="514350" y="1381125"/>
            <a:ext cx="10972800" cy="4391025"/>
          </a:xfrm>
          <a:prstGeom prst="rect">
            <a:avLst/>
          </a:prstGeom>
        </p:spPr>
      </p:pic>
      <p:sp>
        <p:nvSpPr>
          <p:cNvPr id="6" name="TextBox 6"/>
          <p:cNvSpPr txBox="1"/>
          <p:nvPr/>
        </p:nvSpPr>
        <p:spPr>
          <a:xfrm>
            <a:off x="507873" y="5815489"/>
            <a:ext cx="939011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Real / generated layer activations -&gt; summed mean absolute differences. D update control is outside this loss.</a:t>
            </a:r>
            <a:endParaRPr lang="en-US" sz="1280" dirty="0">
              <a:solidFill>
                <a:schemeClr val="dk1"/>
              </a:solidFill>
              <a:latin typeface="+mn-lt"/>
              <a:ea typeface="+mn-ea"/>
              <a:cs typeface="+mn-cs"/>
            </a:endParaRPr>
          </a:p>
        </p:txBody>
      </p:sp>
      <p:sp>
        <p:nvSpPr>
          <p:cNvPr id="7" name="TextBox 7"/>
          <p:cNvSpPr txBox="1"/>
          <p:nvPr/>
        </p:nvSpPr>
        <p:spPr>
          <a:xfrm>
            <a:off x="509588" y="6141720"/>
            <a:ext cx="4991814" cy="176212"/>
          </a:xfrm>
          <a:prstGeom prst="rect">
            <a:avLst/>
          </a:prstGeom>
          <a:noFill/>
          <a:ln>
            <a:noFill/>
          </a:ln>
        </p:spPr>
        <p:txBody>
          <a:bodyPr wrap="none" lIns="0" tIns="0" rIns="0" bIns="0" anchor="t" anchorCtr="0">
            <a:spAutoFit/>
          </a:bodyPr>
          <a:lstStyle/>
          <a:p>
            <a:pPr algn="l"/>
            <a:r>
              <a:rPr lang="en-US" sz="900" dirty="0">
                <a:solidFill>
                  <a:srgbClr val="64748B"/>
                </a:solidFill>
                <a:latin typeface="+mn-lt"/>
                <a:ea typeface="+mn-ea"/>
                <a:cs typeface="+mn-cs"/>
              </a:rPr>
              <a:t>Jungil Kong · jik876/hifi-gan · MIT · models.py L251-257 · 4769534d45 · author code</a:t>
            </a:r>
            <a:endParaRPr lang="en-US" sz="900" dirty="0">
              <a:solidFill>
                <a:srgbClr val="64748B"/>
              </a:solidFill>
              <a:latin typeface="+mn-lt"/>
              <a:ea typeface="+mn-ea"/>
              <a:cs typeface="+mn-cs"/>
            </a:endParaRPr>
          </a:p>
        </p:txBody>
      </p:sp>
      <p:sp>
        <p:nvSpPr>
          <p:cNvPr id="8" name="TextBox 8"/>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82955"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VOCODER          </a:t>
            </a:r>
            <a:endParaRPr lang="en-US" sz="750" dirty="0">
              <a:solidFill>
                <a:srgbClr val="64748B"/>
              </a:solidFill>
              <a:latin typeface="+mn-lt"/>
              <a:ea typeface="+mn-ea"/>
              <a:cs typeface="+mn-cs"/>
            </a:endParaRPr>
          </a:p>
        </p:txBody>
      </p:sp>
      <p:sp>
        <p:nvSpPr>
          <p:cNvPr id="3" name="TextBox 3"/>
          <p:cNvSpPr txBox="1"/>
          <p:nvPr/>
        </p:nvSpPr>
        <p:spPr>
          <a:xfrm>
            <a:off x="501396" y="395923"/>
            <a:ext cx="5768975" cy="430530"/>
          </a:xfrm>
          <a:prstGeom prst="rect">
            <a:avLst/>
          </a:prstGeom>
          <a:noFill/>
          <a:ln>
            <a:noFill/>
          </a:ln>
        </p:spPr>
        <p:txBody>
          <a:bodyPr wrap="none" lIns="0" tIns="0" rIns="0" bIns="0" anchor="t" anchorCtr="0">
            <a:spAutoFit/>
          </a:bodyPr>
          <a:lstStyle/>
          <a:p>
            <a:pPr algn="l"/>
            <a:r>
              <a:rPr lang="en-US" altLang="zh-CN" sz="2800" b="1" dirty="0">
                <a:solidFill>
                  <a:schemeClr val="tx1"/>
                </a:solidFill>
                <a:latin typeface="Arial" panose="020B0604020202090204" pitchFamily="34" charset="0"/>
                <a:ea typeface="+mn-ea"/>
                <a:cs typeface="Arial" panose="020B0604020202090204" pitchFamily="34" charset="0"/>
              </a:rPr>
              <a:t>Weight Normalization in Vocoders</a:t>
            </a:r>
            <a:endParaRPr lang="en-US" altLang="zh-CN"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p:spPr>
        <p:style>
          <a:lnRef idx="3">
            <a:schemeClr val="accent1"/>
          </a:lnRef>
          <a:fillRef idx="0">
            <a:srgbClr val="FFFFFF"/>
          </a:fillRef>
          <a:effectRef idx="0">
            <a:srgbClr val="FFFFFF"/>
          </a:effectRef>
          <a:fontRef idx="minor">
            <a:schemeClr val="tx1"/>
          </a:fontRef>
        </p:style>
      </p:sp>
      <p:grpSp>
        <p:nvGrpSpPr>
          <p:cNvPr id="6" name="Group 6"/>
          <p:cNvGrpSpPr/>
          <p:nvPr/>
        </p:nvGrpSpPr>
        <p:grpSpPr>
          <a:xfrm>
            <a:off x="2279650" y="2077720"/>
            <a:ext cx="1884680" cy="857250"/>
            <a:chOff x="704850" y="1733550"/>
            <a:chExt cx="4381500" cy="1905000"/>
          </a:xfrm>
        </p:grpSpPr>
        <p:pic>
          <p:nvPicPr>
            <p:cNvPr id="5" name="Image 5"/>
            <p:cNvPicPr>
              <a:picLocks noChangeAspect="1"/>
            </p:cNvPicPr>
            <p:nvPr/>
          </p:nvPicPr>
          <p:blipFill>
            <a:blip r:embed="rId1"/>
            <a:stretch>
              <a:fillRect/>
            </a:stretch>
          </p:blipFill>
          <p:spPr>
            <a:xfrm>
              <a:off x="704850" y="1733550"/>
              <a:ext cx="4381500" cy="1905000"/>
            </a:xfrm>
            <a:prstGeom prst="rect">
              <a:avLst/>
            </a:prstGeom>
          </p:spPr>
        </p:pic>
      </p:grpSp>
      <p:sp>
        <p:nvSpPr>
          <p:cNvPr id="17" name="TextBox 17"/>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52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18" name="文本框 17"/>
          <p:cNvSpPr txBox="1"/>
          <p:nvPr/>
        </p:nvSpPr>
        <p:spPr>
          <a:xfrm>
            <a:off x="509905" y="1124585"/>
            <a:ext cx="4064000" cy="368300"/>
          </a:xfrm>
          <a:prstGeom prst="rect">
            <a:avLst/>
          </a:prstGeom>
          <a:noFill/>
        </p:spPr>
        <p:txBody>
          <a:bodyPr wrap="square" rtlCol="0">
            <a:spAutoFit/>
          </a:bodyPr>
          <a:p>
            <a:r>
              <a:rPr lang="en-US" altLang="zh-CN" b="1">
                <a:latin typeface="Arial" panose="020B0604020202090204" pitchFamily="34" charset="0"/>
                <a:cs typeface="Arial" panose="020B0604020202090204" pitchFamily="34" charset="0"/>
              </a:rPr>
              <a:t>Core Reparameterization Formula</a:t>
            </a:r>
            <a:endParaRPr lang="en-US" altLang="zh-CN" b="1">
              <a:latin typeface="Arial" panose="020B0604020202090204" pitchFamily="34" charset="0"/>
              <a:cs typeface="Arial" panose="020B0604020202090204" pitchFamily="34" charset="0"/>
            </a:endParaRPr>
          </a:p>
        </p:txBody>
      </p:sp>
      <p:sp>
        <p:nvSpPr>
          <p:cNvPr id="19" name="TextBox 8"/>
          <p:cNvSpPr txBox="1"/>
          <p:nvPr/>
        </p:nvSpPr>
        <p:spPr>
          <a:xfrm>
            <a:off x="541655" y="3447415"/>
            <a:ext cx="5220335" cy="1038225"/>
          </a:xfrm>
          <a:prstGeom prst="rect">
            <a:avLst/>
          </a:prstGeom>
          <a:noFill/>
          <a:ln>
            <a:noFill/>
          </a:ln>
        </p:spPr>
        <p:txBody>
          <a:bodyPr wrap="square" lIns="0" tIns="0" rIns="0" bIns="0" anchor="t" anchorCtr="0">
            <a:spAutoFit/>
          </a:bodyPr>
          <a:lstStyle/>
          <a:p>
            <a:pPr algn="l">
              <a:lnSpc>
                <a:spcPts val="2025"/>
              </a:lnSpc>
            </a:pPr>
            <a:r>
              <a:rPr lang="en-US" altLang="zh-CN" sz="1500" b="1" dirty="0">
                <a:solidFill>
                  <a:schemeClr val="accent1"/>
                </a:solidFill>
                <a:latin typeface="Arial" panose="020B0604020202090204" pitchFamily="34" charset="0"/>
                <a:ea typeface="+mn-ea"/>
                <a:cs typeface="Arial" panose="020B0604020202090204" pitchFamily="34" charset="0"/>
              </a:rPr>
              <a:t>Vector &amp; Scale Decoupling</a:t>
            </a:r>
            <a:endParaRPr lang="en-US" altLang="zh-CN" sz="1500" b="1" dirty="0">
              <a:solidFill>
                <a:schemeClr val="accent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sz="1500" b="1" i="1" dirty="0">
                <a:solidFill>
                  <a:schemeClr val="dk1"/>
                </a:solidFill>
                <a:latin typeface="Arial" panose="020B0604020202090204" pitchFamily="34" charset="0"/>
                <a:ea typeface="+mn-ea"/>
                <a:cs typeface="Arial" panose="020B0604020202090204" pitchFamily="34" charset="0"/>
              </a:rPr>
              <a:t>v </a:t>
            </a:r>
            <a:r>
              <a:rPr lang="en-US" sz="1500" dirty="0">
                <a:solidFill>
                  <a:schemeClr val="dk1"/>
                </a:solidFill>
                <a:latin typeface="Arial" panose="020B0604020202090204" pitchFamily="34" charset="0"/>
                <a:ea typeface="+mn-ea"/>
                <a:cs typeface="Arial" panose="020B0604020202090204" pitchFamily="34" charset="0"/>
              </a:rPr>
              <a:t>: </a:t>
            </a:r>
            <a:r>
              <a:rPr lang="en-US" altLang="zh-CN" sz="1500" dirty="0">
                <a:solidFill>
                  <a:schemeClr val="dk1"/>
                </a:solidFill>
                <a:latin typeface="Arial" panose="020B0604020202090204" pitchFamily="34" charset="0"/>
                <a:ea typeface="+mn-ea"/>
                <a:cs typeface="Arial" panose="020B0604020202090204" pitchFamily="34" charset="0"/>
              </a:rPr>
              <a:t>Unconstrained vector determining the filter's direction (scaled to unit length).</a:t>
            </a:r>
            <a:endParaRPr lang="en-US" altLang="zh-CN" sz="1500" dirty="0">
              <a:solidFill>
                <a:schemeClr val="dk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b="1" i="1" dirty="0">
                <a:solidFill>
                  <a:schemeClr val="dk1"/>
                </a:solidFill>
                <a:latin typeface="Arial" panose="020B0604020202090204" pitchFamily="34" charset="0"/>
                <a:ea typeface="+mn-ea"/>
                <a:cs typeface="Arial" panose="020B0604020202090204" pitchFamily="34" charset="0"/>
              </a:rPr>
              <a:t>g</a:t>
            </a:r>
            <a:r>
              <a:rPr lang="en-US" altLang="zh-CN" sz="1500" dirty="0">
                <a:solidFill>
                  <a:schemeClr val="dk1"/>
                </a:solidFill>
                <a:latin typeface="Arial" panose="020B0604020202090204" pitchFamily="34" charset="0"/>
                <a:ea typeface="+mn-ea"/>
                <a:cs typeface="Arial" panose="020B0604020202090204" pitchFamily="34" charset="0"/>
              </a:rPr>
              <a:t> : Scalar parameter controlling weight scale.</a:t>
            </a:r>
            <a:endParaRPr lang="en-US" altLang="zh-CN" sz="1500" dirty="0">
              <a:solidFill>
                <a:schemeClr val="dk1"/>
              </a:solidFill>
              <a:latin typeface="Arial" panose="020B0604020202090204" pitchFamily="34" charset="0"/>
              <a:ea typeface="+mn-ea"/>
              <a:cs typeface="Arial" panose="020B0604020202090204" pitchFamily="34" charset="0"/>
            </a:endParaRPr>
          </a:p>
        </p:txBody>
      </p:sp>
      <p:sp>
        <p:nvSpPr>
          <p:cNvPr id="20" name="TextBox 8"/>
          <p:cNvSpPr txBox="1"/>
          <p:nvPr/>
        </p:nvSpPr>
        <p:spPr>
          <a:xfrm>
            <a:off x="479425" y="4965065"/>
            <a:ext cx="5220335" cy="778510"/>
          </a:xfrm>
          <a:prstGeom prst="rect">
            <a:avLst/>
          </a:prstGeom>
          <a:noFill/>
          <a:ln>
            <a:noFill/>
          </a:ln>
        </p:spPr>
        <p:txBody>
          <a:bodyPr wrap="square" lIns="0" tIns="0" rIns="0" bIns="0" anchor="t" anchorCtr="0">
            <a:spAutoFit/>
          </a:bodyPr>
          <a:lstStyle/>
          <a:p>
            <a:pPr algn="l">
              <a:lnSpc>
                <a:spcPts val="2025"/>
              </a:lnSpc>
            </a:pPr>
            <a:r>
              <a:rPr lang="en-US" altLang="zh-CN" sz="1500" b="1" dirty="0">
                <a:solidFill>
                  <a:schemeClr val="accent1"/>
                </a:solidFill>
                <a:latin typeface="Arial" panose="020B0604020202090204" pitchFamily="34" charset="0"/>
                <a:ea typeface="+mn-ea"/>
                <a:cs typeface="Arial" panose="020B0604020202090204" pitchFamily="34" charset="0"/>
              </a:rPr>
              <a:t>Optimization Benefits</a:t>
            </a:r>
            <a:endParaRPr lang="en-US" altLang="zh-CN" sz="1500" b="1" dirty="0">
              <a:solidFill>
                <a:schemeClr val="accent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dirty="0">
                <a:solidFill>
                  <a:schemeClr val="dk1"/>
                </a:solidFill>
                <a:latin typeface="Arial" panose="020B0604020202090204" pitchFamily="34" charset="0"/>
                <a:ea typeface="+mn-ea"/>
                <a:cs typeface="Arial" panose="020B0604020202090204" pitchFamily="34" charset="0"/>
              </a:rPr>
              <a:t>Accelerates gradient convergence and stabilizes deep neural networks without batch dependency.</a:t>
            </a:r>
            <a:endParaRPr lang="en-US" altLang="zh-CN" sz="1500" dirty="0">
              <a:solidFill>
                <a:schemeClr val="dk1"/>
              </a:solidFill>
              <a:latin typeface="Arial" panose="020B0604020202090204" pitchFamily="34" charset="0"/>
              <a:ea typeface="+mn-ea"/>
              <a:cs typeface="Arial" panose="020B0604020202090204" pitchFamily="34" charset="0"/>
            </a:endParaRPr>
          </a:p>
        </p:txBody>
      </p:sp>
      <p:sp>
        <p:nvSpPr>
          <p:cNvPr id="21" name="TextBox 8"/>
          <p:cNvSpPr txBox="1"/>
          <p:nvPr/>
        </p:nvSpPr>
        <p:spPr>
          <a:xfrm>
            <a:off x="6311265" y="1409700"/>
            <a:ext cx="5220335" cy="1817370"/>
          </a:xfrm>
          <a:prstGeom prst="rect">
            <a:avLst/>
          </a:prstGeom>
          <a:noFill/>
          <a:ln>
            <a:noFill/>
          </a:ln>
        </p:spPr>
        <p:txBody>
          <a:bodyPr wrap="square" lIns="0" tIns="0" rIns="0" bIns="0" anchor="t" anchorCtr="0">
            <a:spAutoFit/>
          </a:bodyPr>
          <a:lstStyle/>
          <a:p>
            <a:pPr algn="l">
              <a:lnSpc>
                <a:spcPts val="2025"/>
              </a:lnSpc>
            </a:pPr>
            <a:r>
              <a:rPr lang="en-US" altLang="zh-CN" sz="1600" b="1" dirty="0">
                <a:solidFill>
                  <a:schemeClr val="accent2"/>
                </a:solidFill>
                <a:latin typeface="Arial" panose="020B0604020202090204" pitchFamily="34" charset="0"/>
                <a:ea typeface="+mn-ea"/>
                <a:cs typeface="Arial" panose="020B0604020202090204" pitchFamily="34" charset="0"/>
              </a:rPr>
              <a:t>Why Not Batch Normalization (BN)?</a:t>
            </a:r>
            <a:endParaRPr lang="en-US" altLang="zh-CN" sz="1600" b="1" dirty="0">
              <a:solidFill>
                <a:schemeClr val="accent2"/>
              </a:solidFill>
              <a:latin typeface="Arial" panose="020B0604020202090204" pitchFamily="34" charset="0"/>
              <a:ea typeface="+mn-ea"/>
              <a:cs typeface="Arial" panose="020B0604020202090204" pitchFamily="34" charset="0"/>
            </a:endParaRPr>
          </a:p>
          <a:p>
            <a:pPr algn="l">
              <a:lnSpc>
                <a:spcPts val="2025"/>
              </a:lnSpc>
            </a:pPr>
            <a:endParaRPr lang="en-US" altLang="zh-CN" sz="1500" b="1" dirty="0">
              <a:solidFill>
                <a:schemeClr val="accent2"/>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dirty="0">
                <a:solidFill>
                  <a:schemeClr val="dk1"/>
                </a:solidFill>
                <a:latin typeface="Arial" panose="020B0604020202090204" pitchFamily="34" charset="0"/>
                <a:ea typeface="+mn-ea"/>
                <a:cs typeface="Arial" panose="020B0604020202090204" pitchFamily="34" charset="0"/>
              </a:rPr>
              <a:t>BN depends on running batch statistics, which fails with dynamic audio lengths and small batch sizes.</a:t>
            </a:r>
            <a:endParaRPr lang="en-US" altLang="zh-CN" sz="1500" dirty="0">
              <a:solidFill>
                <a:schemeClr val="dk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endParaRPr lang="en-US" altLang="zh-CN" sz="1500" dirty="0">
              <a:solidFill>
                <a:schemeClr val="dk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dirty="0">
                <a:solidFill>
                  <a:schemeClr val="dk1"/>
                </a:solidFill>
                <a:latin typeface="Arial" panose="020B0604020202090204" pitchFamily="34" charset="0"/>
                <a:ea typeface="+mn-ea"/>
                <a:cs typeface="Arial" panose="020B0604020202090204" pitchFamily="34" charset="0"/>
              </a:rPr>
              <a:t>WN normalizes layer parameters directly, avoiding activation distortion across audio time steps.</a:t>
            </a:r>
            <a:endParaRPr lang="en-US" altLang="zh-CN" sz="1500" dirty="0">
              <a:solidFill>
                <a:schemeClr val="dk1"/>
              </a:solidFill>
              <a:latin typeface="Arial" panose="020B0604020202090204" pitchFamily="34" charset="0"/>
              <a:ea typeface="+mn-ea"/>
              <a:cs typeface="Arial" panose="020B0604020202090204" pitchFamily="34" charset="0"/>
            </a:endParaRPr>
          </a:p>
        </p:txBody>
      </p:sp>
      <p:sp>
        <p:nvSpPr>
          <p:cNvPr id="22" name="TextBox 8"/>
          <p:cNvSpPr txBox="1"/>
          <p:nvPr/>
        </p:nvSpPr>
        <p:spPr>
          <a:xfrm>
            <a:off x="6239510" y="3644900"/>
            <a:ext cx="5220335" cy="1557655"/>
          </a:xfrm>
          <a:prstGeom prst="rect">
            <a:avLst/>
          </a:prstGeom>
          <a:noFill/>
          <a:ln>
            <a:noFill/>
          </a:ln>
        </p:spPr>
        <p:txBody>
          <a:bodyPr wrap="square" lIns="0" tIns="0" rIns="0" bIns="0" anchor="t" anchorCtr="0">
            <a:spAutoFit/>
          </a:bodyPr>
          <a:lstStyle/>
          <a:p>
            <a:pPr algn="l">
              <a:lnSpc>
                <a:spcPts val="2025"/>
              </a:lnSpc>
            </a:pPr>
            <a:r>
              <a:rPr lang="en-US" altLang="zh-CN" sz="1600" b="1" dirty="0">
                <a:solidFill>
                  <a:schemeClr val="accent2"/>
                </a:solidFill>
                <a:latin typeface="Arial" panose="020B0604020202090204" pitchFamily="34" charset="0"/>
                <a:ea typeface="+mn-ea"/>
                <a:cs typeface="Arial" panose="020B0604020202090204" pitchFamily="34" charset="0"/>
              </a:rPr>
              <a:t>Zero-Cost Inference via Weight Folding</a:t>
            </a:r>
            <a:endParaRPr lang="en-US" altLang="zh-CN" sz="1600" b="1" dirty="0">
              <a:solidFill>
                <a:schemeClr val="accent2"/>
              </a:solidFill>
              <a:latin typeface="Arial" panose="020B0604020202090204" pitchFamily="34" charset="0"/>
              <a:ea typeface="+mn-ea"/>
              <a:cs typeface="Arial" panose="020B0604020202090204" pitchFamily="34" charset="0"/>
            </a:endParaRPr>
          </a:p>
          <a:p>
            <a:pPr algn="l">
              <a:lnSpc>
                <a:spcPts val="2025"/>
              </a:lnSpc>
            </a:pPr>
            <a:endParaRPr lang="en-US" altLang="zh-CN" sz="1500" b="1" dirty="0">
              <a:solidFill>
                <a:schemeClr val="accent2"/>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dirty="0">
                <a:solidFill>
                  <a:schemeClr val="dk1"/>
                </a:solidFill>
                <a:latin typeface="Arial" panose="020B0604020202090204" pitchFamily="34" charset="0"/>
                <a:ea typeface="+mn-ea"/>
                <a:cs typeface="Arial" panose="020B0604020202090204" pitchFamily="34" charset="0"/>
              </a:rPr>
              <a:t>Post-training: Fuses </a:t>
            </a:r>
            <a:r>
              <a:rPr lang="en-US" altLang="zh-CN" sz="1500" b="1" i="1" dirty="0">
                <a:solidFill>
                  <a:schemeClr val="dk1"/>
                </a:solidFill>
                <a:latin typeface="Arial" panose="020B0604020202090204" pitchFamily="34" charset="0"/>
                <a:ea typeface="+mn-ea"/>
                <a:cs typeface="Arial" panose="020B0604020202090204" pitchFamily="34" charset="0"/>
              </a:rPr>
              <a:t>g</a:t>
            </a:r>
            <a:r>
              <a:rPr lang="en-US" altLang="zh-CN" sz="1500" dirty="0">
                <a:solidFill>
                  <a:schemeClr val="dk1"/>
                </a:solidFill>
                <a:latin typeface="Arial" panose="020B0604020202090204" pitchFamily="34" charset="0"/>
                <a:ea typeface="+mn-ea"/>
                <a:cs typeface="Arial" panose="020B0604020202090204" pitchFamily="34" charset="0"/>
              </a:rPr>
              <a:t> and </a:t>
            </a:r>
            <a:r>
              <a:rPr lang="en-US" altLang="zh-CN" sz="1500" b="1" i="1" dirty="0">
                <a:solidFill>
                  <a:schemeClr val="dk1"/>
                </a:solidFill>
                <a:latin typeface="Arial" panose="020B0604020202090204" pitchFamily="34" charset="0"/>
                <a:ea typeface="+mn-ea"/>
                <a:cs typeface="Arial" panose="020B0604020202090204" pitchFamily="34" charset="0"/>
              </a:rPr>
              <a:t>v</a:t>
            </a:r>
            <a:r>
              <a:rPr lang="en-US" altLang="zh-CN" sz="1500" dirty="0">
                <a:solidFill>
                  <a:schemeClr val="dk1"/>
                </a:solidFill>
                <a:latin typeface="Arial" panose="020B0604020202090204" pitchFamily="34" charset="0"/>
                <a:ea typeface="+mn-ea"/>
                <a:cs typeface="Arial" panose="020B0604020202090204" pitchFamily="34" charset="0"/>
              </a:rPr>
              <a:t> into a static weight </a:t>
            </a:r>
            <a:r>
              <a:rPr lang="en-US" altLang="zh-CN" sz="1500" b="1" i="1" dirty="0">
                <a:solidFill>
                  <a:schemeClr val="dk1"/>
                </a:solidFill>
                <a:latin typeface="Arial" panose="020B0604020202090204" pitchFamily="34" charset="0"/>
                <a:ea typeface="+mn-ea"/>
                <a:cs typeface="Arial" panose="020B0604020202090204" pitchFamily="34" charset="0"/>
              </a:rPr>
              <a:t>w</a:t>
            </a:r>
            <a:r>
              <a:rPr lang="en-US" altLang="zh-CN" sz="1500" dirty="0">
                <a:solidFill>
                  <a:schemeClr val="dk1"/>
                </a:solidFill>
                <a:latin typeface="Arial" panose="020B0604020202090204" pitchFamily="34" charset="0"/>
                <a:ea typeface="+mn-ea"/>
                <a:cs typeface="Arial" panose="020B0604020202090204" pitchFamily="34" charset="0"/>
              </a:rPr>
              <a:t>.</a:t>
            </a:r>
            <a:endParaRPr lang="en-US" altLang="zh-CN" sz="1500" dirty="0">
              <a:solidFill>
                <a:schemeClr val="dk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endParaRPr lang="en-US" altLang="zh-CN" sz="1500" dirty="0">
              <a:solidFill>
                <a:schemeClr val="dk1"/>
              </a:solidFill>
              <a:latin typeface="Arial" panose="020B0604020202090204" pitchFamily="34" charset="0"/>
              <a:ea typeface="+mn-ea"/>
              <a:cs typeface="Arial" panose="020B0604020202090204" pitchFamily="34" charset="0"/>
            </a:endParaRPr>
          </a:p>
          <a:p>
            <a:pPr marL="285750" indent="-285750" algn="l">
              <a:lnSpc>
                <a:spcPts val="2025"/>
              </a:lnSpc>
              <a:buFont typeface="Arial" panose="020B0604020202090204" pitchFamily="34" charset="0"/>
              <a:buChar char="•"/>
            </a:pPr>
            <a:r>
              <a:rPr lang="en-US" altLang="zh-CN" sz="1500" dirty="0">
                <a:solidFill>
                  <a:schemeClr val="dk1"/>
                </a:solidFill>
                <a:latin typeface="Arial" panose="020B0604020202090204" pitchFamily="34" charset="0"/>
                <a:ea typeface="+mn-ea"/>
                <a:cs typeface="Arial" panose="020B0604020202090204" pitchFamily="34" charset="0"/>
              </a:rPr>
              <a:t>Removes WN wrapper to eliminate runtime overhead during deployment.</a:t>
            </a:r>
            <a:endParaRPr lang="en-US" altLang="zh-CN" sz="1500" dirty="0">
              <a:solidFill>
                <a:schemeClr val="dk1"/>
              </a:solidFill>
              <a:latin typeface="Arial" panose="020B0604020202090204" pitchFamily="34" charset="0"/>
              <a:ea typeface="+mn-ea"/>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48030" cy="114935"/>
          </a:xfrm>
          <a:prstGeom prst="rect">
            <a:avLst/>
          </a:prstGeom>
          <a:noFill/>
          <a:ln>
            <a:noFill/>
          </a:ln>
        </p:spPr>
        <p:txBody>
          <a:bodyPr wrap="none" lIns="0" tIns="0" rIns="0" bIns="0" anchor="t" anchorCtr="0">
            <a:spAutoFit/>
          </a:bodyPr>
          <a:lstStyle/>
          <a:p>
            <a:pPr algn="l"/>
            <a:r>
              <a:rPr lang="en-US" sz="750" dirty="0">
                <a:solidFill>
                  <a:schemeClr val="tx1"/>
                </a:solidFill>
                <a:latin typeface="Arial" panose="020B0604020202090204" pitchFamily="34" charset="0"/>
                <a:ea typeface="+mn-ea"/>
                <a:cs typeface="Arial" panose="020B0604020202090204" pitchFamily="34" charset="0"/>
              </a:rPr>
              <a:t>VOCODER          </a:t>
            </a:r>
            <a:endParaRPr lang="en-US" sz="750" dirty="0">
              <a:solidFill>
                <a:schemeClr val="tx1"/>
              </a:solidFill>
              <a:latin typeface="Arial" panose="020B0604020202090204" pitchFamily="34" charset="0"/>
              <a:ea typeface="+mn-ea"/>
              <a:cs typeface="Arial" panose="020B0604020202090204" pitchFamily="34" charset="0"/>
            </a:endParaRPr>
          </a:p>
        </p:txBody>
      </p:sp>
      <p:sp>
        <p:nvSpPr>
          <p:cNvPr id="3" name="TextBox 3"/>
          <p:cNvSpPr txBox="1"/>
          <p:nvPr/>
        </p:nvSpPr>
        <p:spPr>
          <a:xfrm>
            <a:off x="501396" y="467678"/>
            <a:ext cx="507682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Review: vocoder mechanisms</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505968" y="1669732"/>
            <a:ext cx="3463925" cy="253365"/>
          </a:xfrm>
          <a:prstGeom prst="rect">
            <a:avLst/>
          </a:prstGeom>
          <a:noFill/>
          <a:ln>
            <a:noFill/>
          </a:ln>
        </p:spPr>
        <p:txBody>
          <a:bodyPr wrap="none" lIns="0" tIns="0" rIns="0" bIns="0" anchor="t" anchorCtr="0">
            <a:spAutoFit/>
          </a:bodyPr>
          <a:lstStyle/>
          <a:p>
            <a:pPr algn="l"/>
            <a:r>
              <a:rPr lang="en-US" sz="1650" dirty="0">
                <a:solidFill>
                  <a:schemeClr val="tx1"/>
                </a:solidFill>
                <a:latin typeface="Arial" panose="020B0604020202090204" pitchFamily="34" charset="0"/>
                <a:ea typeface="+mn-ea"/>
                <a:cs typeface="Arial" panose="020B0604020202090204" pitchFamily="34" charset="0"/>
              </a:rPr>
              <a:t>1. Why is mel not uniquely invertible?</a:t>
            </a:r>
            <a:endParaRPr lang="en-US" sz="1650" dirty="0">
              <a:solidFill>
                <a:schemeClr val="tx1"/>
              </a:solidFill>
              <a:latin typeface="Arial" panose="020B0604020202090204" pitchFamily="34" charset="0"/>
              <a:ea typeface="+mn-ea"/>
              <a:cs typeface="Arial" panose="020B0604020202090204" pitchFamily="34" charset="0"/>
            </a:endParaRPr>
          </a:p>
        </p:txBody>
      </p:sp>
      <p:sp>
        <p:nvSpPr>
          <p:cNvPr id="6" name="TextBox 6"/>
          <p:cNvSpPr txBox="1"/>
          <p:nvPr/>
        </p:nvSpPr>
        <p:spPr>
          <a:xfrm>
            <a:off x="505968" y="2603182"/>
            <a:ext cx="4459605" cy="253365"/>
          </a:xfrm>
          <a:prstGeom prst="rect">
            <a:avLst/>
          </a:prstGeom>
          <a:noFill/>
          <a:ln>
            <a:noFill/>
          </a:ln>
        </p:spPr>
        <p:txBody>
          <a:bodyPr wrap="none" lIns="0" tIns="0" rIns="0" bIns="0" anchor="t" anchorCtr="0">
            <a:spAutoFit/>
          </a:bodyPr>
          <a:lstStyle/>
          <a:p>
            <a:pPr algn="l"/>
            <a:r>
              <a:rPr lang="en-US" sz="1650" dirty="0">
                <a:solidFill>
                  <a:schemeClr val="tx1"/>
                </a:solidFill>
                <a:latin typeface="Arial" panose="020B0604020202090204" pitchFamily="34" charset="0"/>
                <a:ea typeface="+mn-ea"/>
                <a:cs typeface="Arial" panose="020B0604020202090204" pitchFamily="34" charset="0"/>
              </a:rPr>
              <a:t>2. Are kernels [16, 16, 4, 4] a 4096x expansion?</a:t>
            </a:r>
            <a:endParaRPr lang="en-US" sz="1650" dirty="0">
              <a:solidFill>
                <a:schemeClr val="tx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505968" y="3536632"/>
            <a:ext cx="4258310" cy="253365"/>
          </a:xfrm>
          <a:prstGeom prst="rect">
            <a:avLst/>
          </a:prstGeom>
          <a:noFill/>
          <a:ln>
            <a:noFill/>
          </a:ln>
        </p:spPr>
        <p:txBody>
          <a:bodyPr wrap="none" lIns="0" tIns="0" rIns="0" bIns="0" anchor="t" anchorCtr="0">
            <a:spAutoFit/>
          </a:bodyPr>
          <a:lstStyle/>
          <a:p>
            <a:pPr algn="l"/>
            <a:r>
              <a:rPr lang="en-US" sz="1650" dirty="0">
                <a:solidFill>
                  <a:schemeClr val="tx1"/>
                </a:solidFill>
                <a:latin typeface="Arial" panose="020B0604020202090204" pitchFamily="34" charset="0"/>
                <a:ea typeface="+mn-ea"/>
                <a:cs typeface="Arial" panose="020B0604020202090204" pitchFamily="34" charset="0"/>
              </a:rPr>
              <a:t>3. In MPD [T/p, p], which axis indexes phase?</a:t>
            </a:r>
            <a:endParaRPr lang="en-US" sz="1650" dirty="0">
              <a:solidFill>
                <a:schemeClr val="tx1"/>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05968" y="4470082"/>
            <a:ext cx="3919855" cy="253365"/>
          </a:xfrm>
          <a:prstGeom prst="rect">
            <a:avLst/>
          </a:prstGeom>
          <a:noFill/>
          <a:ln>
            <a:noFill/>
          </a:ln>
        </p:spPr>
        <p:txBody>
          <a:bodyPr wrap="none" lIns="0" tIns="0" rIns="0" bIns="0" anchor="t" anchorCtr="0">
            <a:spAutoFit/>
          </a:bodyPr>
          <a:lstStyle/>
          <a:p>
            <a:pPr algn="l"/>
            <a:r>
              <a:rPr lang="en-US" sz="1650" dirty="0">
                <a:solidFill>
                  <a:schemeClr val="tx1"/>
                </a:solidFill>
                <a:latin typeface="Arial" panose="020B0604020202090204" pitchFamily="34" charset="0"/>
                <a:ea typeface="+mn-ea"/>
                <a:cs typeface="Arial" panose="020B0604020202090204" pitchFamily="34" charset="0"/>
              </a:rPr>
              <a:t>4. Why use more than one STFT window?</a:t>
            </a:r>
            <a:endParaRPr lang="en-US" sz="1650" dirty="0">
              <a:solidFill>
                <a:schemeClr val="tx1"/>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507873" y="5663089"/>
            <a:ext cx="6035040" cy="196850"/>
          </a:xfrm>
          <a:prstGeom prst="rect">
            <a:avLst/>
          </a:prstGeom>
          <a:noFill/>
          <a:ln>
            <a:noFill/>
          </a:ln>
        </p:spPr>
        <p:txBody>
          <a:bodyPr wrap="none" lIns="0" tIns="0" rIns="0" bIns="0" anchor="t" anchorCtr="0">
            <a:spAutoFit/>
          </a:bodyPr>
          <a:lstStyle/>
          <a:p>
            <a:pPr algn="l"/>
            <a:r>
              <a:rPr lang="en-US" sz="1280" dirty="0">
                <a:solidFill>
                  <a:schemeClr val="tx1"/>
                </a:solidFill>
                <a:latin typeface="Arial" panose="020B0604020202090204" pitchFamily="34" charset="0"/>
                <a:ea typeface="+mn-ea"/>
                <a:cs typeface="Arial" panose="020B0604020202090204" pitchFamily="34" charset="0"/>
              </a:rPr>
              <a:t>Check information loss, stride versus kernel, reshaped axes and analysis resolution.</a:t>
            </a:r>
            <a:endParaRPr lang="en-US" sz="1280" dirty="0">
              <a:solidFill>
                <a:schemeClr val="tx1"/>
              </a:solidFill>
              <a:latin typeface="Arial" panose="020B0604020202090204" pitchFamily="34" charset="0"/>
              <a:ea typeface="+mn-ea"/>
              <a:cs typeface="Arial" panose="020B0604020202090204" pitchFamily="34" charset="0"/>
            </a:endParaRPr>
          </a:p>
        </p:txBody>
      </p:sp>
      <p:sp>
        <p:nvSpPr>
          <p:cNvPr id="10" name="TextBox 10"/>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53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204788"/>
            <a:ext cx="748030" cy="114935"/>
          </a:xfrm>
          <a:prstGeom prst="rect">
            <a:avLst/>
          </a:prstGeom>
          <a:noFill/>
          <a:ln>
            <a:noFill/>
          </a:ln>
        </p:spPr>
        <p:txBody>
          <a:bodyPr wrap="none" lIns="0" tIns="0" rIns="0" bIns="0" anchor="t" anchorCtr="0">
            <a:spAutoFit/>
          </a:bodyPr>
          <a:lstStyle/>
          <a:p>
            <a:pPr algn="l"/>
            <a:r>
              <a:rPr lang="en-US" sz="750" dirty="0">
                <a:solidFill>
                  <a:srgbClr val="64748B"/>
                </a:solidFill>
                <a:latin typeface="Arial" panose="020B0604020202090204" pitchFamily="34" charset="0"/>
                <a:ea typeface="+mn-ea"/>
                <a:cs typeface="Arial" panose="020B0604020202090204" pitchFamily="34" charset="0"/>
              </a:rPr>
              <a:t>VOCODER          </a:t>
            </a:r>
            <a:endParaRPr lang="en-US" sz="750" dirty="0">
              <a:solidFill>
                <a:srgbClr val="64748B"/>
              </a:solidFill>
              <a:latin typeface="Arial" panose="020B0604020202090204" pitchFamily="34" charset="0"/>
              <a:ea typeface="+mn-ea"/>
              <a:cs typeface="Arial" panose="020B0604020202090204" pitchFamily="34" charset="0"/>
            </a:endParaRPr>
          </a:p>
        </p:txBody>
      </p:sp>
      <p:sp>
        <p:nvSpPr>
          <p:cNvPr id="3" name="TextBox 3"/>
          <p:cNvSpPr txBox="1"/>
          <p:nvPr/>
        </p:nvSpPr>
        <p:spPr>
          <a:xfrm>
            <a:off x="501396" y="467678"/>
            <a:ext cx="5036185" cy="430530"/>
          </a:xfrm>
          <a:prstGeom prst="rect">
            <a:avLst/>
          </a:prstGeom>
          <a:noFill/>
          <a:ln>
            <a:noFill/>
          </a:ln>
        </p:spPr>
        <p:txBody>
          <a:bodyPr wrap="none" lIns="0" tIns="0" rIns="0" bIns="0" anchor="t" anchorCtr="0">
            <a:spAutoFit/>
          </a:bodyPr>
          <a:lstStyle/>
          <a:p>
            <a:pPr algn="l"/>
            <a:r>
              <a:rPr lang="en-US" sz="2800" b="1" dirty="0">
                <a:solidFill>
                  <a:schemeClr val="tx1"/>
                </a:solidFill>
                <a:latin typeface="Arial" panose="020B0604020202090204" pitchFamily="34" charset="0"/>
                <a:ea typeface="+mn-ea"/>
                <a:cs typeface="Arial" panose="020B0604020202090204" pitchFamily="34" charset="0"/>
              </a:rPr>
              <a:t>Reference answers: vocoders</a:t>
            </a:r>
            <a:endParaRPr lang="en-US" sz="2800" b="1" dirty="0">
              <a:solidFill>
                <a:schemeClr val="tx1"/>
              </a:solidFill>
              <a:latin typeface="Arial" panose="020B0604020202090204" pitchFamily="34" charset="0"/>
              <a:ea typeface="+mn-ea"/>
              <a:cs typeface="Arial" panose="020B0604020202090204" pitchFamily="34" charset="0"/>
            </a:endParaRPr>
          </a:p>
        </p:txBody>
      </p:sp>
      <p:sp>
        <p:nvSpPr>
          <p:cNvPr id="4" name="Line 4"/>
          <p:cNvSpPr/>
          <p:nvPr/>
        </p:nvSpPr>
        <p:spPr>
          <a:xfrm>
            <a:off x="514350" y="876300"/>
            <a:ext cx="11068050" cy="9525"/>
          </a:xfrm>
          <a:custGeom>
            <a:avLst/>
            <a:gdLst/>
            <a:ahLst/>
            <a:cxnLst/>
            <a:rect l="l" t="t" r="r" b="b"/>
            <a:pathLst>
              <a:path w="11068050" h="9525">
                <a:moveTo>
                  <a:pt x="0" y="0"/>
                </a:moveTo>
                <a:lnTo>
                  <a:pt x="11068050" y="0"/>
                </a:lnTo>
              </a:path>
            </a:pathLst>
          </a:custGeom>
          <a:noFill/>
          <a:ln w="9525">
            <a:solidFill>
              <a:schemeClr val="accent1"/>
            </a:solidFill>
          </a:ln>
        </p:spPr>
      </p:sp>
      <p:sp>
        <p:nvSpPr>
          <p:cNvPr id="5" name="TextBox 5"/>
          <p:cNvSpPr txBox="1"/>
          <p:nvPr/>
        </p:nvSpPr>
        <p:spPr>
          <a:xfrm>
            <a:off x="505968" y="1688782"/>
            <a:ext cx="3278505" cy="253365"/>
          </a:xfrm>
          <a:prstGeom prst="rect">
            <a:avLst/>
          </a:prstGeom>
          <a:noFill/>
          <a:ln>
            <a:noFill/>
          </a:ln>
        </p:spPr>
        <p:txBody>
          <a:bodyPr wrap="none" lIns="0" tIns="0" rIns="0" bIns="0" anchor="t" anchorCtr="0">
            <a:spAutoFit/>
          </a:bodyPr>
          <a:lstStyle/>
          <a:p>
            <a:pPr algn="l"/>
            <a:r>
              <a:rPr lang="en-US" sz="1650" dirty="0">
                <a:solidFill>
                  <a:schemeClr val="accent2"/>
                </a:solidFill>
                <a:latin typeface="Arial" panose="020B0604020202090204" pitchFamily="34" charset="0"/>
                <a:ea typeface="+mn-ea"/>
                <a:cs typeface="Arial" panose="020B0604020202090204" pitchFamily="34" charset="0"/>
              </a:rPr>
              <a:t>1. Mel features discard information.</a:t>
            </a:r>
            <a:endParaRPr lang="en-US" sz="1650" dirty="0">
              <a:solidFill>
                <a:schemeClr val="accent2"/>
              </a:solidFill>
              <a:latin typeface="Arial" panose="020B0604020202090204" pitchFamily="34" charset="0"/>
              <a:ea typeface="+mn-ea"/>
              <a:cs typeface="Arial" panose="020B0604020202090204" pitchFamily="34" charset="0"/>
            </a:endParaRPr>
          </a:p>
        </p:txBody>
      </p:sp>
      <p:sp>
        <p:nvSpPr>
          <p:cNvPr id="6" name="TextBox 6"/>
          <p:cNvSpPr txBox="1"/>
          <p:nvPr/>
        </p:nvSpPr>
        <p:spPr>
          <a:xfrm>
            <a:off x="506730" y="2076450"/>
            <a:ext cx="5911215" cy="230505"/>
          </a:xfrm>
          <a:prstGeom prst="rect">
            <a:avLst/>
          </a:prstGeom>
          <a:noFill/>
          <a:ln>
            <a:noFill/>
          </a:ln>
        </p:spPr>
        <p:txBody>
          <a:bodyPr wrap="none" lIns="0" tIns="0" rIns="0" bIns="0" anchor="t" anchorCtr="0">
            <a:spAutoFit/>
          </a:bodyPr>
          <a:lstStyle/>
          <a:p>
            <a:pPr algn="l"/>
            <a:r>
              <a:rPr lang="en-US" sz="1500" dirty="0">
                <a:solidFill>
                  <a:schemeClr val="dk1"/>
                </a:solidFill>
                <a:latin typeface="Arial" panose="020B0604020202090204" pitchFamily="34" charset="0"/>
                <a:ea typeface="+mn-ea"/>
                <a:cs typeface="Arial" panose="020B0604020202090204" pitchFamily="34" charset="0"/>
              </a:rPr>
              <a:t>Band aggregation and phase loss prevent a unique waveform inverse.</a:t>
            </a:r>
            <a:endParaRPr lang="en-US" sz="1500" dirty="0">
              <a:solidFill>
                <a:schemeClr val="dk1"/>
              </a:solidFill>
              <a:latin typeface="Arial" panose="020B0604020202090204" pitchFamily="34" charset="0"/>
              <a:ea typeface="+mn-ea"/>
              <a:cs typeface="Arial" panose="020B0604020202090204" pitchFamily="34" charset="0"/>
            </a:endParaRPr>
          </a:p>
        </p:txBody>
      </p:sp>
      <p:sp>
        <p:nvSpPr>
          <p:cNvPr id="7" name="TextBox 7"/>
          <p:cNvSpPr txBox="1"/>
          <p:nvPr/>
        </p:nvSpPr>
        <p:spPr>
          <a:xfrm>
            <a:off x="505968" y="2698432"/>
            <a:ext cx="4481195" cy="253365"/>
          </a:xfrm>
          <a:prstGeom prst="rect">
            <a:avLst/>
          </a:prstGeom>
          <a:noFill/>
          <a:ln>
            <a:noFill/>
          </a:ln>
        </p:spPr>
        <p:txBody>
          <a:bodyPr wrap="none" lIns="0" tIns="0" rIns="0" bIns="0" anchor="t" anchorCtr="0">
            <a:spAutoFit/>
          </a:bodyPr>
          <a:lstStyle/>
          <a:p>
            <a:pPr algn="l"/>
            <a:r>
              <a:rPr lang="en-US" sz="1650" dirty="0">
                <a:solidFill>
                  <a:schemeClr val="accent2"/>
                </a:solidFill>
                <a:latin typeface="Arial" panose="020B0604020202090204" pitchFamily="34" charset="0"/>
                <a:ea typeface="+mn-ea"/>
                <a:cs typeface="Arial" panose="020B0604020202090204" pitchFamily="34" charset="0"/>
              </a:rPr>
              <a:t>2. No: use the expansion rates, not kernel sizes.</a:t>
            </a:r>
            <a:endParaRPr lang="en-US" sz="1650" dirty="0">
              <a:solidFill>
                <a:schemeClr val="accent2"/>
              </a:solidFill>
              <a:latin typeface="Arial" panose="020B0604020202090204" pitchFamily="34" charset="0"/>
              <a:ea typeface="+mn-ea"/>
              <a:cs typeface="Arial" panose="020B0604020202090204" pitchFamily="34" charset="0"/>
            </a:endParaRPr>
          </a:p>
        </p:txBody>
      </p:sp>
      <p:sp>
        <p:nvSpPr>
          <p:cNvPr id="8" name="TextBox 8"/>
          <p:cNvSpPr txBox="1"/>
          <p:nvPr/>
        </p:nvSpPr>
        <p:spPr>
          <a:xfrm>
            <a:off x="506730" y="3086100"/>
            <a:ext cx="4371975" cy="230505"/>
          </a:xfrm>
          <a:prstGeom prst="rect">
            <a:avLst/>
          </a:prstGeom>
          <a:noFill/>
          <a:ln>
            <a:noFill/>
          </a:ln>
        </p:spPr>
        <p:txBody>
          <a:bodyPr wrap="none" lIns="0" tIns="0" rIns="0" bIns="0" anchor="t" anchorCtr="0">
            <a:spAutoFit/>
          </a:bodyPr>
          <a:lstStyle/>
          <a:p>
            <a:pPr algn="l"/>
            <a:r>
              <a:rPr lang="en-US" sz="1500" dirty="0">
                <a:solidFill>
                  <a:schemeClr val="dk1"/>
                </a:solidFill>
                <a:latin typeface="Arial" panose="020B0604020202090204" pitchFamily="34" charset="0"/>
                <a:ea typeface="+mn-ea"/>
                <a:cs typeface="Arial" panose="020B0604020202090204" pitchFamily="34" charset="0"/>
              </a:rPr>
              <a:t>For HiFi-GAN V1, [8, 8, 2, 2] yields 256x expansion.</a:t>
            </a:r>
            <a:endParaRPr lang="en-US" sz="1500" dirty="0">
              <a:solidFill>
                <a:schemeClr val="dk1"/>
              </a:solidFill>
              <a:latin typeface="Arial" panose="020B0604020202090204" pitchFamily="34" charset="0"/>
              <a:ea typeface="+mn-ea"/>
              <a:cs typeface="Arial" panose="020B0604020202090204" pitchFamily="34" charset="0"/>
            </a:endParaRPr>
          </a:p>
        </p:txBody>
      </p:sp>
      <p:sp>
        <p:nvSpPr>
          <p:cNvPr id="9" name="TextBox 9"/>
          <p:cNvSpPr txBox="1"/>
          <p:nvPr/>
        </p:nvSpPr>
        <p:spPr>
          <a:xfrm>
            <a:off x="505968" y="3708082"/>
            <a:ext cx="4853305" cy="253365"/>
          </a:xfrm>
          <a:prstGeom prst="rect">
            <a:avLst/>
          </a:prstGeom>
          <a:noFill/>
          <a:ln>
            <a:noFill/>
          </a:ln>
        </p:spPr>
        <p:txBody>
          <a:bodyPr wrap="none" lIns="0" tIns="0" rIns="0" bIns="0" anchor="t" anchorCtr="0">
            <a:spAutoFit/>
          </a:bodyPr>
          <a:lstStyle/>
          <a:p>
            <a:pPr algn="l"/>
            <a:r>
              <a:rPr lang="en-US" sz="1650" dirty="0">
                <a:solidFill>
                  <a:schemeClr val="accent2"/>
                </a:solidFill>
                <a:latin typeface="Arial" panose="020B0604020202090204" pitchFamily="34" charset="0"/>
                <a:ea typeface="+mn-ea"/>
                <a:cs typeface="Arial" panose="020B0604020202090204" pitchFamily="34" charset="0"/>
              </a:rPr>
              <a:t>3. The p-sized column axis indexes phase positions.</a:t>
            </a:r>
            <a:endParaRPr lang="en-US" sz="1650" dirty="0">
              <a:solidFill>
                <a:schemeClr val="accent2"/>
              </a:solidFill>
              <a:latin typeface="Arial" panose="020B0604020202090204" pitchFamily="34" charset="0"/>
              <a:ea typeface="+mn-ea"/>
              <a:cs typeface="Arial" panose="020B0604020202090204" pitchFamily="34" charset="0"/>
            </a:endParaRPr>
          </a:p>
        </p:txBody>
      </p:sp>
      <p:sp>
        <p:nvSpPr>
          <p:cNvPr id="10" name="TextBox 10"/>
          <p:cNvSpPr txBox="1"/>
          <p:nvPr/>
        </p:nvSpPr>
        <p:spPr>
          <a:xfrm>
            <a:off x="506730" y="4095750"/>
            <a:ext cx="5782310" cy="230505"/>
          </a:xfrm>
          <a:prstGeom prst="rect">
            <a:avLst/>
          </a:prstGeom>
          <a:noFill/>
          <a:ln>
            <a:noFill/>
          </a:ln>
        </p:spPr>
        <p:txBody>
          <a:bodyPr wrap="none" lIns="0" tIns="0" rIns="0" bIns="0" anchor="t" anchorCtr="0">
            <a:spAutoFit/>
          </a:bodyPr>
          <a:lstStyle/>
          <a:p>
            <a:pPr algn="l"/>
            <a:r>
              <a:rPr lang="en-US" sz="1500" dirty="0">
                <a:solidFill>
                  <a:schemeClr val="dk1"/>
                </a:solidFill>
                <a:latin typeface="Arial" panose="020B0604020202090204" pitchFamily="34" charset="0"/>
                <a:ea typeface="+mn-ea"/>
                <a:cs typeface="Arial" panose="020B0604020202090204" pitchFamily="34" charset="0"/>
              </a:rPr>
              <a:t>The other axis indexes successive groups of consecutive p samples.</a:t>
            </a:r>
            <a:endParaRPr lang="en-US" sz="1500" dirty="0">
              <a:solidFill>
                <a:schemeClr val="dk1"/>
              </a:solidFill>
              <a:latin typeface="Arial" panose="020B0604020202090204" pitchFamily="34" charset="0"/>
              <a:ea typeface="+mn-ea"/>
              <a:cs typeface="Arial" panose="020B0604020202090204" pitchFamily="34" charset="0"/>
            </a:endParaRPr>
          </a:p>
        </p:txBody>
      </p:sp>
      <p:sp>
        <p:nvSpPr>
          <p:cNvPr id="11" name="TextBox 11"/>
          <p:cNvSpPr txBox="1"/>
          <p:nvPr/>
        </p:nvSpPr>
        <p:spPr>
          <a:xfrm>
            <a:off x="505968" y="4717732"/>
            <a:ext cx="4759325" cy="253365"/>
          </a:xfrm>
          <a:prstGeom prst="rect">
            <a:avLst/>
          </a:prstGeom>
          <a:noFill/>
          <a:ln>
            <a:noFill/>
          </a:ln>
        </p:spPr>
        <p:txBody>
          <a:bodyPr wrap="none" lIns="0" tIns="0" rIns="0" bIns="0" anchor="t" anchorCtr="0">
            <a:spAutoFit/>
          </a:bodyPr>
          <a:lstStyle/>
          <a:p>
            <a:pPr algn="l"/>
            <a:r>
              <a:rPr lang="en-US" sz="1650" dirty="0">
                <a:solidFill>
                  <a:schemeClr val="accent2"/>
                </a:solidFill>
                <a:latin typeface="Arial" panose="020B0604020202090204" pitchFamily="34" charset="0"/>
                <a:ea typeface="+mn-ea"/>
                <a:cs typeface="Arial" panose="020B0604020202090204" pitchFamily="34" charset="0"/>
              </a:rPr>
              <a:t>4. Different windows capture complementary detail.</a:t>
            </a:r>
            <a:endParaRPr lang="en-US" sz="1650" dirty="0">
              <a:solidFill>
                <a:schemeClr val="accent2"/>
              </a:solidFill>
              <a:latin typeface="Arial" panose="020B0604020202090204" pitchFamily="34" charset="0"/>
              <a:ea typeface="+mn-ea"/>
              <a:cs typeface="Arial" panose="020B0604020202090204" pitchFamily="34" charset="0"/>
            </a:endParaRPr>
          </a:p>
        </p:txBody>
      </p:sp>
      <p:sp>
        <p:nvSpPr>
          <p:cNvPr id="12" name="TextBox 12"/>
          <p:cNvSpPr txBox="1"/>
          <p:nvPr/>
        </p:nvSpPr>
        <p:spPr>
          <a:xfrm>
            <a:off x="506730" y="5105400"/>
            <a:ext cx="5487035" cy="230505"/>
          </a:xfrm>
          <a:prstGeom prst="rect">
            <a:avLst/>
          </a:prstGeom>
          <a:noFill/>
          <a:ln>
            <a:noFill/>
          </a:ln>
        </p:spPr>
        <p:txBody>
          <a:bodyPr wrap="none" lIns="0" tIns="0" rIns="0" bIns="0" anchor="t" anchorCtr="0">
            <a:spAutoFit/>
          </a:bodyPr>
          <a:lstStyle/>
          <a:p>
            <a:pPr algn="l"/>
            <a:r>
              <a:rPr lang="en-US" sz="1500" dirty="0">
                <a:solidFill>
                  <a:schemeClr val="dk1"/>
                </a:solidFill>
                <a:latin typeface="Arial" panose="020B0604020202090204" pitchFamily="34" charset="0"/>
                <a:ea typeface="+mn-ea"/>
                <a:cs typeface="Arial" panose="020B0604020202090204" pitchFamily="34" charset="0"/>
              </a:rPr>
              <a:t>Short windows emphasize time; long windows resolve frequency.</a:t>
            </a:r>
            <a:endParaRPr lang="en-US" sz="1500" dirty="0">
              <a:solidFill>
                <a:schemeClr val="dk1"/>
              </a:solidFill>
              <a:latin typeface="Arial" panose="020B0604020202090204" pitchFamily="34" charset="0"/>
              <a:ea typeface="+mn-ea"/>
              <a:cs typeface="Arial" panose="020B0604020202090204" pitchFamily="34" charset="0"/>
            </a:endParaRPr>
          </a:p>
        </p:txBody>
      </p:sp>
      <p:sp>
        <p:nvSpPr>
          <p:cNvPr id="13" name="TextBox 13"/>
          <p:cNvSpPr txBox="1"/>
          <p:nvPr/>
        </p:nvSpPr>
        <p:spPr>
          <a:xfrm>
            <a:off x="507873" y="5834539"/>
            <a:ext cx="4473575" cy="196850"/>
          </a:xfrm>
          <a:prstGeom prst="rect">
            <a:avLst/>
          </a:prstGeom>
          <a:noFill/>
          <a:ln>
            <a:noFill/>
          </a:ln>
        </p:spPr>
        <p:txBody>
          <a:bodyPr wrap="none" lIns="0" tIns="0" rIns="0" bIns="0" anchor="t" anchorCtr="0">
            <a:spAutoFit/>
          </a:bodyPr>
          <a:lstStyle/>
          <a:p>
            <a:pPr algn="l"/>
            <a:r>
              <a:rPr lang="en-US" sz="1280" dirty="0">
                <a:solidFill>
                  <a:schemeClr val="dk1"/>
                </a:solidFill>
                <a:latin typeface="Arial" panose="020B0604020202090204" pitchFamily="34" charset="0"/>
                <a:ea typeface="+mn-ea"/>
                <a:cs typeface="Arial" panose="020B0604020202090204" pitchFamily="34" charset="0"/>
              </a:rPr>
              <a:t>Correct units and axes matter as much as architecture names.</a:t>
            </a:r>
            <a:endParaRPr lang="en-US" sz="1280" dirty="0">
              <a:solidFill>
                <a:schemeClr val="dk1"/>
              </a:solidFill>
              <a:latin typeface="Arial" panose="020B0604020202090204" pitchFamily="34" charset="0"/>
              <a:ea typeface="+mn-ea"/>
              <a:cs typeface="Arial" panose="020B0604020202090204" pitchFamily="34" charset="0"/>
            </a:endParaRPr>
          </a:p>
        </p:txBody>
      </p:sp>
      <p:sp>
        <p:nvSpPr>
          <p:cNvPr id="14" name="TextBox 14"/>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54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EVALUATION</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Autofit/>
          </a:bodyPr>
          <a:lstStyle/>
          <a:p>
            <a:pPr marL="0" lvl="0" indent="0" algn="l" rtl="0">
              <a:spcBef>
                <a:spcPts val="0"/>
              </a:spcBef>
              <a:spcAft>
                <a:spcPts val="0"/>
              </a:spcAft>
              <a:buNone/>
            </a:pPr>
            <a:r>
              <a:rPr lang="en-US" sz="3200" b="1">
                <a:latin typeface="Arial" panose="020B0604020202090204" pitchFamily="34" charset="0"/>
                <a:ea typeface="Lora"/>
                <a:cs typeface="Arial" panose="020B0604020202090204" pitchFamily="34" charset="0"/>
                <a:sym typeface="Lora"/>
              </a:rPr>
              <a:t>How to Measure Quality?</a:t>
            </a:r>
            <a:endParaRPr lang="en-US" sz="3200" b="1" i="0">
              <a:solidFill>
                <a:srgbClr val="0F172A"/>
              </a:solidFill>
              <a:latin typeface="Arial" panose="020B0604020202090204" pitchFamily="34" charset="0"/>
              <a:ea typeface="Lora"/>
              <a:cs typeface="Arial" panose="020B0604020202090204" pitchFamily="34" charset="0"/>
              <a:sym typeface="Lora"/>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55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graphicFrame>
        <p:nvGraphicFramePr>
          <p:cNvPr id="11" name="表格 10"/>
          <p:cNvGraphicFramePr/>
          <p:nvPr/>
        </p:nvGraphicFramePr>
        <p:xfrm>
          <a:off x="495300" y="1572260"/>
          <a:ext cx="11191875" cy="3381378"/>
        </p:xfrm>
        <a:graphic>
          <a:graphicData uri="http://schemas.openxmlformats.org/drawingml/2006/table">
            <a:tbl>
              <a:tblPr firstRow="1"/>
              <a:tblGrid>
                <a:gridCol w="3730625"/>
                <a:gridCol w="3730625"/>
                <a:gridCol w="3730625"/>
              </a:tblGrid>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Dimension</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chemeClr val="tx2">
                        <a:lumMod val="25000"/>
                        <a:lumOff val="75000"/>
                      </a:schemeClr>
                    </a:solidFill>
                  </a:tcPr>
                </a:tc>
                <a:tc>
                  <a:txBody>
                    <a:bodyPr>
                      <a:spAutoFit/>
                    </a:bodyPr>
                    <a:lstStyle/>
                    <a:p>
                      <a:r>
                        <a:rPr lang="en-US" altLang="zh-CN" sz="1400" b="1">
                          <a:solidFill>
                            <a:srgbClr val="111827"/>
                          </a:solidFill>
                          <a:latin typeface="Arial" panose="020B0604020202090204" pitchFamily="34" charset="0"/>
                          <a:ea typeface="Arial" panose="020B0604020202090204"/>
                          <a:cs typeface="Arial" panose="020B0604020202090204" pitchFamily="34" charset="0"/>
                        </a:rPr>
                        <a:t>Primary Listener Question</a:t>
                      </a:r>
                      <a:endParaRPr lang="en-US" altLang="zh-CN"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chemeClr val="tx2">
                        <a:lumMod val="25000"/>
                        <a:lumOff val="75000"/>
                      </a:schemeClr>
                    </a:solidFill>
                  </a:tcPr>
                </a:tc>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Typical failure</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chemeClr val="tx2">
                        <a:lumMod val="25000"/>
                        <a:lumOff val="75000"/>
                      </a:schemeClr>
                    </a:solidFill>
                  </a:tcPr>
                </a:tc>
              </a:tr>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Intelligibility</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Can I understand the words?</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Skipped or blurred phonemes</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r>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Naturalness</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Does it sound like a person?</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Robotic prosody or buzz</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r>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Similarity</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Does it sound like the target speaker?</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Wrong timbre / identity</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r>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Pleasantness</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Is it comfortable to listen to?</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Harshness, hiss, fatigue</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FFFFF"/>
                    </a:solidFill>
                  </a:tcPr>
                </a:tc>
              </a:tr>
              <a:tr h="563563">
                <a:tc>
                  <a:txBody>
                    <a:bodyPr>
                      <a:spAutoFit/>
                    </a:bodyPr>
                    <a:lstStyle/>
                    <a:p>
                      <a:r>
                        <a:rPr sz="1400" b="1">
                          <a:solidFill>
                            <a:srgbClr val="111827"/>
                          </a:solidFill>
                          <a:latin typeface="Arial" panose="020B0604020202090204" pitchFamily="34" charset="0"/>
                          <a:ea typeface="Arial" panose="020B0604020202090204"/>
                          <a:cs typeface="Arial" panose="020B0604020202090204" pitchFamily="34" charset="0"/>
                        </a:rPr>
                        <a:t>Prosody</a:t>
                      </a:r>
                      <a:endParaRPr sz="1400" b="1">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Are intonation and pauses appropriate?</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c>
                  <a:txBody>
                    <a:bodyPr>
                      <a:spAutoFit/>
                    </a:bodyPr>
                    <a:lstStyle/>
                    <a:p>
                      <a:r>
                        <a:rPr sz="1125" b="0">
                          <a:solidFill>
                            <a:srgbClr val="111827"/>
                          </a:solidFill>
                          <a:latin typeface="Arial" panose="020B0604020202090204" pitchFamily="34" charset="0"/>
                          <a:ea typeface="Arial" panose="020B0604020202090204"/>
                          <a:cs typeface="Arial" panose="020B0604020202090204" pitchFamily="34" charset="0"/>
                        </a:rPr>
                        <a:t>Flat or misplaced emphasis</a:t>
                      </a:r>
                      <a:endParaRPr sz="1125" b="0">
                        <a:solidFill>
                          <a:srgbClr val="111827"/>
                        </a:solidFill>
                        <a:latin typeface="Arial" panose="020B0604020202090204" pitchFamily="34" charset="0"/>
                        <a:ea typeface="Arial" panose="020B0604020202090204"/>
                        <a:cs typeface="Arial" panose="020B0604020202090204" pitchFamily="34" charset="0"/>
                      </a:endParaRPr>
                    </a:p>
                  </a:txBody>
                  <a:tcPr anchor="ctr">
                    <a:solidFill>
                      <a:srgbClr val="F8FAFC"/>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EVALUATION</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Mean Opinion Score (MOS)</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56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7" name="图片 16"/>
          <p:cNvPicPr>
            <a:picLocks noChangeAspect="1"/>
          </p:cNvPicPr>
          <p:nvPr/>
        </p:nvPicPr>
        <p:blipFill>
          <a:blip r:embed="rId1"/>
          <a:stretch>
            <a:fillRect/>
          </a:stretch>
        </p:blipFill>
        <p:spPr>
          <a:xfrm>
            <a:off x="514350" y="1328420"/>
            <a:ext cx="4561205" cy="2555240"/>
          </a:xfrm>
          <a:prstGeom prst="rect">
            <a:avLst/>
          </a:prstGeom>
        </p:spPr>
      </p:pic>
      <p:pic>
        <p:nvPicPr>
          <p:cNvPr id="18" name="图片 17"/>
          <p:cNvPicPr>
            <a:picLocks noChangeAspect="1"/>
          </p:cNvPicPr>
          <p:nvPr/>
        </p:nvPicPr>
        <p:blipFill>
          <a:blip r:embed="rId2"/>
          <a:stretch>
            <a:fillRect/>
          </a:stretch>
        </p:blipFill>
        <p:spPr>
          <a:xfrm>
            <a:off x="7247890" y="1836420"/>
            <a:ext cx="2800350" cy="852805"/>
          </a:xfrm>
          <a:prstGeom prst="rect">
            <a:avLst/>
          </a:prstGeom>
        </p:spPr>
      </p:pic>
      <p:sp>
        <p:nvSpPr>
          <p:cNvPr id="7" name="矩形 6"/>
          <p:cNvSpPr>
            <a:spLocks noGrp="1"/>
          </p:cNvSpPr>
          <p:nvPr/>
        </p:nvSpPr>
        <p:spPr>
          <a:xfrm>
            <a:off x="6024245" y="1184910"/>
            <a:ext cx="34290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650" b="1" i="0">
                <a:solidFill>
                  <a:schemeClr val="tx1"/>
                </a:solidFill>
                <a:latin typeface="Arial" panose="020B0604020202090204"/>
                <a:ea typeface="Arial" panose="020B0604020202090204"/>
                <a:cs typeface="Arial" panose="020B0604020202090204"/>
              </a:rPr>
              <a:t>Mathematical Formula</a:t>
            </a:r>
            <a:endParaRPr lang="en-US" altLang="zh-CN" sz="1650" b="1" i="0">
              <a:solidFill>
                <a:schemeClr val="tx1"/>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019800" y="3519170"/>
            <a:ext cx="5255260" cy="661670"/>
          </a:xfrm>
          <a:prstGeom prst="rect">
            <a:avLst/>
          </a:prstGeom>
          <a:noFill/>
          <a:ln w="0">
            <a:noFill/>
            <a:prstDash val="solid"/>
          </a:ln>
        </p:spPr>
        <p:txBody>
          <a:bodyPr wrap="square" lIns="0" tIns="0" rIns="0" bIns="0" anchor="t">
            <a:normAutofit/>
          </a:bodyPr>
          <a:lstStyle/>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Intuitive and widely understood across academic Intuitive and widely understood across academic</a:t>
            </a:r>
            <a:endParaRPr lang="en-US" altLang="zh-CN" sz="1425" b="0" i="0">
              <a:solidFill>
                <a:srgbClr val="334155"/>
              </a:solidFill>
              <a:latin typeface="Arial" panose="020B0604020202090204"/>
              <a:ea typeface="Arial" panose="020B0604020202090204"/>
              <a:cs typeface="Arial" panose="020B0604020202090204"/>
            </a:endParaRPr>
          </a:p>
        </p:txBody>
      </p:sp>
      <p:sp>
        <p:nvSpPr>
          <p:cNvPr id="9" name="矩形 8"/>
          <p:cNvSpPr>
            <a:spLocks noGrp="1"/>
          </p:cNvSpPr>
          <p:nvPr/>
        </p:nvSpPr>
        <p:spPr>
          <a:xfrm>
            <a:off x="470535" y="4382770"/>
            <a:ext cx="4762500" cy="323850"/>
          </a:xfrm>
          <a:prstGeom prst="rect">
            <a:avLst/>
          </a:prstGeom>
          <a:noFill/>
          <a:ln w="0">
            <a:noFill/>
            <a:prstDash val="solid"/>
          </a:ln>
        </p:spPr>
        <p:txBody>
          <a:bodyPr wrap="square" lIns="0" tIns="0" rIns="0" bIns="0" anchor="t">
            <a:normAutofit/>
          </a:bodyPr>
          <a:lstStyle/>
          <a:p>
            <a:pPr algn="l">
              <a:lnSpc>
                <a:spcPct val="110000"/>
              </a:lnSpc>
              <a:buNone/>
              <a:defRPr sz="1575" b="1" i="0">
                <a:solidFill>
                  <a:srgbClr val="059669"/>
                </a:solidFill>
                <a:latin typeface="Arial" panose="020B0604020202090204"/>
                <a:ea typeface="Arial" panose="020B0604020202090204"/>
                <a:cs typeface="Arial" panose="020B0604020202090204"/>
              </a:defRPr>
            </a:pPr>
            <a:r>
              <a:rPr lang="en-US" altLang="zh-CN" sz="1575" b="1" i="0">
                <a:solidFill>
                  <a:srgbClr val="059669"/>
                </a:solidFill>
                <a:latin typeface="Arial" panose="020B0604020202090204"/>
                <a:ea typeface="Arial" panose="020B0604020202090204"/>
                <a:cs typeface="Arial" panose="020B0604020202090204"/>
              </a:rPr>
              <a:t>Standard Protocol Requirements</a:t>
            </a:r>
            <a:endParaRPr lang="en-US" altLang="zh-CN" sz="1575" b="1" i="0">
              <a:solidFill>
                <a:srgbClr val="05966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470535" y="4850130"/>
            <a:ext cx="4762500" cy="533400"/>
          </a:xfrm>
          <a:prstGeom prst="rect">
            <a:avLst/>
          </a:prstGeom>
          <a:noFill/>
          <a:ln w="0">
            <a:noFill/>
            <a:prstDash val="solid"/>
          </a:ln>
        </p:spPr>
        <p:txBody>
          <a:bodyPr wrap="square" lIns="0" tIns="0" rIns="0" bIns="0" anchor="t">
            <a:normAutofit/>
          </a:bodyPr>
          <a:lstStyle/>
          <a:p>
            <a:pPr marL="285750" indent="-2857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Requires controlled environments &amp; listener panels.</a:t>
            </a: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Must report sample size (N) and uncertainty.</a:t>
            </a:r>
            <a:endParaRPr lang="en-US" altLang="zh-CN" sz="1425" b="0" i="0">
              <a:solidFill>
                <a:srgbClr val="334155"/>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6019800" y="4292600"/>
            <a:ext cx="5334000" cy="323850"/>
          </a:xfrm>
          <a:prstGeom prst="rect">
            <a:avLst/>
          </a:prstGeom>
          <a:noFill/>
          <a:ln w="0">
            <a:noFill/>
            <a:prstDash val="solid"/>
          </a:ln>
        </p:spPr>
        <p:txBody>
          <a:bodyPr wrap="square" lIns="0" tIns="0" rIns="0" bIns="0" anchor="t">
            <a:normAutofit/>
          </a:bodyPr>
          <a:lstStyle/>
          <a:p>
            <a:pPr algn="l">
              <a:lnSpc>
                <a:spcPct val="110000"/>
              </a:lnSpc>
              <a:buNone/>
              <a:defRPr sz="1575" b="1" i="0">
                <a:solidFill>
                  <a:srgbClr val="D97706"/>
                </a:solidFill>
                <a:latin typeface="Arial" panose="020B0604020202090204"/>
                <a:ea typeface="Arial" panose="020B0604020202090204"/>
                <a:cs typeface="Arial" panose="020B0604020202090204"/>
              </a:defRPr>
            </a:pPr>
            <a:r>
              <a:rPr lang="en-US" altLang="zh-CN" sz="1575" b="1" i="0">
                <a:solidFill>
                  <a:srgbClr val="D97706"/>
                </a:solidFill>
                <a:latin typeface="Arial" panose="020B0604020202090204"/>
                <a:ea typeface="Arial" panose="020B0604020202090204"/>
                <a:cs typeface="Arial" panose="020B0604020202090204"/>
              </a:rPr>
              <a:t>Limitations &amp; Pain Points</a:t>
            </a:r>
            <a:endParaRPr lang="en-US" altLang="zh-CN" sz="1575" b="1" i="0">
              <a:solidFill>
                <a:srgbClr val="D97706"/>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6019800" y="4806950"/>
            <a:ext cx="5334000" cy="1027430"/>
          </a:xfrm>
          <a:prstGeom prst="rect">
            <a:avLst/>
          </a:prstGeom>
          <a:noFill/>
          <a:ln w="0">
            <a:noFill/>
            <a:prstDash val="solid"/>
          </a:ln>
        </p:spPr>
        <p:txBody>
          <a:bodyPr wrap="square" lIns="0" tIns="0" rIns="0" bIns="0" anchor="t">
            <a:normAutofit/>
          </a:bodyPr>
          <a:lstStyle/>
          <a:p>
            <a:pPr marL="285750" indent="-2857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Expensive &amp; Time-Consuming: High human labor cost.</a:t>
            </a: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25" b="0" i="0">
              <a:solidFill>
                <a:srgbClr val="334155"/>
              </a:solidFill>
              <a:latin typeface="Arial" panose="020B0604020202090204"/>
              <a:ea typeface="Arial" panose="020B0604020202090204"/>
              <a:cs typeface="Arial" panose="020B0604020202090204"/>
            </a:endParaRPr>
          </a:p>
          <a:p>
            <a:pPr marL="285750" indent="-285750" algn="l">
              <a:lnSpc>
                <a:spcPct val="110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25" b="0" i="0">
                <a:solidFill>
                  <a:srgbClr val="334155"/>
                </a:solidFill>
                <a:latin typeface="Arial" panose="020B0604020202090204"/>
                <a:ea typeface="Arial" panose="020B0604020202090204"/>
                <a:cs typeface="Arial" panose="020B0604020202090204"/>
              </a:rPr>
              <a:t>High Variance &amp; Ceiling Effect: Hard to resolvesubtle model improvements near human quality.</a:t>
            </a:r>
            <a:endParaRPr lang="en-US" altLang="zh-CN" sz="1425" b="0" i="0">
              <a:solidFill>
                <a:srgbClr val="334155"/>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19800" y="2995930"/>
            <a:ext cx="34290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650" b="1" i="0">
                <a:solidFill>
                  <a:srgbClr val="1E40AF"/>
                </a:solidFill>
                <a:latin typeface="Arial" panose="020B0604020202090204"/>
                <a:ea typeface="Arial" panose="020B0604020202090204"/>
                <a:cs typeface="Arial" panose="020B0604020202090204"/>
              </a:rPr>
              <a:t>Key Strengths</a:t>
            </a:r>
            <a:endParaRPr lang="en-US" altLang="zh-CN" sz="1650" b="1" i="0">
              <a:solidFill>
                <a:srgbClr val="1E40AF"/>
              </a:solidFill>
              <a:latin typeface="Arial" panose="020B0604020202090204"/>
              <a:ea typeface="Arial" panose="020B0604020202090204"/>
              <a:cs typeface="Arial" panose="020B060402020209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EVALUATION</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550" b="1" i="0">
                <a:solidFill>
                  <a:srgbClr val="0F172A"/>
                </a:solidFill>
                <a:latin typeface="Arial" panose="020B0604020202090204"/>
                <a:ea typeface="Arial" panose="020B0604020202090204"/>
                <a:cs typeface="Arial" panose="020B0604020202090204"/>
              </a:rPr>
              <a:t>MUSHRA &amp; Side-by-side (AB) Tests</a:t>
            </a:r>
            <a:endParaRPr lang="en-US" altLang="zh-CN" sz="255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57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86105" y="1285240"/>
            <a:ext cx="19050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MUSHRA</a:t>
            </a:r>
            <a:endParaRPr sz="20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33400" y="1987550"/>
            <a:ext cx="4924425" cy="2501265"/>
          </a:xfrm>
          <a:prstGeom prst="rect">
            <a:avLst/>
          </a:prstGeom>
          <a:noFill/>
          <a:ln w="0">
            <a:noFill/>
            <a:prstDash val="solid"/>
          </a:ln>
        </p:spPr>
        <p:txBody>
          <a:bodyPr wrap="square" lIns="0" tIns="0" rIns="0" bIns="0" anchor="t"/>
          <a:lstStyle/>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Evaluates multiple stimuli simultaneously against:</a:t>
            </a:r>
            <a:endParaRPr lang="en-US" altLang="zh-CN" sz="1600" b="0" i="0">
              <a:solidFill>
                <a:srgbClr val="334155"/>
              </a:solidFill>
              <a:latin typeface="Arial" panose="020B0604020202090204"/>
              <a:ea typeface="Arial" panose="020B0604020202090204"/>
              <a:cs typeface="Arial" panose="020B0604020202090204"/>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 Explicit Reference</a:t>
            </a:r>
            <a:endParaRPr lang="en-US" altLang="zh-CN" sz="1600" b="0" i="0">
              <a:solidFill>
                <a:srgbClr val="334155"/>
              </a:solidFill>
              <a:latin typeface="Arial" panose="020B0604020202090204"/>
              <a:ea typeface="Arial" panose="020B0604020202090204"/>
              <a:cs typeface="Arial" panose="020B0604020202090204"/>
            </a:endParaRPr>
          </a:p>
          <a:p>
            <a:pPr indent="457200" algn="l">
              <a:lnSpc>
                <a:spcPct val="112000"/>
              </a:lnSpc>
              <a:buFont typeface="Arial" panose="020B0604020202090204" pitchFamily="34" charset="0"/>
              <a:buNone/>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 Hidden Reference &amp; Low-Quality Anchor</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Uses a continuous 0–100 score scale.</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Best Used For</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Differentiating between multiple high-quality systems where MOS encounters ceiling effects.</a:t>
            </a:r>
            <a:endParaRPr lang="en-US" altLang="zh-CN" sz="1600" b="0" i="0">
              <a:solidFill>
                <a:srgbClr val="334155"/>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744335" y="1285240"/>
            <a:ext cx="238125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2000" b="1" i="0">
                <a:solidFill>
                  <a:srgbClr val="059669"/>
                </a:solidFill>
                <a:latin typeface="Arial" panose="020B0604020202090204"/>
                <a:ea typeface="Arial" panose="020B0604020202090204"/>
                <a:cs typeface="Arial" panose="020B0604020202090204"/>
              </a:rPr>
              <a:t>Side-by-side / AB</a:t>
            </a:r>
            <a:endParaRPr sz="2000" b="1" i="0">
              <a:solidFill>
                <a:srgbClr val="05966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744335" y="1987550"/>
            <a:ext cx="4762500" cy="2081530"/>
          </a:xfrm>
          <a:prstGeom prst="rect">
            <a:avLst/>
          </a:prstGeom>
          <a:noFill/>
          <a:ln w="0">
            <a:noFill/>
            <a:prstDash val="solid"/>
          </a:ln>
        </p:spPr>
        <p:txBody>
          <a:bodyPr wrap="square" lIns="0" tIns="0" rIns="0" bIns="0" anchor="t"/>
          <a:lstStyle/>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Directly compares two audio samples (A vs B).</a:t>
            </a:r>
            <a:endParaRPr lang="en-US" altLang="zh-CN" sz="16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Task: Listener selects the preferred option.</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00" b="1" i="0">
                <a:solidFill>
                  <a:srgbClr val="334155"/>
                </a:solidFill>
                <a:latin typeface="Arial" panose="020B0604020202090204" pitchFamily="34" charset="0"/>
                <a:ea typeface="Arial" panose="020B0604020202090204"/>
                <a:cs typeface="Arial" panose="020B0604020202090204" pitchFamily="34" charset="0"/>
              </a:rPr>
              <a:t>Key Advantages</a:t>
            </a: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Binary Choice: Eliminates individual differences in rating-scale habits across listeners.</a:t>
            </a:r>
            <a:endParaRPr lang="en-US" altLang="zh-CN" sz="16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600" b="0" i="0">
                <a:solidFill>
                  <a:srgbClr val="334155"/>
                </a:solidFill>
                <a:latin typeface="Arial" panose="020B0604020202090204"/>
                <a:ea typeface="Arial" panose="020B0604020202090204"/>
                <a:cs typeface="Arial" panose="020B0604020202090204"/>
              </a:rPr>
              <a:t>High Sensitivity: Extremely sensitive to hard, audible errors and artifacts.</a:t>
            </a:r>
            <a:endParaRPr lang="en-US" altLang="zh-CN" sz="1600" b="0" i="0">
              <a:solidFill>
                <a:srgbClr val="334155"/>
              </a:solidFill>
              <a:latin typeface="Arial" panose="020B0604020202090204"/>
              <a:ea typeface="Arial" panose="020B0604020202090204"/>
              <a:cs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0" i="0">
              <a:solidFill>
                <a:srgbClr val="334155"/>
              </a:solidFill>
              <a:latin typeface="Arial" panose="020B0604020202090204"/>
              <a:ea typeface="Arial" panose="020B0604020202090204"/>
              <a:cs typeface="Arial" panose="020B0604020202090204"/>
            </a:endParaRPr>
          </a:p>
        </p:txBody>
      </p:sp>
      <p:sp>
        <p:nvSpPr>
          <p:cNvPr id="12" name="文本框 11"/>
          <p:cNvSpPr txBox="1"/>
          <p:nvPr/>
        </p:nvSpPr>
        <p:spPr>
          <a:xfrm>
            <a:off x="448945" y="5242560"/>
            <a:ext cx="4064000" cy="337185"/>
          </a:xfrm>
          <a:prstGeom prst="rect">
            <a:avLst/>
          </a:prstGeom>
          <a:noFill/>
        </p:spPr>
        <p:txBody>
          <a:bodyPr wrap="square" rtlCol="0">
            <a:spAutoFit/>
          </a:bodyPr>
          <a:p>
            <a:r>
              <a:rPr lang="en-US" altLang="zh-CN" sz="1600" b="1" i="1">
                <a:latin typeface="Arial" panose="020B0604020202090204" pitchFamily="34" charset="0"/>
                <a:cs typeface="Arial" panose="020B0604020202090204" pitchFamily="34" charset="0"/>
              </a:rPr>
              <a:t>Decision Rule Guidelines:</a:t>
            </a:r>
            <a:endParaRPr lang="en-US" altLang="zh-CN" sz="1600" b="1" i="1">
              <a:latin typeface="Arial" panose="020B0604020202090204" pitchFamily="34" charset="0"/>
              <a:cs typeface="Arial" panose="020B0604020202090204" pitchFamily="34" charset="0"/>
            </a:endParaRPr>
          </a:p>
        </p:txBody>
      </p:sp>
      <p:sp>
        <p:nvSpPr>
          <p:cNvPr id="13" name="文本框 12"/>
          <p:cNvSpPr txBox="1"/>
          <p:nvPr/>
        </p:nvSpPr>
        <p:spPr>
          <a:xfrm>
            <a:off x="586105" y="5588000"/>
            <a:ext cx="8736330" cy="306705"/>
          </a:xfrm>
          <a:prstGeom prst="rect">
            <a:avLst/>
          </a:prstGeom>
          <a:noFill/>
        </p:spPr>
        <p:txBody>
          <a:bodyPr wrap="square" rtlCol="0">
            <a:spAutoFit/>
          </a:bodyPr>
          <a:p>
            <a:pPr marL="285750" indent="-285750">
              <a:buFont typeface="Arial" panose="020B0604020202090204" pitchFamily="34" charset="0"/>
              <a:buChar char="•"/>
            </a:pPr>
            <a:r>
              <a:rPr lang="en-US" altLang="zh-CN" sz="1400" i="1">
                <a:latin typeface="Arial" panose="020B0604020202090204" pitchFamily="34" charset="0"/>
                <a:cs typeface="Arial" panose="020B0604020202090204" pitchFamily="34" charset="0"/>
              </a:rPr>
              <a:t>Use MUSHRA when you need to rank and benchmark a set of multiple systems.</a:t>
            </a:r>
            <a:endParaRPr lang="en-US" altLang="zh-CN" sz="1400" i="1">
              <a:latin typeface="Arial" panose="020B0604020202090204" pitchFamily="34" charset="0"/>
              <a:cs typeface="Arial" panose="020B0604020202090204" pitchFamily="34" charset="0"/>
            </a:endParaRPr>
          </a:p>
        </p:txBody>
      </p:sp>
      <p:sp>
        <p:nvSpPr>
          <p:cNvPr id="14" name="文本框 13"/>
          <p:cNvSpPr txBox="1"/>
          <p:nvPr/>
        </p:nvSpPr>
        <p:spPr>
          <a:xfrm>
            <a:off x="586105" y="5873115"/>
            <a:ext cx="9455785" cy="306705"/>
          </a:xfrm>
          <a:prstGeom prst="rect">
            <a:avLst/>
          </a:prstGeom>
          <a:noFill/>
        </p:spPr>
        <p:txBody>
          <a:bodyPr wrap="square" rtlCol="0">
            <a:spAutoFit/>
          </a:bodyPr>
          <a:p>
            <a:pPr marL="285750" indent="-285750">
              <a:buFont typeface="Arial" panose="020B0604020202090204" pitchFamily="34" charset="0"/>
              <a:buChar char="•"/>
            </a:pPr>
            <a:r>
              <a:rPr lang="en-US" altLang="zh-CN" sz="1400" i="1">
                <a:latin typeface="Arial" panose="020B0604020202090204" pitchFamily="34" charset="0"/>
                <a:cs typeface="Arial" panose="020B0604020202090204" pitchFamily="34" charset="0"/>
              </a:rPr>
              <a:t>Use AB Testing when asking a focused A/B preference question for a single model change.</a:t>
            </a:r>
            <a:endParaRPr lang="en-US" altLang="zh-CN" sz="1400" i="1">
              <a:latin typeface="Arial" panose="020B0604020202090204" pitchFamily="34" charset="0"/>
              <a:cs typeface="Arial" panose="020B060402020209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EVALUATION</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Summary &amp; Metric Family Matrix</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58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51180" y="1356995"/>
            <a:ext cx="2857500" cy="323850"/>
          </a:xfrm>
          <a:prstGeom prst="rect">
            <a:avLst/>
          </a:prstGeom>
          <a:noFill/>
          <a:ln w="0">
            <a:noFill/>
            <a:prstDash val="solid"/>
          </a:ln>
        </p:spPr>
        <p:txBody>
          <a:bodyPr wrap="square" lIns="0" tIns="0" rIns="0" bIns="0" anchor="t">
            <a:noAutofit/>
          </a:bodyPr>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sz="2000" b="1" i="0">
                <a:solidFill>
                  <a:srgbClr val="1E40AF"/>
                </a:solidFill>
                <a:latin typeface="Arial" panose="020B0604020202090204"/>
                <a:ea typeface="Arial" panose="020B0604020202090204"/>
                <a:cs typeface="Arial" panose="020B0604020202090204"/>
              </a:rPr>
              <a:t>Ask one condition</a:t>
            </a:r>
            <a:endParaRPr sz="2000" b="1" i="0">
              <a:solidFill>
                <a:srgbClr val="1E40A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51180" y="1989455"/>
            <a:ext cx="5972175" cy="2249170"/>
          </a:xfrm>
          <a:prstGeom prst="rect">
            <a:avLst/>
          </a:prstGeom>
          <a:noFill/>
          <a:ln w="0">
            <a:noFill/>
            <a:prstDash val="solid"/>
          </a:ln>
        </p:spPr>
        <p:txBody>
          <a:bodyPr wrap="square" lIns="0" tIns="0" rIns="0" bIns="0" anchor="t"/>
          <a:lstStyle/>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altLang="zh-CN" sz="1600" i="0">
                <a:solidFill>
                  <a:srgbClr val="0F172A"/>
                </a:solidFill>
                <a:latin typeface="Arial" panose="020B0604020202090204" pitchFamily="34" charset="0"/>
                <a:ea typeface="Arial" panose="020B0604020202090204"/>
                <a:cs typeface="Arial" panose="020B0604020202090204" pitchFamily="34" charset="0"/>
              </a:rPr>
              <a:t>Noise Check:</a:t>
            </a:r>
            <a:endParaRPr lang="en-US" altLang="zh-CN" sz="160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sz="1600" b="0" i="0">
                <a:solidFill>
                  <a:srgbClr val="0F172A"/>
                </a:solidFill>
                <a:latin typeface="Arial" panose="020B0604020202090204" pitchFamily="34" charset="0"/>
                <a:ea typeface="Arial" panose="020B0604020202090204"/>
                <a:cs typeface="Arial" panose="020B0604020202090204" pitchFamily="34" charset="0"/>
              </a:rPr>
              <a:t>“</a:t>
            </a:r>
            <a:r>
              <a:rPr sz="1600" b="0" i="0">
                <a:solidFill>
                  <a:srgbClr val="0F172A"/>
                </a:solidFill>
                <a:latin typeface="Arial" panose="020B0604020202090204" pitchFamily="34" charset="0"/>
                <a:ea typeface="Arial" panose="020B0604020202090204"/>
                <a:cs typeface="Arial" panose="020B0604020202090204" pitchFamily="34" charset="0"/>
              </a:rPr>
              <a:t>Does the sample contain audible background noise?</a:t>
            </a:r>
            <a:r>
              <a:rPr lang="en-US" sz="1600" b="0" i="0">
                <a:solidFill>
                  <a:srgbClr val="0F172A"/>
                </a:solidFill>
                <a:latin typeface="Arial" panose="020B0604020202090204" pitchFamily="34" charset="0"/>
                <a:ea typeface="Arial" panose="020B0604020202090204"/>
                <a:cs typeface="Arial" panose="020B0604020202090204" pitchFamily="34" charset="0"/>
              </a:rPr>
              <a:t>”</a:t>
            </a:r>
            <a:endParaRPr sz="1600" b="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endParaRPr sz="1600" b="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altLang="zh-CN" sz="1600" i="0">
                <a:solidFill>
                  <a:srgbClr val="0F172A"/>
                </a:solidFill>
                <a:latin typeface="Arial" panose="020B0604020202090204" pitchFamily="34" charset="0"/>
                <a:ea typeface="Arial" panose="020B0604020202090204"/>
                <a:cs typeface="Arial" panose="020B0604020202090204" pitchFamily="34" charset="0"/>
              </a:rPr>
              <a:t>Intelligibility Check:</a:t>
            </a:r>
            <a:endParaRPr lang="en-US" altLang="zh-CN" sz="160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sz="1600" b="0" i="0">
                <a:solidFill>
                  <a:srgbClr val="0F172A"/>
                </a:solidFill>
                <a:latin typeface="Arial" panose="020B0604020202090204" pitchFamily="34" charset="0"/>
                <a:ea typeface="Arial" panose="020B0604020202090204"/>
                <a:cs typeface="Arial" panose="020B0604020202090204" pitchFamily="34" charset="0"/>
              </a:rPr>
              <a:t>“</a:t>
            </a:r>
            <a:r>
              <a:rPr sz="1600" b="0" i="0">
                <a:solidFill>
                  <a:srgbClr val="0F172A"/>
                </a:solidFill>
                <a:latin typeface="Arial" panose="020B0604020202090204" pitchFamily="34" charset="0"/>
                <a:ea typeface="Arial" panose="020B0604020202090204"/>
                <a:cs typeface="Arial" panose="020B0604020202090204" pitchFamily="34" charset="0"/>
              </a:rPr>
              <a:t>Can the listener identify the sentence?</a:t>
            </a:r>
            <a:r>
              <a:rPr lang="en-US" sz="1600" b="0" i="0">
                <a:solidFill>
                  <a:srgbClr val="0F172A"/>
                </a:solidFill>
                <a:latin typeface="Arial" panose="020B0604020202090204" pitchFamily="34" charset="0"/>
                <a:ea typeface="Arial" panose="020B0604020202090204"/>
                <a:cs typeface="Arial" panose="020B0604020202090204" pitchFamily="34" charset="0"/>
              </a:rPr>
              <a:t>”</a:t>
            </a:r>
            <a:endParaRPr sz="1600" b="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endParaRPr lang="en-US" altLang="zh-CN" sz="160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altLang="zh-CN" sz="1600" i="0">
                <a:solidFill>
                  <a:srgbClr val="0F172A"/>
                </a:solidFill>
                <a:latin typeface="Arial" panose="020B0604020202090204" pitchFamily="34" charset="0"/>
                <a:ea typeface="Arial" panose="020B0604020202090204"/>
                <a:cs typeface="Arial" panose="020B0604020202090204" pitchFamily="34" charset="0"/>
              </a:rPr>
              <a:t>Speaker Identity Check:</a:t>
            </a:r>
            <a:endParaRPr lang="en-US" altLang="zh-CN" sz="1600" i="0">
              <a:solidFill>
                <a:srgbClr val="0F172A"/>
              </a:solidFill>
              <a:latin typeface="Arial" panose="020B0604020202090204" pitchFamily="34" charset="0"/>
              <a:ea typeface="Arial" panose="020B0604020202090204"/>
              <a:cs typeface="Arial" panose="020B0604020202090204" pitchFamily="34" charset="0"/>
            </a:endParaRPr>
          </a:p>
          <a:p>
            <a:pPr algn="l">
              <a:lnSpc>
                <a:spcPct val="120000"/>
              </a:lnSpc>
              <a:buNone/>
              <a:defRPr sz="1650" b="1" i="0">
                <a:solidFill>
                  <a:srgbClr val="0F172A"/>
                </a:solidFill>
                <a:latin typeface="Arial" panose="020B0604020202090204"/>
                <a:ea typeface="Arial" panose="020B0604020202090204"/>
                <a:cs typeface="Arial" panose="020B0604020202090204"/>
              </a:defRPr>
            </a:pPr>
            <a:r>
              <a:rPr lang="en-US" sz="1600" b="0" i="0">
                <a:solidFill>
                  <a:srgbClr val="0F172A"/>
                </a:solidFill>
                <a:latin typeface="Arial" panose="020B0604020202090204" pitchFamily="34" charset="0"/>
                <a:ea typeface="Arial" panose="020B0604020202090204"/>
                <a:cs typeface="Arial" panose="020B0604020202090204" pitchFamily="34" charset="0"/>
              </a:rPr>
              <a:t>“</a:t>
            </a:r>
            <a:r>
              <a:rPr sz="1600" b="0" i="0">
                <a:solidFill>
                  <a:srgbClr val="0F172A"/>
                </a:solidFill>
                <a:latin typeface="Arial" panose="020B0604020202090204" pitchFamily="34" charset="0"/>
                <a:ea typeface="Arial" panose="020B0604020202090204"/>
                <a:cs typeface="Arial" panose="020B0604020202090204" pitchFamily="34" charset="0"/>
              </a:rPr>
              <a:t>Does the voice sound like the target speaker?</a:t>
            </a:r>
            <a:r>
              <a:rPr lang="en-US" sz="1600" b="0" i="0">
                <a:solidFill>
                  <a:srgbClr val="0F172A"/>
                </a:solidFill>
                <a:latin typeface="Arial" panose="020B0604020202090204" pitchFamily="34" charset="0"/>
                <a:ea typeface="Arial" panose="020B0604020202090204"/>
                <a:cs typeface="Arial" panose="020B0604020202090204" pitchFamily="34" charset="0"/>
              </a:rPr>
              <a:t>”</a:t>
            </a:r>
            <a:endParaRPr lang="en-US" sz="1600" b="0" i="0">
              <a:solidFill>
                <a:srgbClr val="0F172A"/>
              </a:solidFill>
              <a:latin typeface="Arial" panose="020B0604020202090204" pitchFamily="34" charset="0"/>
              <a:ea typeface="Arial" panose="020B0604020202090204"/>
              <a:cs typeface="Arial" panose="020B0604020202090204" pitchFamily="34" charset="0"/>
            </a:endParaRPr>
          </a:p>
        </p:txBody>
      </p:sp>
      <p:graphicFrame>
        <p:nvGraphicFramePr>
          <p:cNvPr id="15" name="表格 14"/>
          <p:cNvGraphicFramePr/>
          <p:nvPr/>
        </p:nvGraphicFramePr>
        <p:xfrm>
          <a:off x="6572250" y="1524000"/>
          <a:ext cx="4762500" cy="2714625"/>
        </p:xfrm>
        <a:graphic>
          <a:graphicData uri="http://schemas.openxmlformats.org/drawingml/2006/table">
            <a:tbl>
              <a:tblPr firstRow="1"/>
              <a:tblGrid>
                <a:gridCol w="1587500"/>
                <a:gridCol w="1587500"/>
                <a:gridCol w="1587500"/>
              </a:tblGrid>
              <a:tr h="542925">
                <a:tc>
                  <a:txBody>
                    <a:bodyPr>
                      <a:spAutoFit/>
                    </a:bodyPr>
                    <a:lstStyle/>
                    <a:p>
                      <a:r>
                        <a:rPr sz="1125" b="1">
                          <a:solidFill>
                            <a:srgbClr val="111827"/>
                          </a:solidFill>
                          <a:latin typeface="Arial" panose="020B0604020202090204"/>
                          <a:ea typeface="Arial" panose="020B0604020202090204"/>
                          <a:cs typeface="Arial" panose="020B0604020202090204"/>
                        </a:rPr>
                        <a:t>Metric family</a:t>
                      </a:r>
                      <a:endParaRPr sz="1125" b="1">
                        <a:solidFill>
                          <a:srgbClr val="111827"/>
                        </a:solidFill>
                        <a:latin typeface="Arial" panose="020B0604020202090204"/>
                        <a:ea typeface="Arial" panose="020B0604020202090204"/>
                        <a:cs typeface="Arial" panose="020B0604020202090204"/>
                      </a:endParaRPr>
                    </a:p>
                  </a:txBody>
                  <a:tcPr anchor="ctr">
                    <a:solidFill>
                      <a:srgbClr val="92D050"/>
                    </a:solidFill>
                  </a:tcPr>
                </a:tc>
                <a:tc>
                  <a:txBody>
                    <a:bodyPr>
                      <a:spAutoFit/>
                    </a:bodyPr>
                    <a:lstStyle/>
                    <a:p>
                      <a:r>
                        <a:rPr sz="1125" b="1">
                          <a:solidFill>
                            <a:srgbClr val="111827"/>
                          </a:solidFill>
                          <a:latin typeface="Arial" panose="020B0604020202090204"/>
                          <a:ea typeface="Arial" panose="020B0604020202090204"/>
                          <a:cs typeface="Arial" panose="020B0604020202090204"/>
                        </a:rPr>
                        <a:t>Output</a:t>
                      </a:r>
                      <a:endParaRPr sz="1125" b="1">
                        <a:solidFill>
                          <a:srgbClr val="111827"/>
                        </a:solidFill>
                        <a:latin typeface="Arial" panose="020B0604020202090204"/>
                        <a:ea typeface="Arial" panose="020B0604020202090204"/>
                        <a:cs typeface="Arial" panose="020B0604020202090204"/>
                      </a:endParaRPr>
                    </a:p>
                  </a:txBody>
                  <a:tcPr anchor="ctr">
                    <a:solidFill>
                      <a:srgbClr val="92D050"/>
                    </a:solidFill>
                  </a:tcPr>
                </a:tc>
                <a:tc>
                  <a:txBody>
                    <a:bodyPr>
                      <a:spAutoFit/>
                    </a:bodyPr>
                    <a:lstStyle/>
                    <a:p>
                      <a:r>
                        <a:rPr sz="1125" b="1">
                          <a:solidFill>
                            <a:srgbClr val="111827"/>
                          </a:solidFill>
                          <a:latin typeface="Arial" panose="020B0604020202090204"/>
                          <a:ea typeface="Arial" panose="020B0604020202090204"/>
                          <a:cs typeface="Arial" panose="020B0604020202090204"/>
                        </a:rPr>
                        <a:t>Best use</a:t>
                      </a:r>
                      <a:endParaRPr sz="1125" b="1">
                        <a:solidFill>
                          <a:srgbClr val="111827"/>
                        </a:solidFill>
                        <a:latin typeface="Arial" panose="020B0604020202090204"/>
                        <a:ea typeface="Arial" panose="020B0604020202090204"/>
                        <a:cs typeface="Arial" panose="020B0604020202090204"/>
                      </a:endParaRPr>
                    </a:p>
                  </a:txBody>
                  <a:tcPr anchor="ctr">
                    <a:solidFill>
                      <a:srgbClr val="92D050"/>
                    </a:solidFill>
                  </a:tcPr>
                </a:tc>
              </a:tr>
              <a:tr h="542925">
                <a:tc>
                  <a:txBody>
                    <a:bodyPr>
                      <a:spAutoFit/>
                    </a:bodyPr>
                    <a:lstStyle/>
                    <a:p>
                      <a:r>
                        <a:rPr sz="1125" b="1">
                          <a:solidFill>
                            <a:srgbClr val="111827"/>
                          </a:solidFill>
                          <a:latin typeface="Arial" panose="020B0604020202090204"/>
                          <a:ea typeface="Arial" panose="020B0604020202090204"/>
                          <a:cs typeface="Arial" panose="020B0604020202090204"/>
                        </a:rPr>
                        <a:t>MOS</a:t>
                      </a:r>
                      <a:endParaRPr sz="1125"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1–5 average</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Overall quality</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542925">
                <a:tc>
                  <a:txBody>
                    <a:bodyPr>
                      <a:spAutoFit/>
                    </a:bodyPr>
                    <a:lstStyle/>
                    <a:p>
                      <a:r>
                        <a:rPr sz="1125" b="1">
                          <a:solidFill>
                            <a:srgbClr val="111827"/>
                          </a:solidFill>
                          <a:latin typeface="Arial" panose="020B0604020202090204"/>
                          <a:ea typeface="Arial" panose="020B0604020202090204"/>
                          <a:cs typeface="Arial" panose="020B0604020202090204"/>
                        </a:rPr>
                        <a:t>MUSHRA</a:t>
                      </a:r>
                      <a:endParaRPr sz="1125"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0–100 per sample</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Fine-grained ranking</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r h="542925">
                <a:tc>
                  <a:txBody>
                    <a:bodyPr>
                      <a:spAutoFit/>
                    </a:bodyPr>
                    <a:lstStyle/>
                    <a:p>
                      <a:r>
                        <a:rPr sz="1125" b="1">
                          <a:solidFill>
                            <a:srgbClr val="111827"/>
                          </a:solidFill>
                          <a:latin typeface="Arial" panose="020B0604020202090204"/>
                          <a:ea typeface="Arial" panose="020B0604020202090204"/>
                          <a:cs typeface="Arial" panose="020B0604020202090204"/>
                        </a:rPr>
                        <a:t>AB / SBS</a:t>
                      </a:r>
                      <a:endParaRPr sz="1125"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A or B</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Preference for a change</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542925">
                <a:tc>
                  <a:txBody>
                    <a:bodyPr>
                      <a:spAutoFit/>
                    </a:bodyPr>
                    <a:lstStyle/>
                    <a:p>
                      <a:r>
                        <a:rPr sz="1125" b="1">
                          <a:solidFill>
                            <a:srgbClr val="111827"/>
                          </a:solidFill>
                          <a:latin typeface="Arial" panose="020B0604020202090204"/>
                          <a:ea typeface="Arial" panose="020B0604020202090204"/>
                          <a:cs typeface="Arial" panose="020B0604020202090204"/>
                        </a:rPr>
                        <a:t>Binary</a:t>
                      </a:r>
                      <a:endParaRPr sz="1125"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Yes / No</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Failure diagnosis</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bl>
          </a:graphicData>
        </a:graphic>
      </p:graphicFrame>
      <p:sp>
        <p:nvSpPr>
          <p:cNvPr id="8" name="矩形 7"/>
          <p:cNvSpPr>
            <a:spLocks noGrp="1"/>
          </p:cNvSpPr>
          <p:nvPr/>
        </p:nvSpPr>
        <p:spPr>
          <a:xfrm>
            <a:off x="7031990" y="5012690"/>
            <a:ext cx="4476750" cy="762000"/>
          </a:xfrm>
          <a:prstGeom prst="rect">
            <a:avLst/>
          </a:prstGeom>
          <a:noFill/>
          <a:ln w="0">
            <a:noFill/>
            <a:prstDash val="solid"/>
          </a:ln>
        </p:spPr>
        <p:txBody>
          <a:bodyPr wrap="square" lIns="0" tIns="0" rIns="0" bIns="0" anchor="t">
            <a:normAutofit/>
          </a:bodyPr>
          <a:lstStyle/>
          <a:p>
            <a:pPr algn="l">
              <a:lnSpc>
                <a:spcPct val="110000"/>
              </a:lnSpc>
              <a:buNone/>
              <a:defRPr sz="1650" b="0" i="1">
                <a:solidFill>
                  <a:srgbClr val="64748B"/>
                </a:solidFill>
                <a:latin typeface="Arial" panose="020B0604020202090204"/>
                <a:ea typeface="Arial" panose="020B0604020202090204"/>
                <a:cs typeface="Arial" panose="020B0604020202090204"/>
              </a:defRPr>
            </a:pPr>
            <a:r>
              <a:rPr sz="1600" b="0" i="1">
                <a:solidFill>
                  <a:srgbClr val="64748B"/>
                </a:solidFill>
                <a:latin typeface="Arial" panose="020B0604020202090204"/>
                <a:ea typeface="Arial" panose="020B0604020202090204"/>
                <a:cs typeface="Arial" panose="020B0604020202090204"/>
              </a:rPr>
              <a:t>The evaluation protocol should be designed around the failure you want to detect.</a:t>
            </a:r>
            <a:endParaRPr sz="1600" b="0" i="1">
              <a:solidFill>
                <a:srgbClr val="64748B"/>
              </a:solidFill>
              <a:latin typeface="Arial" panose="020B0604020202090204"/>
              <a:ea typeface="Arial" panose="020B0604020202090204"/>
              <a:cs typeface="Arial" panose="020B0604020202090204"/>
            </a:endParaRPr>
          </a:p>
        </p:txBody>
      </p:sp>
      <p:sp>
        <p:nvSpPr>
          <p:cNvPr id="7" name="文本框 6"/>
          <p:cNvSpPr txBox="1"/>
          <p:nvPr/>
        </p:nvSpPr>
        <p:spPr>
          <a:xfrm>
            <a:off x="551180" y="4503420"/>
            <a:ext cx="1779905" cy="398780"/>
          </a:xfrm>
          <a:prstGeom prst="rect">
            <a:avLst/>
          </a:prstGeom>
          <a:noFill/>
        </p:spPr>
        <p:txBody>
          <a:bodyPr wrap="square" rtlCol="0">
            <a:spAutoFit/>
          </a:bodyPr>
          <a:p>
            <a:r>
              <a:rPr sz="2000" b="1">
                <a:solidFill>
                  <a:srgbClr val="1E40AF"/>
                </a:solidFill>
                <a:latin typeface="Arial" panose="020B0604020202090204"/>
                <a:ea typeface="Arial" panose="020B0604020202090204"/>
                <a:cs typeface="Arial" panose="020B0604020202090204"/>
              </a:rPr>
              <a:t>Purpose</a:t>
            </a:r>
            <a:endParaRPr sz="2000" b="1">
              <a:solidFill>
                <a:srgbClr val="1E40AF"/>
              </a:solidFill>
              <a:latin typeface="Arial" panose="020B0604020202090204"/>
              <a:ea typeface="Arial" panose="020B0604020202090204"/>
              <a:cs typeface="Arial" panose="020B0604020202090204"/>
            </a:endParaRPr>
          </a:p>
        </p:txBody>
      </p:sp>
      <p:sp>
        <p:nvSpPr>
          <p:cNvPr id="10" name="文本框 9"/>
          <p:cNvSpPr txBox="1"/>
          <p:nvPr/>
        </p:nvSpPr>
        <p:spPr>
          <a:xfrm>
            <a:off x="551180" y="5012690"/>
            <a:ext cx="5398135" cy="583565"/>
          </a:xfrm>
          <a:prstGeom prst="rect">
            <a:avLst/>
          </a:prstGeom>
          <a:noFill/>
        </p:spPr>
        <p:txBody>
          <a:bodyPr wrap="square" rtlCol="0">
            <a:spAutoFit/>
          </a:bodyPr>
          <a:p>
            <a:r>
              <a:rPr lang="en-US" altLang="zh-CN" sz="1600">
                <a:latin typeface="Arial" panose="020B0604020202090204" pitchFamily="34" charset="0"/>
                <a:cs typeface="Arial" panose="020B0604020202090204" pitchFamily="34" charset="0"/>
              </a:rPr>
              <a:t>Converts vague listener feedback into actionable engineering diagnostics (e.g., failure tagging)</a:t>
            </a:r>
            <a:endParaRPr lang="en-US" altLang="zh-CN" sz="1600">
              <a:latin typeface="Arial" panose="020B0604020202090204" pitchFamily="34" charset="0"/>
              <a:cs typeface="Arial" panose="020B060402020209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EVALUATION</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Crowdsourcing &amp; Statistical Rigor</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59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pic>
        <p:nvPicPr>
          <p:cNvPr id="14" name="图片 13"/>
          <p:cNvPicPr>
            <a:picLocks noChangeAspect="1"/>
          </p:cNvPicPr>
          <p:nvPr/>
        </p:nvPicPr>
        <p:blipFill>
          <a:blip r:embed="rId1"/>
          <a:stretch>
            <a:fillRect/>
          </a:stretch>
        </p:blipFill>
        <p:spPr>
          <a:xfrm>
            <a:off x="6885305" y="2348865"/>
            <a:ext cx="1894840" cy="786130"/>
          </a:xfrm>
          <a:prstGeom prst="rect">
            <a:avLst/>
          </a:prstGeom>
        </p:spPr>
      </p:pic>
      <p:sp>
        <p:nvSpPr>
          <p:cNvPr id="6" name="矩形 5"/>
          <p:cNvSpPr>
            <a:spLocks noGrp="1"/>
          </p:cNvSpPr>
          <p:nvPr/>
        </p:nvSpPr>
        <p:spPr>
          <a:xfrm>
            <a:off x="470535" y="1285240"/>
            <a:ext cx="5454650" cy="334645"/>
          </a:xfrm>
          <a:prstGeom prst="rect">
            <a:avLst/>
          </a:prstGeom>
          <a:noFill/>
          <a:ln w="0">
            <a:noFill/>
            <a:prstDash val="solid"/>
          </a:ln>
        </p:spPr>
        <p:txBody>
          <a:bodyPr wrap="square" lIns="0" tIns="0" rIns="0" bIns="0" anchor="t"/>
          <a:lstStyle/>
          <a:p>
            <a:pPr algn="l">
              <a:lnSpc>
                <a:spcPct val="110000"/>
              </a:lnSpc>
              <a:buNone/>
              <a:defRPr sz="1650" b="1" i="0">
                <a:solidFill>
                  <a:srgbClr val="1E40AF"/>
                </a:solidFill>
                <a:latin typeface="Arial" panose="020B0604020202090204"/>
                <a:ea typeface="Arial" panose="020B0604020202090204"/>
                <a:cs typeface="Arial" panose="020B0604020202090204"/>
              </a:defRPr>
            </a:pPr>
            <a:r>
              <a:rPr lang="en-US" altLang="zh-CN" sz="1800" b="1" i="0">
                <a:solidFill>
                  <a:srgbClr val="1E40AF"/>
                </a:solidFill>
                <a:latin typeface="Arial" panose="020B0604020202090204"/>
                <a:ea typeface="Arial" panose="020B0604020202090204"/>
                <a:cs typeface="Arial" panose="020B0604020202090204"/>
              </a:rPr>
              <a:t>Crowdsourcing Implementation &amp; Quality Control</a:t>
            </a:r>
            <a:endParaRPr lang="en-US" altLang="zh-CN" sz="1800" b="1" i="0">
              <a:solidFill>
                <a:srgbClr val="1E40AF"/>
              </a:solidFill>
              <a:latin typeface="Arial" panose="020B0604020202090204"/>
              <a:ea typeface="Arial" panose="020B0604020202090204"/>
              <a:cs typeface="Arial" panose="020B0604020202090204"/>
            </a:endParaRPr>
          </a:p>
        </p:txBody>
      </p:sp>
      <p:sp>
        <p:nvSpPr>
          <p:cNvPr id="7" name="矩形 6"/>
          <p:cNvSpPr>
            <a:spLocks noGrp="1"/>
          </p:cNvSpPr>
          <p:nvPr/>
        </p:nvSpPr>
        <p:spPr>
          <a:xfrm>
            <a:off x="470535" y="1904365"/>
            <a:ext cx="4953000" cy="1842135"/>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50" b="1" i="0">
                <a:solidFill>
                  <a:schemeClr val="tx1"/>
                </a:solidFill>
                <a:ea typeface="Arial" panose="020B0604020202090204"/>
              </a:rPr>
              <a:t>Crowdsourcing Advantages</a:t>
            </a:r>
            <a:endParaRPr lang="en-US" altLang="zh-CN" sz="1650" b="1" i="0">
              <a:solidFill>
                <a:schemeClr val="tx1"/>
              </a:solidFill>
              <a:ea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Scalability:</a:t>
            </a:r>
            <a:r>
              <a:rPr lang="en-US" altLang="zh-CN" sz="1400" b="0" i="0">
                <a:solidFill>
                  <a:srgbClr val="334155"/>
                </a:solidFill>
                <a:latin typeface="Arial" panose="020B0604020202090204"/>
                <a:ea typeface="Arial" panose="020B0604020202090204"/>
                <a:cs typeface="Arial" panose="020B0604020202090204"/>
              </a:rPr>
              <a:t> Access to a large, diverse listener pool across demographics and locations.</a:t>
            </a: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1" i="0">
                <a:solidFill>
                  <a:srgbClr val="334155"/>
                </a:solidFill>
                <a:latin typeface="Arial" panose="020B0604020202090204" pitchFamily="34" charset="0"/>
                <a:ea typeface="Arial" panose="020B0604020202090204"/>
                <a:cs typeface="Arial" panose="020B0604020202090204" pitchFamily="34" charset="0"/>
              </a:rPr>
              <a:t>Cost Efficiency:</a:t>
            </a:r>
            <a:r>
              <a:rPr lang="en-US" altLang="zh-CN" sz="1400" b="0" i="0">
                <a:solidFill>
                  <a:srgbClr val="334155"/>
                </a:solidFill>
                <a:latin typeface="Arial" panose="020B0604020202090204"/>
                <a:ea typeface="Arial" panose="020B0604020202090204"/>
                <a:cs typeface="Arial" panose="020B0604020202090204"/>
              </a:rPr>
              <a:t> Significantly cheaper than setting up dedicated acoustic laboratories.</a:t>
            </a:r>
            <a:endParaRPr lang="en-US" altLang="zh-CN" sz="1400" b="0" i="0">
              <a:solidFill>
                <a:srgbClr val="334155"/>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886575" y="1285240"/>
            <a:ext cx="2857500" cy="323850"/>
          </a:xfrm>
          <a:prstGeom prst="rect">
            <a:avLst/>
          </a:prstGeom>
          <a:noFill/>
          <a:ln w="0">
            <a:noFill/>
            <a:prstDash val="solid"/>
          </a:ln>
        </p:spPr>
        <p:txBody>
          <a:bodyPr wrap="square" lIns="0" tIns="0" rIns="0" bIns="0" anchor="t">
            <a:normAutofit/>
          </a:bodyPr>
          <a:lstStyle/>
          <a:p>
            <a:pPr algn="l">
              <a:lnSpc>
                <a:spcPct val="110000"/>
              </a:lnSpc>
              <a:buNone/>
              <a:defRPr sz="1650" b="1" i="0">
                <a:solidFill>
                  <a:srgbClr val="059669"/>
                </a:solidFill>
                <a:latin typeface="Arial" panose="020B0604020202090204"/>
                <a:ea typeface="Arial" panose="020B0604020202090204"/>
                <a:cs typeface="Arial" panose="020B0604020202090204"/>
              </a:defRPr>
            </a:pPr>
            <a:r>
              <a:rPr sz="1800" b="1" i="0">
                <a:solidFill>
                  <a:srgbClr val="059669"/>
                </a:solidFill>
                <a:latin typeface="Arial" panose="020B0604020202090204"/>
                <a:ea typeface="Arial" panose="020B0604020202090204"/>
                <a:cs typeface="Arial" panose="020B0604020202090204"/>
              </a:rPr>
              <a:t>Confidence interval</a:t>
            </a:r>
            <a:endParaRPr sz="1800" b="1" i="0">
              <a:solidFill>
                <a:srgbClr val="05966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885305" y="1916430"/>
            <a:ext cx="2105025" cy="335280"/>
          </a:xfrm>
          <a:prstGeom prst="rect">
            <a:avLst/>
          </a:prstGeom>
          <a:noFill/>
          <a:ln w="0">
            <a:noFill/>
            <a:prstDash val="solid"/>
          </a:ln>
        </p:spPr>
        <p:txBody>
          <a:bodyPr wrap="square" lIns="0" tIns="0" rIns="0" bIns="0" anchor="t">
            <a:normAutofit fontScale="90000"/>
          </a:bodyPr>
          <a:lstStyle/>
          <a:p>
            <a:pPr algn="l">
              <a:lnSpc>
                <a:spcPct val="110000"/>
              </a:lnSpc>
              <a:buNone/>
              <a:defRPr sz="1575" b="0" i="0">
                <a:solidFill>
                  <a:srgbClr val="334155"/>
                </a:solidFill>
                <a:latin typeface="Arial" panose="020B0604020202090204"/>
                <a:ea typeface="Arial" panose="020B0604020202090204"/>
                <a:cs typeface="Arial" panose="020B0604020202090204"/>
              </a:defRPr>
            </a:pPr>
            <a:r>
              <a:rPr lang="en-US" altLang="zh-CN" sz="1650" b="1" i="0">
                <a:solidFill>
                  <a:schemeClr val="tx1"/>
                </a:solidFill>
                <a:latin typeface="Arial" panose="020B0604020202090204"/>
                <a:ea typeface="Arial" panose="020B0604020202090204"/>
                <a:cs typeface="Arial" panose="020B0604020202090204"/>
              </a:rPr>
              <a:t>Mathematical Formula</a:t>
            </a:r>
            <a:endParaRPr lang="en-US" altLang="zh-CN" sz="1575" b="0" i="0">
              <a:solidFill>
                <a:srgbClr val="334155"/>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470535" y="3873500"/>
            <a:ext cx="4953000" cy="1842135"/>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50" b="1" i="0">
                <a:solidFill>
                  <a:schemeClr val="tx1"/>
                </a:solidFill>
                <a:ea typeface="Arial" panose="020B0604020202090204"/>
              </a:rPr>
              <a:t>Essential Quality Controls</a:t>
            </a:r>
            <a:endParaRPr lang="en-US" altLang="zh-CN" sz="1650" b="1" i="0">
              <a:solidFill>
                <a:schemeClr val="tx1"/>
              </a:solidFill>
              <a:ea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a:sym typeface="+mn-ea"/>
              </a:rPr>
              <a:t>Pre-test Screening (hearing checks).</a:t>
            </a:r>
            <a:endParaRPr lang="en-US" altLang="zh-CN" sz="1400">
              <a:sym typeface="+mn-ea"/>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Device Checks (enforcing headphone usage).</a:t>
            </a: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endParaRPr lang="en-US" altLang="zh-CN" sz="1400" b="0" i="0">
              <a:solidFill>
                <a:srgbClr val="334155"/>
              </a:solidFill>
              <a:latin typeface="Arial" panose="020B0604020202090204"/>
              <a:ea typeface="Arial" panose="020B0604020202090204"/>
              <a:cs typeface="Arial" panose="020B0604020202090204"/>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0" i="0">
                <a:solidFill>
                  <a:srgbClr val="334155"/>
                </a:solidFill>
                <a:latin typeface="Arial" panose="020B0604020202090204"/>
                <a:ea typeface="Arial" panose="020B0604020202090204"/>
                <a:cs typeface="Arial" panose="020B0604020202090204"/>
              </a:rPr>
              <a:t>Attention Trap Checks (filtering random clickers).</a:t>
            </a:r>
            <a:endParaRPr lang="en-US" altLang="zh-CN" sz="1400" b="0" i="0">
              <a:solidFill>
                <a:srgbClr val="334155"/>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6885305" y="3232150"/>
            <a:ext cx="4953000" cy="110236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50" b="1" i="0">
                <a:solidFill>
                  <a:schemeClr val="tx1"/>
                </a:solidFill>
                <a:ea typeface="Arial" panose="020B0604020202090204"/>
              </a:rPr>
              <a:t>Reporting Requirements &amp; Best Practices</a:t>
            </a:r>
            <a:endParaRPr lang="en-US" altLang="zh-CN" sz="1650" b="1" i="0">
              <a:solidFill>
                <a:schemeClr val="tx1"/>
              </a:solidFill>
              <a:ea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b="1">
                <a:latin typeface="Arial" panose="020B0604020202090204" pitchFamily="34" charset="0"/>
                <a:cs typeface="Arial" panose="020B0604020202090204" pitchFamily="34" charset="0"/>
                <a:sym typeface="+mn-ea"/>
              </a:rPr>
              <a:t>Complete Transparency: </a:t>
            </a:r>
            <a:r>
              <a:rPr lang="en-US" altLang="zh-CN" sz="1400">
                <a:sym typeface="+mn-ea"/>
              </a:rPr>
              <a:t>Always report mean score, sample size (n), and CI together</a:t>
            </a:r>
            <a:endParaRPr lang="en-US" altLang="zh-CN" sz="1400" b="0" i="0">
              <a:solidFill>
                <a:srgbClr val="334155"/>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6885305" y="4580890"/>
            <a:ext cx="4953000" cy="1102360"/>
          </a:xfrm>
          <a:prstGeom prst="rect">
            <a:avLst/>
          </a:prstGeom>
          <a:noFill/>
          <a:ln w="0">
            <a:noFill/>
            <a:prstDash val="solid"/>
          </a:ln>
        </p:spPr>
        <p:txBody>
          <a:bodyPr wrap="square" lIns="0" tIns="0" rIns="0" bIns="0" anchor="t"/>
          <a:lstStyle/>
          <a:p>
            <a:pPr algn="l">
              <a:lnSpc>
                <a:spcPct val="112000"/>
              </a:lnSpc>
              <a:buNone/>
              <a:defRPr sz="1425" b="0" i="0">
                <a:solidFill>
                  <a:srgbClr val="334155"/>
                </a:solidFill>
                <a:latin typeface="Arial" panose="020B0604020202090204"/>
                <a:ea typeface="Arial" panose="020B0604020202090204"/>
                <a:cs typeface="Arial" panose="020B0604020202090204"/>
              </a:defRPr>
            </a:pPr>
            <a:r>
              <a:rPr lang="en-US" altLang="zh-CN" sz="1650" b="1" i="0">
                <a:solidFill>
                  <a:schemeClr val="tx1"/>
                </a:solidFill>
                <a:ea typeface="Arial" panose="020B0604020202090204"/>
              </a:rPr>
              <a:t>Critical Statistical Insight</a:t>
            </a:r>
            <a:endParaRPr lang="en-US" altLang="zh-CN" sz="1650" b="1" i="0">
              <a:solidFill>
                <a:schemeClr val="tx1"/>
              </a:solidFill>
              <a:ea typeface="Arial" panose="020B0604020202090204"/>
            </a:endParaRPr>
          </a:p>
          <a:p>
            <a:pPr algn="l">
              <a:lnSpc>
                <a:spcPct val="112000"/>
              </a:lnSpc>
              <a:buNone/>
              <a:defRPr sz="1425" b="0" i="0">
                <a:solidFill>
                  <a:srgbClr val="334155"/>
                </a:solidFill>
                <a:latin typeface="Arial" panose="020B0604020202090204"/>
                <a:ea typeface="Arial" panose="020B0604020202090204"/>
                <a:cs typeface="Arial" panose="020B0604020202090204"/>
              </a:defRPr>
            </a:pPr>
            <a:endParaRPr lang="en-US" altLang="zh-CN" sz="1600" b="1" i="0">
              <a:solidFill>
                <a:srgbClr val="334155"/>
              </a:solidFill>
              <a:latin typeface="Arial" panose="020B0604020202090204" pitchFamily="34" charset="0"/>
              <a:ea typeface="Arial" panose="020B0604020202090204"/>
              <a:cs typeface="Arial" panose="020B0604020202090204" pitchFamily="34" charset="0"/>
            </a:endParaRPr>
          </a:p>
          <a:p>
            <a:pPr marL="285750" indent="-285750" algn="l">
              <a:lnSpc>
                <a:spcPct val="112000"/>
              </a:lnSpc>
              <a:buFont typeface="Arial" panose="020B0604020202090204" pitchFamily="34" charset="0"/>
              <a:buChar char="•"/>
              <a:defRPr sz="1425" b="0" i="0">
                <a:solidFill>
                  <a:srgbClr val="334155"/>
                </a:solidFill>
                <a:latin typeface="Arial" panose="020B0604020202090204"/>
                <a:ea typeface="Arial" panose="020B0604020202090204"/>
                <a:cs typeface="Arial" panose="020B0604020202090204"/>
              </a:defRPr>
            </a:pPr>
            <a:r>
              <a:rPr lang="en-US" altLang="zh-CN" sz="1400">
                <a:sym typeface="+mn-ea"/>
              </a:rPr>
              <a:t>A </a:t>
            </a:r>
            <a:r>
              <a:rPr lang="en-US" altLang="zh-CN" sz="1400" b="1">
                <a:latin typeface="Arial" panose="020B0604020202090204" pitchFamily="34" charset="0"/>
                <a:cs typeface="Arial" panose="020B0604020202090204" pitchFamily="34" charset="0"/>
                <a:sym typeface="+mn-ea"/>
              </a:rPr>
              <a:t>0.05</a:t>
            </a:r>
            <a:r>
              <a:rPr lang="en-US" altLang="zh-CN" sz="1400">
                <a:sym typeface="+mn-ea"/>
              </a:rPr>
              <a:t> MOS difference is not automatically meaningful unless supported by CI bounds.</a:t>
            </a:r>
            <a:endParaRPr lang="en-US" altLang="zh-CN" sz="140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DATA &amp; ENGINEERING</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lang="en-US" altLang="zh-CN" sz="2800" b="1" i="0">
                <a:solidFill>
                  <a:srgbClr val="0F172A"/>
                </a:solidFill>
                <a:latin typeface="Arial" panose="020B0604020202090204"/>
                <a:ea typeface="Arial" panose="020B0604020202090204"/>
                <a:cs typeface="Arial" panose="020B0604020202090204"/>
              </a:rPr>
              <a:t>Public Datasets in TTS</a:t>
            </a:r>
            <a:endParaRPr lang="en-US" altLang="zh-CN" sz="280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60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graphicFrame>
        <p:nvGraphicFramePr>
          <p:cNvPr id="11" name="表格 10"/>
          <p:cNvGraphicFramePr/>
          <p:nvPr/>
        </p:nvGraphicFramePr>
        <p:xfrm>
          <a:off x="400050" y="1428750"/>
          <a:ext cx="11391900" cy="3143250"/>
        </p:xfrm>
        <a:graphic>
          <a:graphicData uri="http://schemas.openxmlformats.org/drawingml/2006/table">
            <a:tbl>
              <a:tblPr firstRow="1"/>
              <a:tblGrid>
                <a:gridCol w="2847975"/>
                <a:gridCol w="2847975"/>
                <a:gridCol w="2847975"/>
                <a:gridCol w="2847975"/>
              </a:tblGrid>
              <a:tr h="628650">
                <a:tc>
                  <a:txBody>
                    <a:bodyPr>
                      <a:spAutoFit/>
                    </a:bodyPr>
                    <a:lstStyle/>
                    <a:p>
                      <a:r>
                        <a:rPr sz="1400" b="1">
                          <a:solidFill>
                            <a:srgbClr val="111827"/>
                          </a:solidFill>
                          <a:latin typeface="Arial" panose="020B0604020202090204"/>
                          <a:ea typeface="Arial" panose="020B0604020202090204"/>
                          <a:cs typeface="Arial" panose="020B0604020202090204"/>
                        </a:rPr>
                        <a:t>Dataset</a:t>
                      </a:r>
                      <a:endParaRPr sz="1400" b="1">
                        <a:solidFill>
                          <a:srgbClr val="111827"/>
                        </a:solidFill>
                        <a:latin typeface="Arial" panose="020B0604020202090204"/>
                        <a:ea typeface="Arial" panose="020B0604020202090204"/>
                        <a:cs typeface="Arial" panose="020B0604020202090204"/>
                      </a:endParaRPr>
                    </a:p>
                  </a:txBody>
                  <a:tcPr anchor="ctr">
                    <a:solidFill>
                      <a:srgbClr val="92D050"/>
                    </a:solidFill>
                  </a:tcPr>
                </a:tc>
                <a:tc>
                  <a:txBody>
                    <a:bodyPr>
                      <a:spAutoFit/>
                    </a:bodyPr>
                    <a:lstStyle/>
                    <a:p>
                      <a:r>
                        <a:rPr sz="1400" b="1">
                          <a:solidFill>
                            <a:srgbClr val="111827"/>
                          </a:solidFill>
                          <a:latin typeface="Arial" panose="020B0604020202090204"/>
                          <a:ea typeface="Arial" panose="020B0604020202090204"/>
                          <a:cs typeface="Arial" panose="020B0604020202090204"/>
                        </a:rPr>
                        <a:t>Typical use</a:t>
                      </a:r>
                      <a:endParaRPr sz="1400" b="1">
                        <a:solidFill>
                          <a:srgbClr val="111827"/>
                        </a:solidFill>
                        <a:latin typeface="Arial" panose="020B0604020202090204"/>
                        <a:ea typeface="Arial" panose="020B0604020202090204"/>
                        <a:cs typeface="Arial" panose="020B0604020202090204"/>
                      </a:endParaRPr>
                    </a:p>
                  </a:txBody>
                  <a:tcPr anchor="ctr">
                    <a:solidFill>
                      <a:srgbClr val="92D050"/>
                    </a:solidFill>
                  </a:tcPr>
                </a:tc>
                <a:tc>
                  <a:txBody>
                    <a:bodyPr>
                      <a:spAutoFit/>
                    </a:bodyPr>
                    <a:lstStyle/>
                    <a:p>
                      <a:r>
                        <a:rPr sz="1400" b="1">
                          <a:solidFill>
                            <a:srgbClr val="111827"/>
                          </a:solidFill>
                          <a:latin typeface="Arial" panose="020B0604020202090204"/>
                          <a:ea typeface="Arial" panose="020B0604020202090204"/>
                          <a:cs typeface="Arial" panose="020B0604020202090204"/>
                        </a:rPr>
                        <a:t>Coverage</a:t>
                      </a:r>
                      <a:endParaRPr sz="1400" b="1">
                        <a:solidFill>
                          <a:srgbClr val="111827"/>
                        </a:solidFill>
                        <a:latin typeface="Arial" panose="020B0604020202090204"/>
                        <a:ea typeface="Arial" panose="020B0604020202090204"/>
                        <a:cs typeface="Arial" panose="020B0604020202090204"/>
                      </a:endParaRPr>
                    </a:p>
                  </a:txBody>
                  <a:tcPr anchor="ctr">
                    <a:solidFill>
                      <a:srgbClr val="92D050"/>
                    </a:solidFill>
                  </a:tcPr>
                </a:tc>
                <a:tc>
                  <a:txBody>
                    <a:bodyPr>
                      <a:spAutoFit/>
                    </a:bodyPr>
                    <a:lstStyle/>
                    <a:p>
                      <a:r>
                        <a:rPr sz="1400" b="1">
                          <a:solidFill>
                            <a:srgbClr val="111827"/>
                          </a:solidFill>
                          <a:latin typeface="Arial" panose="020B0604020202090204"/>
                          <a:ea typeface="Arial" panose="020B0604020202090204"/>
                          <a:cs typeface="Arial" panose="020B0604020202090204"/>
                        </a:rPr>
                        <a:t>Main caveat</a:t>
                      </a:r>
                      <a:endParaRPr sz="1400" b="1">
                        <a:solidFill>
                          <a:srgbClr val="111827"/>
                        </a:solidFill>
                        <a:latin typeface="Arial" panose="020B0604020202090204"/>
                        <a:ea typeface="Arial" panose="020B0604020202090204"/>
                        <a:cs typeface="Arial" panose="020B0604020202090204"/>
                      </a:endParaRPr>
                    </a:p>
                  </a:txBody>
                  <a:tcPr anchor="ctr">
                    <a:solidFill>
                      <a:srgbClr val="92D050"/>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LJSpeech</a:t>
                      </a:r>
                      <a:endParaRPr sz="1200"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Single-speaker baseline</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Clean English, ~24 h</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One speaker / narrow style</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LibriTTS</a:t>
                      </a:r>
                      <a:endParaRPr sz="1200"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Multi-speaker and robustness</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Many speakers, audiobook speech</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Variable recording conditions</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Common Voice</a:t>
                      </a:r>
                      <a:endParaRPr sz="1200" b="1">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Multilingual / accents</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Crowdsourced languages</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c>
                  <a:txBody>
                    <a:bodyPr>
                      <a:spAutoFit/>
                    </a:bodyPr>
                    <a:lstStyle/>
                    <a:p>
                      <a:r>
                        <a:rPr sz="1125" b="0">
                          <a:solidFill>
                            <a:srgbClr val="111827"/>
                          </a:solidFill>
                          <a:latin typeface="Arial" panose="020B0604020202090204"/>
                          <a:ea typeface="Arial" panose="020B0604020202090204"/>
                          <a:cs typeface="Arial" panose="020B0604020202090204"/>
                        </a:rPr>
                        <a:t>Uneven quality and labels</a:t>
                      </a:r>
                      <a:endParaRPr sz="1125" b="0">
                        <a:solidFill>
                          <a:srgbClr val="111827"/>
                        </a:solidFill>
                        <a:latin typeface="Arial" panose="020B0604020202090204"/>
                        <a:ea typeface="Arial" panose="020B0604020202090204"/>
                        <a:cs typeface="Arial" panose="020B0604020202090204"/>
                      </a:endParaRPr>
                    </a:p>
                  </a:txBody>
                  <a:tcPr anchor="ctr">
                    <a:solidFill>
                      <a:srgbClr val="F8FAFC"/>
                    </a:solidFill>
                  </a:tcPr>
                </a:tc>
              </a:tr>
              <a:tr h="628650">
                <a:tc>
                  <a:txBody>
                    <a:bodyPr>
                      <a:spAutoFit/>
                    </a:bodyPr>
                    <a:lstStyle/>
                    <a:p>
                      <a:r>
                        <a:rPr sz="1200" b="1">
                          <a:solidFill>
                            <a:srgbClr val="111827"/>
                          </a:solidFill>
                          <a:latin typeface="Arial" panose="020B0604020202090204"/>
                          <a:ea typeface="Arial" panose="020B0604020202090204"/>
                          <a:cs typeface="Arial" panose="020B0604020202090204"/>
                        </a:rPr>
                        <a:t>OpenTTS / analogs</a:t>
                      </a:r>
                      <a:endParaRPr sz="1200" b="1">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Supplementary resources</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Task- or language-specific</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c>
                  <a:txBody>
                    <a:bodyPr>
                      <a:spAutoFit/>
                    </a:bodyPr>
                    <a:lstStyle/>
                    <a:p>
                      <a:r>
                        <a:rPr sz="1125" b="0">
                          <a:solidFill>
                            <a:srgbClr val="111827"/>
                          </a:solidFill>
                          <a:latin typeface="Arial" panose="020B0604020202090204"/>
                          <a:ea typeface="Arial" panose="020B0604020202090204"/>
                          <a:cs typeface="Arial" panose="020B0604020202090204"/>
                        </a:rPr>
                        <a:t>License and comparability</a:t>
                      </a:r>
                      <a:endParaRPr sz="1125" b="0">
                        <a:solidFill>
                          <a:srgbClr val="111827"/>
                        </a:solidFill>
                        <a:latin typeface="Arial" panose="020B0604020202090204"/>
                        <a:ea typeface="Arial" panose="020B0604020202090204"/>
                        <a:cs typeface="Arial" panose="020B0604020202090204"/>
                      </a:endParaRPr>
                    </a:p>
                  </a:txBody>
                  <a:tcPr anchor="ctr">
                    <a:solidFill>
                      <a:srgbClr val="FFFFFF"/>
                    </a:solidFill>
                  </a:tcPr>
                </a:tc>
              </a:tr>
            </a:tbl>
          </a:graphicData>
        </a:graphic>
      </p:graphicFrame>
      <p:sp>
        <p:nvSpPr>
          <p:cNvPr id="6" name="矩形 5"/>
          <p:cNvSpPr>
            <a:spLocks noGrp="1"/>
          </p:cNvSpPr>
          <p:nvPr/>
        </p:nvSpPr>
        <p:spPr>
          <a:xfrm>
            <a:off x="407670" y="5300980"/>
            <a:ext cx="10668000" cy="666750"/>
          </a:xfrm>
          <a:prstGeom prst="rect">
            <a:avLst/>
          </a:prstGeom>
          <a:noFill/>
          <a:ln w="0">
            <a:noFill/>
            <a:prstDash val="solid"/>
          </a:ln>
        </p:spPr>
        <p:txBody>
          <a:bodyPr wrap="square" lIns="0" tIns="0" rIns="0" bIns="0" anchor="t">
            <a:normAutofit/>
          </a:bodyPr>
          <a:lstStyle/>
          <a:p>
            <a:pPr algn="l">
              <a:lnSpc>
                <a:spcPct val="110000"/>
              </a:lnSpc>
              <a:buNone/>
              <a:defRPr sz="1650" b="0" i="1">
                <a:solidFill>
                  <a:srgbClr val="64748B"/>
                </a:solidFill>
                <a:latin typeface="Arial" panose="020B0604020202090204"/>
                <a:ea typeface="Arial" panose="020B0604020202090204"/>
                <a:cs typeface="Arial" panose="020B0604020202090204"/>
              </a:defRPr>
            </a:pPr>
            <a:r>
              <a:rPr lang="en-US" altLang="zh-CN" sz="1600" b="0" i="1">
                <a:solidFill>
                  <a:srgbClr val="64748B"/>
                </a:solidFill>
                <a:latin typeface="Arial" panose="020B0604020202090204"/>
                <a:ea typeface="Arial" panose="020B0604020202090204"/>
                <a:cs typeface="Arial" panose="020B0604020202090204"/>
              </a:rPr>
              <a:t>Core Takeaway: A model trained on one clean single-speaker dataset should never be described as universally robust without explicit zero-shot or out-of-domain evaluation.</a:t>
            </a:r>
            <a:endParaRPr lang="en-US" altLang="zh-CN" sz="1600" b="0" i="1">
              <a:solidFill>
                <a:srgbClr val="64748B"/>
              </a:solidFill>
              <a:latin typeface="Arial" panose="020B0604020202090204"/>
              <a:ea typeface="Arial" panose="020B0604020202090204"/>
              <a:cs typeface="Arial" panose="020B060402020209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533400" y="114300"/>
            <a:ext cx="3619500" cy="171450"/>
          </a:xfrm>
          <a:prstGeom prst="rect">
            <a:avLst/>
          </a:prstGeom>
          <a:noFill/>
          <a:ln w="0">
            <a:noFill/>
            <a:prstDash val="solid"/>
          </a:ln>
        </p:spPr>
        <p:txBody>
          <a:bodyPr wrap="square" lIns="0" tIns="0" rIns="0" bIns="0" anchor="t">
            <a:normAutofit/>
          </a:bodyPr>
          <a:lstStyle/>
          <a:p>
            <a:pPr algn="l">
              <a:lnSpc>
                <a:spcPct val="110000"/>
              </a:lnSpc>
              <a:buNone/>
              <a:defRPr sz="750" b="0" i="0">
                <a:solidFill>
                  <a:srgbClr val="64748B"/>
                </a:solidFill>
                <a:latin typeface="Arial" panose="020B0604020202090204"/>
                <a:ea typeface="Arial" panose="020B0604020202090204"/>
                <a:cs typeface="Arial" panose="020B0604020202090204"/>
              </a:defRPr>
            </a:pPr>
            <a:r>
              <a:rPr sz="750" b="0" i="0">
                <a:solidFill>
                  <a:srgbClr val="64748B"/>
                </a:solidFill>
                <a:latin typeface="Arial" panose="020B0604020202090204"/>
                <a:ea typeface="Arial" panose="020B0604020202090204"/>
                <a:cs typeface="Arial" panose="020B0604020202090204"/>
              </a:rPr>
              <a:t>REFERENCES</a:t>
            </a:r>
            <a:endParaRPr sz="750" b="0" i="0">
              <a:solidFill>
                <a:srgbClr val="64748B"/>
              </a:solidFill>
              <a:latin typeface="Arial" panose="020B0604020202090204"/>
              <a:ea typeface="Arial" panose="020B0604020202090204"/>
              <a:cs typeface="Arial" panose="020B0604020202090204"/>
            </a:endParaRPr>
          </a:p>
        </p:txBody>
      </p:sp>
      <p:sp>
        <p:nvSpPr>
          <p:cNvPr id="2" name="矩形 1"/>
          <p:cNvSpPr>
            <a:spLocks noGrp="1"/>
          </p:cNvSpPr>
          <p:nvPr/>
        </p:nvSpPr>
        <p:spPr>
          <a:xfrm>
            <a:off x="514350" y="381000"/>
            <a:ext cx="11125200" cy="476250"/>
          </a:xfrm>
          <a:prstGeom prst="rect">
            <a:avLst/>
          </a:prstGeom>
          <a:noFill/>
          <a:ln w="0">
            <a:noFill/>
            <a:prstDash val="solid"/>
          </a:ln>
        </p:spPr>
        <p:txBody>
          <a:bodyPr wrap="square" lIns="0" tIns="0" rIns="0" bIns="0" anchor="t">
            <a:normAutofit/>
          </a:bodyPr>
          <a:lstStyle/>
          <a:p>
            <a:pPr algn="l">
              <a:lnSpc>
                <a:spcPct val="95000"/>
              </a:lnSpc>
              <a:buNone/>
              <a:defRPr sz="2550" b="1" i="0">
                <a:solidFill>
                  <a:srgbClr val="0F172A"/>
                </a:solidFill>
                <a:latin typeface="Arial" panose="020B0604020202090204"/>
                <a:ea typeface="Arial" panose="020B0604020202090204"/>
                <a:cs typeface="Arial" panose="020B0604020202090204"/>
              </a:defRPr>
            </a:pPr>
            <a:r>
              <a:rPr sz="2550" b="1" i="0">
                <a:solidFill>
                  <a:srgbClr val="0F172A"/>
                </a:solidFill>
                <a:latin typeface="Arial" panose="020B0604020202090204"/>
                <a:ea typeface="Arial" panose="020B0604020202090204"/>
                <a:cs typeface="Arial" panose="020B0604020202090204"/>
              </a:rPr>
              <a:t>Selected references</a:t>
            </a:r>
            <a:endParaRPr sz="2550" b="1" i="0">
              <a:solidFill>
                <a:srgbClr val="0F172A"/>
              </a:solidFill>
              <a:latin typeface="Arial" panose="020B0604020202090204"/>
              <a:ea typeface="Arial" panose="020B0604020202090204"/>
              <a:cs typeface="Arial" panose="020B0604020202090204"/>
            </a:endParaRPr>
          </a:p>
        </p:txBody>
      </p:sp>
      <p:sp>
        <p:nvSpPr>
          <p:cNvPr id="3" name="直接连接符 2"/>
          <p:cNvSpPr>
            <a:spLocks noGrp="1"/>
          </p:cNvSpPr>
          <p:nvPr/>
        </p:nvSpPr>
        <p:spPr>
          <a:xfrm>
            <a:off x="514350" y="876300"/>
            <a:ext cx="11144250" cy="9525"/>
          </a:xfrm>
          <a:prstGeom prst="line">
            <a:avLst/>
          </a:prstGeom>
          <a:noFill/>
          <a:ln w="19050">
            <a:solidFill>
              <a:srgbClr val="1E40AF"/>
            </a:solidFill>
            <a:prstDash val="solid"/>
          </a:ln>
        </p:spPr>
      </p:sp>
      <p:sp>
        <p:nvSpPr>
          <p:cNvPr id="4" name="矩形 3"/>
          <p:cNvSpPr>
            <a:spLocks noGrp="1"/>
          </p:cNvSpPr>
          <p:nvPr/>
        </p:nvSpPr>
        <p:spPr>
          <a:xfrm>
            <a:off x="10915650" y="6457950"/>
            <a:ext cx="742950" cy="190500"/>
          </a:xfrm>
          <a:prstGeom prst="rect">
            <a:avLst/>
          </a:prstGeom>
          <a:noFill/>
          <a:ln w="0">
            <a:noFill/>
            <a:prstDash val="solid"/>
          </a:ln>
        </p:spPr>
        <p:txBody>
          <a:bodyPr wrap="square" lIns="0" tIns="0" rIns="0" bIns="0" anchor="t">
            <a:normAutofit/>
          </a:bodyPr>
          <a:lstStyle/>
          <a:p>
            <a:pPr algn="r">
              <a:lnSpc>
                <a:spcPct val="110000"/>
              </a:lnSpc>
              <a:buNone/>
              <a:defRPr sz="975" b="0" i="0">
                <a:solidFill>
                  <a:srgbClr val="64748B"/>
                </a:solidFill>
                <a:latin typeface="Arial" panose="020B0604020202090204"/>
                <a:ea typeface="Arial" panose="020B0604020202090204"/>
                <a:cs typeface="Arial" panose="020B0604020202090204"/>
              </a:defRPr>
            </a:pPr>
            <a:r>
              <a:rPr sz="975" b="0" i="0">
                <a:solidFill>
                  <a:srgbClr val="64748B"/>
                </a:solidFill>
                <a:latin typeface="Arial" panose="020B0604020202090204"/>
                <a:ea typeface="Arial" panose="020B0604020202090204"/>
                <a:cs typeface="Arial" panose="020B0604020202090204"/>
              </a:rPr>
              <a:t>61 / 6</a:t>
            </a:r>
            <a:r>
              <a:rPr lang="en-US" sz="975" b="0" i="0">
                <a:solidFill>
                  <a:srgbClr val="64748B"/>
                </a:solidFill>
                <a:latin typeface="Arial" panose="020B0604020202090204"/>
                <a:ea typeface="Arial" panose="020B0604020202090204"/>
                <a:cs typeface="Arial" panose="020B0604020202090204"/>
              </a:rPr>
              <a:t>1</a:t>
            </a:r>
            <a:endParaRPr lang="en-US" sz="975" b="0" i="0">
              <a:solidFill>
                <a:srgbClr val="64748B"/>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85800" y="1381125"/>
            <a:ext cx="9906000" cy="3238500"/>
          </a:xfrm>
          <a:prstGeom prst="rect">
            <a:avLst/>
          </a:prstGeom>
          <a:noFill/>
          <a:ln w="0">
            <a:noFill/>
            <a:prstDash val="solid"/>
          </a:ln>
        </p:spPr>
        <p:txBody>
          <a:bodyPr wrap="square" lIns="0" tIns="0" rIns="0" bIns="0" anchor="t">
            <a:normAutofit/>
          </a:bodyPr>
          <a:lstStyle/>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Tacotron 2 — arXiv:1712.05884</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Guided Attention — arXiv:1906.00672</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Global Style Tokens — arXiv:1803.09017</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FastSpeech / FastSpeech 2 — arXiv:1905.09263, arXiv:2006.04558</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WaveNet — arXiv:1609.03499</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Parallel WaveGAN — arXiv:1910.11480</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MelGAN — arXiv:1910.06711</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HiFi-GAN — arXiv:2010.05646</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Weight Normalization — arXiv:1602.07868</a:t>
            </a:r>
            <a:endParaRPr sz="1350" b="0" i="0">
              <a:solidFill>
                <a:srgbClr val="334155"/>
              </a:solidFill>
              <a:latin typeface="Arial" panose="020B0604020202090204"/>
              <a:ea typeface="Arial" panose="020B0604020202090204"/>
              <a:cs typeface="Arial" panose="020B0604020202090204"/>
            </a:endParaRPr>
          </a:p>
          <a:p>
            <a:pPr algn="l">
              <a:lnSpc>
                <a:spcPct val="118000"/>
              </a:lnSpc>
              <a:buNone/>
              <a:defRPr sz="1350" b="0" i="0">
                <a:solidFill>
                  <a:srgbClr val="334155"/>
                </a:solidFill>
                <a:latin typeface="Arial" panose="020B0604020202090204"/>
                <a:ea typeface="Arial" panose="020B0604020202090204"/>
                <a:cs typeface="Arial" panose="020B0604020202090204"/>
              </a:defRPr>
            </a:pPr>
            <a:r>
              <a:rPr sz="1350" b="0" i="0">
                <a:solidFill>
                  <a:srgbClr val="334155"/>
                </a:solidFill>
                <a:latin typeface="Arial" panose="020B0604020202090204"/>
                <a:ea typeface="Arial" panose="020B0604020202090204"/>
                <a:cs typeface="Arial" panose="020B0604020202090204"/>
              </a:rPr>
              <a:t>• Montreal Forced Aligner — Interspeech 2017</a:t>
            </a:r>
            <a:endParaRPr sz="1350" b="0" i="0">
              <a:solidFill>
                <a:srgbClr val="334155"/>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85800" y="5286375"/>
            <a:ext cx="10477500" cy="666750"/>
          </a:xfrm>
          <a:prstGeom prst="rect">
            <a:avLst/>
          </a:prstGeom>
          <a:noFill/>
          <a:ln w="0">
            <a:noFill/>
            <a:prstDash val="solid"/>
          </a:ln>
        </p:spPr>
        <p:txBody>
          <a:bodyPr wrap="square" lIns="0" tIns="0" rIns="0" bIns="0" anchor="t">
            <a:normAutofit/>
          </a:bodyPr>
          <a:lstStyle/>
          <a:p>
            <a:pPr algn="l">
              <a:lnSpc>
                <a:spcPct val="110000"/>
              </a:lnSpc>
              <a:buNone/>
              <a:defRPr sz="1350" b="0" i="1">
                <a:solidFill>
                  <a:srgbClr val="64748B"/>
                </a:solidFill>
                <a:latin typeface="Arial" panose="020B0604020202090204"/>
                <a:ea typeface="Arial" panose="020B0604020202090204"/>
                <a:cs typeface="Arial" panose="020B0604020202090204"/>
              </a:defRPr>
            </a:pPr>
            <a:r>
              <a:rPr sz="1350" b="0" i="1">
                <a:solidFill>
                  <a:srgbClr val="64748B"/>
                </a:solidFill>
                <a:latin typeface="Arial" panose="020B0604020202090204"/>
                <a:ea typeface="Arial" panose="020B0604020202090204"/>
                <a:cs typeface="Arial" panose="020B0604020202090204"/>
              </a:rPr>
              <a:t>All architecture figures in this deck are adapted from the user-provided reference PPTX; the visual system follows the previously supplied source-separation courseware.</a:t>
            </a:r>
            <a:endParaRPr sz="1350" b="0" i="1">
              <a:solidFill>
                <a:srgbClr val="64748B"/>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30761</Words>
  <Application>WPS 演示</Application>
  <PresentationFormat>Converted Presentation</PresentationFormat>
  <Paragraphs>1401</Paragraphs>
  <Slides>61</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61</vt:i4>
      </vt:variant>
    </vt:vector>
  </HeadingPairs>
  <TitlesOfParts>
    <vt:vector size="83" baseType="lpstr">
      <vt:lpstr>Arial</vt:lpstr>
      <vt:lpstr>宋体</vt:lpstr>
      <vt:lpstr>Wingdings</vt:lpstr>
      <vt:lpstr>Arial</vt:lpstr>
      <vt:lpstr>Lora</vt:lpstr>
      <vt:lpstr>Thonburi</vt:lpstr>
      <vt:lpstr>微软雅黑</vt:lpstr>
      <vt:lpstr>方正雅意黑 GB18030L2</vt:lpstr>
      <vt:lpstr>Calibri</vt:lpstr>
      <vt:lpstr>Helvetica Neue</vt:lpstr>
      <vt:lpstr>汉仪书宋二KW</vt:lpstr>
      <vt:lpstr>宋体</vt:lpstr>
      <vt:lpstr>Arial Unicode MS</vt:lpstr>
      <vt:lpstr>Arial Regular</vt:lpstr>
      <vt:lpstr>Cambria Math</vt:lpstr>
      <vt:lpstr>Kingsoft Math</vt:lpstr>
      <vt:lpstr>Times New Roman</vt:lpstr>
      <vt:lpstr>DejaVu Math TeX Gyre</vt:lpstr>
      <vt:lpstr>Cambria Math</vt:lpstr>
      <vt:lpstr>Lora</vt:lpstr>
      <vt:lpstr>苹方-简</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York</cp:lastModifiedBy>
  <cp:revision>1058</cp:revision>
  <dcterms:created xsi:type="dcterms:W3CDTF">2026-09-20T08:55:23Z</dcterms:created>
  <dcterms:modified xsi:type="dcterms:W3CDTF">2026-09-20T08:55:23Z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EEC316ECA992C510369FAF6AC5E438A6_43</vt:lpwstr>
  </property>
  <property fmtid="{D5CDD505-2E9C-101B-9397-08002B2CF9AE}" pid="3" name="KSOProductBuildVer">
    <vt:lpwstr>2052-12.1.28496.28496</vt:lpwstr>
  </property>
</Properties>
</file>